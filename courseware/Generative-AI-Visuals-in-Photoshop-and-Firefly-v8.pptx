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466" r:id="rId217"/>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Review score</c:v>
                </c:pt>
              </c:strCache>
            </c:strRef>
          </c:tx>
          <c:cat>
            <c:strRef>
              <c:f>Sheet1!$A$2:$A$7</c:f>
              <c:strCache>
                <c:ptCount val="6"/>
                <c:pt idx="0">
                  <c:v>Clear subject</c:v>
                </c:pt>
                <c:pt idx="1">
                  <c:v>Audience fit</c:v>
                </c:pt>
                <c:pt idx="2">
                  <c:v>Composition</c:v>
                </c:pt>
                <c:pt idx="3">
                  <c:v>Lighting/style</c:v>
                </c:pt>
                <c:pt idx="4">
                  <c:v>Constraints</c:v>
                </c:pt>
                <c:pt idx="5">
                  <c:v>Provenance</c:v>
                </c:pt>
              </c:strCache>
            </c:strRef>
          </c:cat>
          <c:val>
            <c:numRef>
              <c:f>Sheet1!$B$2:$B$7</c:f>
              <c:numCache>
                <c:formatCode>General</c:formatCode>
                <c:ptCount val="6"/>
                <c:pt idx="0">
                  <c:v>5</c:v>
                </c:pt>
                <c:pt idx="1">
                  <c:v>4</c:v>
                </c:pt>
                <c:pt idx="2">
                  <c:v>4</c:v>
                </c:pt>
                <c:pt idx="3">
                  <c:v>3</c:v>
                </c:pt>
                <c:pt idx="4">
                  <c:v>4</c:v>
                </c:pt>
                <c:pt idx="5">
                  <c:v>5</c:v>
                </c:pt>
              </c:numCache>
            </c:numRef>
          </c:val>
        </c:ser>
        <c:dLbls>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Structure control</c:v>
                </c:pt>
              </c:strCache>
            </c:strRef>
          </c:tx>
          <c:cat>
            <c:strRef>
              <c:f>Sheet1!$A$2:$A$5</c:f>
              <c:strCache>
                <c:ptCount val="4"/>
                <c:pt idx="0">
                  <c:v>Prompt only</c:v>
                </c:pt>
                <c:pt idx="1">
                  <c:v>Composition ref</c:v>
                </c:pt>
                <c:pt idx="2">
                  <c:v>Style ref</c:v>
                </c:pt>
                <c:pt idx="3">
                  <c:v>Both refs</c:v>
                </c:pt>
              </c:strCache>
            </c:strRef>
          </c:cat>
          <c:val>
            <c:numRef>
              <c:f>Sheet1!$B$2:$B$5</c:f>
              <c:numCache>
                <c:formatCode>General</c:formatCode>
                <c:ptCount val="4"/>
                <c:pt idx="0">
                  <c:v>2</c:v>
                </c:pt>
                <c:pt idx="1">
                  <c:v>5</c:v>
                </c:pt>
                <c:pt idx="2">
                  <c:v>2</c:v>
                </c:pt>
                <c:pt idx="3">
                  <c:v>5</c:v>
                </c:pt>
              </c:numCache>
            </c:numRef>
          </c:val>
        </c:ser>
        <c:ser>
          <c:idx val="1"/>
          <c:order val="1"/>
          <c:tx>
            <c:strRef>
              <c:f>Sheet1!$C$1</c:f>
              <c:strCache>
                <c:ptCount val="1"/>
                <c:pt idx="0">
                  <c:v>Style control</c:v>
                </c:pt>
              </c:strCache>
            </c:strRef>
          </c:tx>
          <c:cat>
            <c:strRef>
              <c:f>Sheet1!$A$2:$A$5</c:f>
              <c:strCache>
                <c:ptCount val="4"/>
                <c:pt idx="0">
                  <c:v>Prompt only</c:v>
                </c:pt>
                <c:pt idx="1">
                  <c:v>Composition ref</c:v>
                </c:pt>
                <c:pt idx="2">
                  <c:v>Style ref</c:v>
                </c:pt>
                <c:pt idx="3">
                  <c:v>Both refs</c:v>
                </c:pt>
              </c:strCache>
            </c:strRef>
          </c:cat>
          <c:val>
            <c:numRef>
              <c:f>Sheet1!$C$2:$C$5</c:f>
              <c:numCache>
                <c:formatCode>General</c:formatCode>
                <c:ptCount val="4"/>
                <c:pt idx="0">
                  <c:v>2</c:v>
                </c:pt>
                <c:pt idx="1">
                  <c:v>2</c:v>
                </c:pt>
                <c:pt idx="2">
                  <c:v>5</c:v>
                </c:pt>
                <c:pt idx="3">
                  <c:v>5</c:v>
                </c:pt>
              </c:numCache>
            </c:numRef>
          </c:val>
        </c:ser>
        <c:dLbls>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Score</c:v>
                </c:pt>
              </c:strCache>
            </c:strRef>
          </c:tx>
          <c:cat>
            <c:strRef>
              <c:f>Sheet1!$A$2:$A$6</c:f>
              <c:strCache>
                <c:ptCount val="5"/>
                <c:pt idx="0">
                  <c:v>Flattened pixels</c:v>
                </c:pt>
                <c:pt idx="1">
                  <c:v>Duplicate layer</c:v>
                </c:pt>
                <c:pt idx="2">
                  <c:v>Generated layer</c:v>
                </c:pt>
                <c:pt idx="3">
                  <c:v>Adjustment layer</c:v>
                </c:pt>
                <c:pt idx="4">
                  <c:v>Smart Object + mask</c:v>
                </c:pt>
              </c:strCache>
            </c:strRef>
          </c:cat>
          <c:val>
            <c:numRef>
              <c:f>Sheet1!$B$2:$B$6</c:f>
              <c:numCache>
                <c:formatCode>General</c:formatCode>
                <c:ptCount val="5"/>
                <c:pt idx="0">
                  <c:v>1</c:v>
                </c:pt>
                <c:pt idx="1">
                  <c:v>2</c:v>
                </c:pt>
                <c:pt idx="2">
                  <c:v>4</c:v>
                </c:pt>
                <c:pt idx="3">
                  <c:v>5</c:v>
                </c:pt>
                <c:pt idx="4">
                  <c:v>5</c:v>
                </c:pt>
              </c:numCache>
            </c:numRef>
          </c:val>
        </c:ser>
        <c:dLbls>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style val="10"/>
  <c:chart>
    <c:autoTitleDeleted val="1"/>
    <c:plotArea>
      <c:layout/>
      <c:doughnutChart>
        <c:varyColors val="1"/>
        <c:ser>
          <c:idx val="0"/>
          <c:order val="0"/>
          <c:tx>
            <c:strRef>
              <c:f>Sheet1!$B$1</c:f>
              <c:strCache>
                <c:ptCount val="1"/>
                <c:pt idx="0">
                  <c:v>Visual share</c:v>
                </c:pt>
              </c:strCache>
            </c:strRef>
          </c:tx>
          <c:cat>
            <c:strRef>
              <c:f>Sheet1!$A$2:$A$5</c:f>
              <c:strCache>
                <c:ptCount val="4"/>
                <c:pt idx="0">
                  <c:v>Primary</c:v>
                </c:pt>
                <c:pt idx="1">
                  <c:v>Secondary</c:v>
                </c:pt>
                <c:pt idx="2">
                  <c:v>Accent</c:v>
                </c:pt>
                <c:pt idx="3">
                  <c:v>Neutral</c:v>
                </c:pt>
              </c:strCache>
            </c:strRef>
          </c:cat>
          <c:val>
            <c:numRef>
              <c:f>Sheet1!$B$2:$B$5</c:f>
              <c:numCache>
                <c:formatCode>General</c:formatCode>
                <c:ptCount val="4"/>
                <c:pt idx="0">
                  <c:v>55</c:v>
                </c:pt>
                <c:pt idx="1">
                  <c:v>25</c:v>
                </c:pt>
                <c:pt idx="2">
                  <c:v>10</c:v>
                </c:pt>
                <c:pt idx="3">
                  <c:v>10</c:v>
                </c:pt>
              </c:numCache>
            </c:numRef>
          </c:val>
        </c:ser>
        <c:dLbls>
          <c:dLblPos val="bestFit"/>
          <c:showLegendKey val="0"/>
          <c:showVal val="0"/>
          <c:showCatName val="0"/>
          <c:showSerName val="0"/>
          <c:showPercent val="1"/>
          <c:showBubbleSize val="0"/>
          <c:showLeaderLines val="1"/>
        </c:dLbls>
        <c:firstSliceAng val="0"/>
        <c:holeSize val="50"/>
      </c:doughnutChart>
    </c:plotArea>
    <c:legend>
      <c:legendPos val="b"/>
      <c:layout/>
      <c:overlay val="0"/>
    </c:legend>
    <c:plotVisOnly val="1"/>
    <c:dispBlanksAs val="gap"/>
    <c:showDLblsOverMax val="0"/>
  </c:chart>
  <c:txPr>
    <a:bodyPr/>
    <a:lstStyle/>
    <a:p>
      <a:pPr>
        <a:defRPr sz="1800"/>
      </a:pPr>
      <a:endParaR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Priority</c:v>
                </c:pt>
              </c:strCache>
            </c:strRef>
          </c:tx>
          <c:cat>
            <c:strRef>
              <c:f>Sheet1!$A$2:$A$6</c:f>
              <c:strCache>
                <c:ptCount val="5"/>
                <c:pt idx="0">
                  <c:v>Dimensions</c:v>
                </c:pt>
                <c:pt idx="1">
                  <c:v>Colour/profile</c:v>
                </c:pt>
                <c:pt idx="2">
                  <c:v>Edges</c:v>
                </c:pt>
                <c:pt idx="3">
                  <c:v>Compression</c:v>
                </c:pt>
                <c:pt idx="4">
                  <c:v>Provenance</c:v>
                </c:pt>
              </c:strCache>
            </c:strRef>
          </c:cat>
          <c:val>
            <c:numRef>
              <c:f>Sheet1!$B$2:$B$6</c:f>
              <c:numCache>
                <c:formatCode>General</c:formatCode>
                <c:ptCount val="5"/>
                <c:pt idx="0">
                  <c:v>5</c:v>
                </c:pt>
                <c:pt idx="1">
                  <c:v>5</c:v>
                </c:pt>
                <c:pt idx="2">
                  <c:v>4</c:v>
                </c:pt>
                <c:pt idx="3">
                  <c:v>3</c:v>
                </c:pt>
                <c:pt idx="4">
                  <c:v>5</c:v>
                </c:pt>
              </c:numCache>
            </c:numRef>
          </c:val>
        </c:ser>
        <c:dLbls>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rtiarycourses/TGS-2024045220-Generative-AI-GenAI-Visuals-in-Photoshop-and-Firefly/tree/master/lab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over-hero-v8.png"/>
          <p:cNvPicPr>
            <a:picLocks noChangeAspect="1"/>
          </p:cNvPicPr>
          <p:nvPr/>
        </p:nvPicPr>
        <p:blipFill>
          <a:blip r:embed="rId2"/>
          <a:srcRect l="20434" r="20434"/>
          <a:stretch>
            <a:fillRect/>
          </a:stretch>
        </p:blipFill>
        <p:spPr>
          <a:xfrm>
            <a:off x="4983480" y="0"/>
            <a:ext cx="7205472" cy="6858000"/>
          </a:xfrm>
          <a:prstGeom prst="rect">
            <a:avLst/>
          </a:prstGeom>
        </p:spPr>
      </p:pic>
      <p:sp>
        <p:nvSpPr>
          <p:cNvPr id="4" name="Rectangle 3"/>
          <p:cNvSpPr/>
          <p:nvPr/>
        </p:nvSpPr>
        <p:spPr>
          <a:xfrm>
            <a:off x="4663440" y="0"/>
            <a:ext cx="109728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3"/>
          <a:stretch>
            <a:fillRect/>
          </a:stretch>
        </p:blipFill>
        <p:spPr>
          <a:xfrm>
            <a:off x="1280160" y="502920"/>
            <a:ext cx="777240" cy="777240"/>
          </a:xfrm>
          <a:prstGeom prst="rect">
            <a:avLst/>
          </a:prstGeom>
        </p:spPr>
      </p:pic>
      <p:sp>
        <p:nvSpPr>
          <p:cNvPr id="6" name="Rounded Rectangle 5"/>
          <p:cNvSpPr/>
          <p:nvPr/>
        </p:nvSpPr>
        <p:spPr>
          <a:xfrm>
            <a:off x="3063240" y="530352"/>
            <a:ext cx="1325880" cy="621792"/>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63240" y="649224"/>
            <a:ext cx="1325880" cy="201168"/>
          </a:xfrm>
          <a:prstGeom prst="rect">
            <a:avLst/>
          </a:prstGeom>
          <a:noFill/>
        </p:spPr>
        <p:txBody>
          <a:bodyPr wrap="square" anchor="t" lIns="54864" rIns="54864" tIns="54864" bIns="54864">
            <a:spAutoFit/>
          </a:bodyPr>
          <a:lstStyle/>
          <a:p>
            <a:pPr algn="ctr">
              <a:spcAft>
                <a:spcPts val="0"/>
              </a:spcAft>
            </a:pPr>
            <a:r>
              <a:rPr sz="950" b="1">
                <a:solidFill>
                  <a:srgbClr val="00B8D9"/>
                </a:solidFill>
                <a:latin typeface="Arial"/>
              </a:rPr>
              <a:t>WSQ COURSE</a:t>
            </a:r>
          </a:p>
        </p:txBody>
      </p:sp>
      <p:sp>
        <p:nvSpPr>
          <p:cNvPr id="8" name="TextBox 7"/>
          <p:cNvSpPr txBox="1"/>
          <p:nvPr/>
        </p:nvSpPr>
        <p:spPr>
          <a:xfrm>
            <a:off x="713232" y="1508760"/>
            <a:ext cx="4206240" cy="329184"/>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COURSE SLIDES · WSQ</a:t>
            </a:r>
          </a:p>
        </p:txBody>
      </p:sp>
      <p:sp>
        <p:nvSpPr>
          <p:cNvPr id="9" name="TextBox 8"/>
          <p:cNvSpPr txBox="1"/>
          <p:nvPr/>
        </p:nvSpPr>
        <p:spPr>
          <a:xfrm>
            <a:off x="713232" y="1965960"/>
            <a:ext cx="4434840" cy="2103120"/>
          </a:xfrm>
          <a:prstGeom prst="rect">
            <a:avLst/>
          </a:prstGeom>
          <a:noFill/>
        </p:spPr>
        <p:txBody>
          <a:bodyPr wrap="square" anchor="t" lIns="54864" rIns="54864" tIns="54864" bIns="54864">
            <a:spAutoFit/>
          </a:bodyPr>
          <a:lstStyle/>
          <a:p>
            <a:pPr algn="l">
              <a:spcAft>
                <a:spcPts val="0"/>
              </a:spcAft>
            </a:pPr>
            <a:r>
              <a:rPr sz="3300" b="1">
                <a:solidFill>
                  <a:srgbClr val="161920"/>
                </a:solidFill>
                <a:latin typeface="Arial"/>
              </a:rPr>
              <a:t>Generative AI (GenAI) Visuals in Photoshop and Firefly</a:t>
            </a:r>
          </a:p>
        </p:txBody>
      </p:sp>
      <p:sp>
        <p:nvSpPr>
          <p:cNvPr id="10" name="Rectangle 9"/>
          <p:cNvSpPr/>
          <p:nvPr/>
        </p:nvSpPr>
        <p:spPr>
          <a:xfrm>
            <a:off x="731520" y="4187952"/>
            <a:ext cx="1234440" cy="73152"/>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4507992"/>
            <a:ext cx="4343400" cy="1234440"/>
          </a:xfrm>
          <a:prstGeom prst="rect">
            <a:avLst/>
          </a:prstGeom>
          <a:noFill/>
        </p:spPr>
        <p:txBody>
          <a:bodyPr wrap="square" lIns="45720" rIns="45720">
            <a:spAutoFit/>
          </a:bodyPr>
          <a:lstStyle/>
          <a:p>
            <a:pPr>
              <a:spcAft>
                <a:spcPts val="400"/>
              </a:spcAft>
            </a:pPr>
            <a:r>
              <a:rPr b="1" sz="1250">
                <a:solidFill>
                  <a:srgbClr val="5B6372"/>
                </a:solidFill>
                <a:latin typeface="Arial"/>
              </a:rPr>
              <a:t>WSQ Course Code  </a:t>
            </a:r>
            <a:r>
              <a:rPr sz="1250">
                <a:solidFill>
                  <a:srgbClr val="5B6372"/>
                </a:solidFill>
                <a:latin typeface="Arial"/>
              </a:rPr>
              <a:t>TGS-2024045220</a:t>
            </a:r>
          </a:p>
          <a:p>
            <a:pPr>
              <a:spcAft>
                <a:spcPts val="400"/>
              </a:spcAft>
            </a:pPr>
            <a:r>
              <a:rPr b="1" sz="1250">
                <a:solidFill>
                  <a:srgbClr val="5B6372"/>
                </a:solidFill>
                <a:latin typeface="Arial"/>
              </a:rPr>
              <a:t>TSC  </a:t>
            </a:r>
            <a:r>
              <a:rPr sz="1250">
                <a:solidFill>
                  <a:srgbClr val="5B6372"/>
                </a:solidFill>
                <a:latin typeface="Arial"/>
              </a:rPr>
              <a:t>Visual Communication · DSN-COM-4005-1.1</a:t>
            </a:r>
          </a:p>
          <a:p>
            <a:pPr>
              <a:spcAft>
                <a:spcPts val="400"/>
              </a:spcAft>
            </a:pPr>
            <a:r>
              <a:rPr b="1" sz="1250">
                <a:solidFill>
                  <a:srgbClr val="5B6372"/>
                </a:solidFill>
                <a:latin typeface="Arial"/>
              </a:rPr>
              <a:t>Provider  </a:t>
            </a:r>
            <a:r>
              <a:rPr sz="1250">
                <a:solidFill>
                  <a:srgbClr val="5B6372"/>
                </a:solidFill>
                <a:latin typeface="Arial"/>
              </a:rPr>
              <a:t>Tertiary Infotech Academy Pte Ltd · 201200696W</a:t>
            </a:r>
          </a:p>
        </p:txBody>
      </p:sp>
      <p:sp>
        <p:nvSpPr>
          <p:cNvPr id="12" name="TextBox 11"/>
          <p:cNvSpPr txBox="1"/>
          <p:nvPr/>
        </p:nvSpPr>
        <p:spPr>
          <a:xfrm>
            <a:off x="713232" y="6144768"/>
            <a:ext cx="4297680" cy="320040"/>
          </a:xfrm>
          <a:prstGeom prst="rect">
            <a:avLst/>
          </a:prstGeom>
          <a:noFill/>
        </p:spPr>
        <p:txBody>
          <a:bodyPr wrap="square" anchor="t" lIns="54864" rIns="54864" tIns="54864" bIns="54864">
            <a:spAutoFit/>
          </a:bodyPr>
          <a:lstStyle/>
          <a:p>
            <a:pPr algn="l">
              <a:spcAft>
                <a:spcPts val="0"/>
              </a:spcAft>
            </a:pPr>
            <a:r>
              <a:rPr sz="1100" b="1">
                <a:solidFill>
                  <a:srgbClr val="E11D74"/>
                </a:solidFill>
                <a:latin typeface="Arial"/>
              </a:rPr>
              <a:t>Version v8 · 13 October 2026</a:t>
            </a:r>
          </a:p>
        </p:txBody>
      </p:sp>
      <p:sp>
        <p:nvSpPr>
          <p:cNvPr id="13" name="TextBox 12"/>
          <p:cNvSpPr txBox="1"/>
          <p:nvPr/>
        </p:nvSpPr>
        <p:spPr>
          <a:xfrm>
            <a:off x="5623560" y="6473952"/>
            <a:ext cx="6035040" cy="182880"/>
          </a:xfrm>
          <a:prstGeom prst="rect">
            <a:avLst/>
          </a:prstGeom>
          <a:noFill/>
        </p:spPr>
        <p:txBody>
          <a:bodyPr wrap="square" anchor="t" lIns="54864" rIns="54864" tIns="54864" bIns="54864">
            <a:spAutoFit/>
          </a:bodyPr>
          <a:lstStyle/>
          <a:p>
            <a:pPr algn="r">
              <a:spcAft>
                <a:spcPts val="0"/>
              </a:spcAft>
            </a:pPr>
            <a:r>
              <a:rPr sz="800" b="0">
                <a:solidFill>
                  <a:srgbClr val="FFFFFF"/>
                </a:solidFill>
                <a:latin typeface="Arial"/>
              </a:rPr>
              <a:t>© 2026 Tertiary Infotech Academy Pte Ltd · TGS-2024045220</a:t>
            </a:r>
          </a:p>
        </p:txBody>
      </p:sp>
      <p:sp>
        <p:nvSpPr>
          <p:cNvPr id="14" name="TextBox 13"/>
          <p:cNvSpPr txBox="1"/>
          <p:nvPr/>
        </p:nvSpPr>
        <p:spPr>
          <a:xfrm>
            <a:off x="11475720" y="6473952"/>
            <a:ext cx="320040" cy="182880"/>
          </a:xfrm>
          <a:prstGeom prst="rect">
            <a:avLst/>
          </a:prstGeom>
          <a:noFill/>
        </p:spPr>
        <p:txBody>
          <a:bodyPr wrap="square" anchor="t" lIns="54864" rIns="54864" tIns="54864" bIns="54864">
            <a:spAutoFit/>
          </a:bodyPr>
          <a:lstStyle/>
          <a:p>
            <a:pPr algn="r">
              <a:spcAft>
                <a:spcPts val="0"/>
              </a:spcAft>
            </a:pPr>
            <a:r>
              <a:rPr sz="800" b="0">
                <a:solidFill>
                  <a:srgbClr val="FFFFFF"/>
                </a:solidFill>
                <a:latin typeface="Arial"/>
              </a:rPr>
              <a:t>1</a:t>
            </a:r>
          </a:p>
        </p:txBody>
      </p:sp>
    </p:spTree>
  </p:cSld>
  <p:transition spd="med" advClick="1">
    <p:fade/>
  </p:transition>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MANDATORY WSQ ADMIN</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TRAQOM · SSG Digital Attendance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2</a:t>
            </a:r>
          </a:p>
        </p:txBody>
      </p:sp>
      <p:sp>
        <p:nvSpPr>
          <p:cNvPr id="10" name="Rounded Rectangle 9"/>
          <p:cNvSpPr/>
          <p:nvPr/>
        </p:nvSpPr>
        <p:spPr>
          <a:xfrm>
            <a:off x="685800" y="1755648"/>
            <a:ext cx="3462528" cy="4443984"/>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755648"/>
            <a:ext cx="73152" cy="4443984"/>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TRAQOM</a:t>
            </a:r>
          </a:p>
        </p:txBody>
      </p:sp>
      <p:sp>
        <p:nvSpPr>
          <p:cNvPr id="13" name="TextBox 12"/>
          <p:cNvSpPr txBox="1"/>
          <p:nvPr/>
        </p:nvSpPr>
        <p:spPr>
          <a:xfrm>
            <a:off x="905256" y="2414015"/>
            <a:ext cx="3060192" cy="3602736"/>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Scan the QR code provided through the LMS for each required attendance event.</a:t>
            </a:r>
          </a:p>
        </p:txBody>
      </p:sp>
      <p:sp>
        <p:nvSpPr>
          <p:cNvPr id="14" name="Rounded Rectangle 13"/>
          <p:cNvSpPr/>
          <p:nvPr/>
        </p:nvSpPr>
        <p:spPr>
          <a:xfrm>
            <a:off x="4349496" y="1755648"/>
            <a:ext cx="3462528" cy="4443984"/>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9496" y="1755648"/>
            <a:ext cx="73152" cy="4443984"/>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68952"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Identity</a:t>
            </a:r>
          </a:p>
        </p:txBody>
      </p:sp>
      <p:sp>
        <p:nvSpPr>
          <p:cNvPr id="17" name="TextBox 16"/>
          <p:cNvSpPr txBox="1"/>
          <p:nvPr/>
        </p:nvSpPr>
        <p:spPr>
          <a:xfrm>
            <a:off x="4568952" y="2414015"/>
            <a:ext cx="3060192" cy="3602736"/>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Use only your authorised identity.</a:t>
            </a:r>
          </a:p>
        </p:txBody>
      </p:sp>
      <p:sp>
        <p:nvSpPr>
          <p:cNvPr id="18" name="Rounded Rectangle 17"/>
          <p:cNvSpPr/>
          <p:nvPr/>
        </p:nvSpPr>
        <p:spPr>
          <a:xfrm>
            <a:off x="8013192" y="1755648"/>
            <a:ext cx="3462528" cy="4443984"/>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3192" y="1755648"/>
            <a:ext cx="73152" cy="4443984"/>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32648"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Verification</a:t>
            </a:r>
          </a:p>
        </p:txBody>
      </p:sp>
      <p:sp>
        <p:nvSpPr>
          <p:cNvPr id="21" name="TextBox 20"/>
          <p:cNvSpPr txBox="1"/>
          <p:nvPr/>
        </p:nvSpPr>
        <p:spPr>
          <a:xfrm>
            <a:off x="8232648" y="2414015"/>
            <a:ext cx="3060192" cy="3602736"/>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Remain until the trainer confirms the SSG digital-attendance record.</a:t>
            </a:r>
          </a:p>
        </p:txBody>
      </p:sp>
    </p:spTree>
  </p:cSld>
  <p:transition spd="med" advClick="1">
    <p:fade/>
  </p:transition>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FACILITATOR TEMPLATE</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General Trainer Profile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3</a:t>
            </a:r>
          </a:p>
        </p:txBody>
      </p:sp>
      <p:sp>
        <p:nvSpPr>
          <p:cNvPr id="10" name="Rounded Rectangle 9"/>
          <p:cNvSpPr/>
          <p:nvPr/>
        </p:nvSpPr>
        <p:spPr>
          <a:xfrm>
            <a:off x="777240" y="1755648"/>
            <a:ext cx="2880360" cy="434340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417320" y="2148840"/>
            <a:ext cx="1600200" cy="1600200"/>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17320" y="2542032"/>
            <a:ext cx="1600200" cy="566928"/>
          </a:xfrm>
          <a:prstGeom prst="rect">
            <a:avLst/>
          </a:prstGeom>
          <a:noFill/>
        </p:spPr>
        <p:txBody>
          <a:bodyPr wrap="square" anchor="t" lIns="54864" rIns="54864" tIns="54864" bIns="54864">
            <a:spAutoFit/>
          </a:bodyPr>
          <a:lstStyle/>
          <a:p>
            <a:pPr algn="ctr">
              <a:spcAft>
                <a:spcPts val="0"/>
              </a:spcAft>
            </a:pPr>
            <a:r>
              <a:rPr sz="3400" b="1">
                <a:solidFill>
                  <a:srgbClr val="FFFFFF"/>
                </a:solidFill>
                <a:latin typeface="Arial"/>
              </a:rPr>
              <a:t>?</a:t>
            </a:r>
          </a:p>
        </p:txBody>
      </p:sp>
      <p:sp>
        <p:nvSpPr>
          <p:cNvPr id="13" name="TextBox 12"/>
          <p:cNvSpPr txBox="1"/>
          <p:nvPr/>
        </p:nvSpPr>
        <p:spPr>
          <a:xfrm>
            <a:off x="1005840" y="4069080"/>
            <a:ext cx="2423160" cy="365760"/>
          </a:xfrm>
          <a:prstGeom prst="rect">
            <a:avLst/>
          </a:prstGeom>
          <a:noFill/>
        </p:spPr>
        <p:txBody>
          <a:bodyPr wrap="square" anchor="t" lIns="54864" rIns="54864" tIns="54864" bIns="54864">
            <a:spAutoFit/>
          </a:bodyPr>
          <a:lstStyle/>
          <a:p>
            <a:pPr algn="ctr">
              <a:spcAft>
                <a:spcPts val="0"/>
              </a:spcAft>
            </a:pPr>
            <a:r>
              <a:rPr sz="1500" b="1">
                <a:solidFill>
                  <a:srgbClr val="161920"/>
                </a:solidFill>
                <a:latin typeface="Arial"/>
              </a:rPr>
              <a:t>TRAINER NAME</a:t>
            </a:r>
          </a:p>
        </p:txBody>
      </p:sp>
      <p:sp>
        <p:nvSpPr>
          <p:cNvPr id="14" name="TextBox 13"/>
          <p:cNvSpPr txBox="1"/>
          <p:nvPr/>
        </p:nvSpPr>
        <p:spPr>
          <a:xfrm>
            <a:off x="1005840" y="4572000"/>
            <a:ext cx="2423160" cy="731520"/>
          </a:xfrm>
          <a:prstGeom prst="rect">
            <a:avLst/>
          </a:prstGeom>
          <a:noFill/>
        </p:spPr>
        <p:txBody>
          <a:bodyPr wrap="square" anchor="t" lIns="54864" rIns="54864" tIns="54864" bIns="54864">
            <a:spAutoFit/>
          </a:bodyPr>
          <a:lstStyle/>
          <a:p>
            <a:pPr algn="ctr">
              <a:spcAft>
                <a:spcPts val="0"/>
              </a:spcAft>
            </a:pPr>
            <a:r>
              <a:rPr sz="1150" b="0">
                <a:solidFill>
                  <a:srgbClr val="5B6372"/>
                </a:solidFill>
                <a:latin typeface="Arial"/>
              </a:rPr>
              <a:t>Insert approved profile photo and professional designation before delivery.</a:t>
            </a:r>
          </a:p>
        </p:txBody>
      </p:sp>
      <p:sp>
        <p:nvSpPr>
          <p:cNvPr id="15" name="Rounded Rectangle 14"/>
          <p:cNvSpPr/>
          <p:nvPr/>
        </p:nvSpPr>
        <p:spPr>
          <a:xfrm>
            <a:off x="3977639" y="1783080"/>
            <a:ext cx="3456432" cy="111556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06240" y="2011680"/>
            <a:ext cx="2971800" cy="320040"/>
          </a:xfrm>
          <a:prstGeom prst="rect">
            <a:avLst/>
          </a:prstGeom>
          <a:noFill/>
        </p:spPr>
        <p:txBody>
          <a:bodyPr wrap="square" anchor="t" lIns="54864" rIns="54864" tIns="54864" bIns="54864">
            <a:spAutoFit/>
          </a:bodyPr>
          <a:lstStyle/>
          <a:p>
            <a:pPr algn="l">
              <a:spcAft>
                <a:spcPts val="0"/>
              </a:spcAft>
            </a:pPr>
            <a:r>
              <a:rPr sz="1400" b="1">
                <a:solidFill>
                  <a:srgbClr val="224AF4"/>
                </a:solidFill>
                <a:latin typeface="Arial"/>
              </a:rPr>
              <a:t>Name</a:t>
            </a:r>
          </a:p>
        </p:txBody>
      </p:sp>
      <p:sp>
        <p:nvSpPr>
          <p:cNvPr id="17" name="TextBox 16"/>
          <p:cNvSpPr txBox="1"/>
          <p:nvPr/>
        </p:nvSpPr>
        <p:spPr>
          <a:xfrm>
            <a:off x="4206240" y="2441448"/>
            <a:ext cx="2971800" cy="27432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________________________________</a:t>
            </a:r>
          </a:p>
        </p:txBody>
      </p:sp>
      <p:sp>
        <p:nvSpPr>
          <p:cNvPr id="18" name="Rounded Rectangle 17"/>
          <p:cNvSpPr/>
          <p:nvPr/>
        </p:nvSpPr>
        <p:spPr>
          <a:xfrm>
            <a:off x="7680959" y="1783080"/>
            <a:ext cx="3456432" cy="111556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9559" y="2011680"/>
            <a:ext cx="2971800" cy="320040"/>
          </a:xfrm>
          <a:prstGeom prst="rect">
            <a:avLst/>
          </a:prstGeom>
          <a:noFill/>
        </p:spPr>
        <p:txBody>
          <a:bodyPr wrap="square" anchor="t" lIns="54864" rIns="54864" tIns="54864" bIns="54864">
            <a:spAutoFit/>
          </a:bodyPr>
          <a:lstStyle/>
          <a:p>
            <a:pPr algn="l">
              <a:spcAft>
                <a:spcPts val="0"/>
              </a:spcAft>
            </a:pPr>
            <a:r>
              <a:rPr sz="1400" b="1">
                <a:solidFill>
                  <a:srgbClr val="00B8D9"/>
                </a:solidFill>
                <a:latin typeface="Arial"/>
              </a:rPr>
              <a:t>Title / Designation</a:t>
            </a:r>
          </a:p>
        </p:txBody>
      </p:sp>
      <p:sp>
        <p:nvSpPr>
          <p:cNvPr id="20" name="TextBox 19"/>
          <p:cNvSpPr txBox="1"/>
          <p:nvPr/>
        </p:nvSpPr>
        <p:spPr>
          <a:xfrm>
            <a:off x="7909559" y="2441448"/>
            <a:ext cx="2971800" cy="27432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________________________________</a:t>
            </a:r>
          </a:p>
        </p:txBody>
      </p:sp>
      <p:sp>
        <p:nvSpPr>
          <p:cNvPr id="21" name="Rounded Rectangle 20"/>
          <p:cNvSpPr/>
          <p:nvPr/>
        </p:nvSpPr>
        <p:spPr>
          <a:xfrm>
            <a:off x="3977639" y="3136391"/>
            <a:ext cx="3456432" cy="111556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06240" y="3364991"/>
            <a:ext cx="2971800" cy="320040"/>
          </a:xfrm>
          <a:prstGeom prst="rect">
            <a:avLst/>
          </a:prstGeom>
          <a:noFill/>
        </p:spPr>
        <p:txBody>
          <a:bodyPr wrap="square" anchor="t" lIns="54864" rIns="54864" tIns="54864" bIns="54864">
            <a:spAutoFit/>
          </a:bodyPr>
          <a:lstStyle/>
          <a:p>
            <a:pPr algn="l">
              <a:spcAft>
                <a:spcPts val="0"/>
              </a:spcAft>
            </a:pPr>
            <a:r>
              <a:rPr sz="1400" b="1">
                <a:solidFill>
                  <a:srgbClr val="E11D74"/>
                </a:solidFill>
                <a:latin typeface="Arial"/>
              </a:rPr>
              <a:t>Qualifications</a:t>
            </a:r>
          </a:p>
        </p:txBody>
      </p:sp>
      <p:sp>
        <p:nvSpPr>
          <p:cNvPr id="23" name="TextBox 22"/>
          <p:cNvSpPr txBox="1"/>
          <p:nvPr/>
        </p:nvSpPr>
        <p:spPr>
          <a:xfrm>
            <a:off x="4206240" y="3794759"/>
            <a:ext cx="2971800" cy="27432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________________________________</a:t>
            </a:r>
          </a:p>
        </p:txBody>
      </p:sp>
      <p:sp>
        <p:nvSpPr>
          <p:cNvPr id="24" name="Rounded Rectangle 23"/>
          <p:cNvSpPr/>
          <p:nvPr/>
        </p:nvSpPr>
        <p:spPr>
          <a:xfrm>
            <a:off x="7680959" y="3136391"/>
            <a:ext cx="3456432" cy="111556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09559" y="3364991"/>
            <a:ext cx="2971800" cy="320040"/>
          </a:xfrm>
          <a:prstGeom prst="rect">
            <a:avLst/>
          </a:prstGeom>
          <a:noFill/>
        </p:spPr>
        <p:txBody>
          <a:bodyPr wrap="square" anchor="t" lIns="54864" rIns="54864" tIns="54864" bIns="54864">
            <a:spAutoFit/>
          </a:bodyPr>
          <a:lstStyle/>
          <a:p>
            <a:pPr algn="l">
              <a:spcAft>
                <a:spcPts val="0"/>
              </a:spcAft>
            </a:pPr>
            <a:r>
              <a:rPr sz="1400" b="1">
                <a:solidFill>
                  <a:srgbClr val="7C3AED"/>
                </a:solidFill>
                <a:latin typeface="Arial"/>
              </a:rPr>
              <a:t>Areas of expertise</a:t>
            </a:r>
          </a:p>
        </p:txBody>
      </p:sp>
      <p:sp>
        <p:nvSpPr>
          <p:cNvPr id="26" name="TextBox 25"/>
          <p:cNvSpPr txBox="1"/>
          <p:nvPr/>
        </p:nvSpPr>
        <p:spPr>
          <a:xfrm>
            <a:off x="7909559" y="3794759"/>
            <a:ext cx="2971800" cy="27432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________________________________</a:t>
            </a:r>
          </a:p>
        </p:txBody>
      </p:sp>
      <p:sp>
        <p:nvSpPr>
          <p:cNvPr id="27" name="Rounded Rectangle 26"/>
          <p:cNvSpPr/>
          <p:nvPr/>
        </p:nvSpPr>
        <p:spPr>
          <a:xfrm>
            <a:off x="3977639" y="4489704"/>
            <a:ext cx="3456432" cy="111556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206240" y="4718304"/>
            <a:ext cx="2971800" cy="320040"/>
          </a:xfrm>
          <a:prstGeom prst="rect">
            <a:avLst/>
          </a:prstGeom>
          <a:noFill/>
        </p:spPr>
        <p:txBody>
          <a:bodyPr wrap="square" anchor="t" lIns="54864" rIns="54864" tIns="54864" bIns="54864">
            <a:spAutoFit/>
          </a:bodyPr>
          <a:lstStyle/>
          <a:p>
            <a:pPr algn="l">
              <a:spcAft>
                <a:spcPts val="0"/>
              </a:spcAft>
            </a:pPr>
            <a:r>
              <a:rPr sz="1400" b="1">
                <a:solidFill>
                  <a:srgbClr val="009A78"/>
                </a:solidFill>
                <a:latin typeface="Arial"/>
              </a:rPr>
              <a:t>Training &amp; industry experience</a:t>
            </a:r>
          </a:p>
        </p:txBody>
      </p:sp>
      <p:sp>
        <p:nvSpPr>
          <p:cNvPr id="29" name="TextBox 28"/>
          <p:cNvSpPr txBox="1"/>
          <p:nvPr/>
        </p:nvSpPr>
        <p:spPr>
          <a:xfrm>
            <a:off x="4206240" y="5148072"/>
            <a:ext cx="2971800" cy="27432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________________________________</a:t>
            </a:r>
          </a:p>
        </p:txBody>
      </p:sp>
      <p:sp>
        <p:nvSpPr>
          <p:cNvPr id="30" name="Rounded Rectangle 29"/>
          <p:cNvSpPr/>
          <p:nvPr/>
        </p:nvSpPr>
        <p:spPr>
          <a:xfrm>
            <a:off x="7680959" y="4489704"/>
            <a:ext cx="3456432" cy="111556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09559" y="4718304"/>
            <a:ext cx="2971800" cy="320040"/>
          </a:xfrm>
          <a:prstGeom prst="rect">
            <a:avLst/>
          </a:prstGeom>
          <a:noFill/>
        </p:spPr>
        <p:txBody>
          <a:bodyPr wrap="square" anchor="t" lIns="54864" rIns="54864" tIns="54864" bIns="54864">
            <a:spAutoFit/>
          </a:bodyPr>
          <a:lstStyle/>
          <a:p>
            <a:pPr algn="l">
              <a:spcAft>
                <a:spcPts val="0"/>
              </a:spcAft>
            </a:pPr>
            <a:r>
              <a:rPr sz="1400" b="1">
                <a:solidFill>
                  <a:srgbClr val="E98500"/>
                </a:solidFill>
                <a:latin typeface="Arial"/>
              </a:rPr>
              <a:t>Contact</a:t>
            </a:r>
          </a:p>
        </p:txBody>
      </p:sp>
      <p:sp>
        <p:nvSpPr>
          <p:cNvPr id="32" name="TextBox 31"/>
          <p:cNvSpPr txBox="1"/>
          <p:nvPr/>
        </p:nvSpPr>
        <p:spPr>
          <a:xfrm>
            <a:off x="7909559" y="5148072"/>
            <a:ext cx="2971800" cy="27432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________________________________</a:t>
            </a:r>
          </a:p>
        </p:txBody>
      </p:sp>
    </p:spTree>
  </p:cSld>
  <p:transition spd="med" advClick="1">
    <p:fade/>
  </p:transition>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NAMED FACILITATOR</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About the Trainer</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4</a:t>
            </a:r>
          </a:p>
        </p:txBody>
      </p:sp>
      <p:sp>
        <p:nvSpPr>
          <p:cNvPr id="10" name="Rounded Rectangle 9"/>
          <p:cNvSpPr/>
          <p:nvPr/>
        </p:nvSpPr>
        <p:spPr>
          <a:xfrm>
            <a:off x="777240" y="1755648"/>
            <a:ext cx="2880360" cy="434340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417320" y="2148840"/>
            <a:ext cx="1600200" cy="1600200"/>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17320" y="2578608"/>
            <a:ext cx="1600200" cy="502920"/>
          </a:xfrm>
          <a:prstGeom prst="rect">
            <a:avLst/>
          </a:prstGeom>
          <a:noFill/>
        </p:spPr>
        <p:txBody>
          <a:bodyPr wrap="square" anchor="t" lIns="54864" rIns="54864" tIns="54864" bIns="54864">
            <a:spAutoFit/>
          </a:bodyPr>
          <a:lstStyle/>
          <a:p>
            <a:pPr algn="ctr">
              <a:spcAft>
                <a:spcPts val="0"/>
              </a:spcAft>
            </a:pPr>
            <a:r>
              <a:rPr sz="2800" b="1">
                <a:solidFill>
                  <a:srgbClr val="FFFFFF"/>
                </a:solidFill>
                <a:latin typeface="Arial"/>
              </a:rPr>
              <a:t>AA</a:t>
            </a:r>
          </a:p>
        </p:txBody>
      </p:sp>
      <p:sp>
        <p:nvSpPr>
          <p:cNvPr id="13" name="TextBox 12"/>
          <p:cNvSpPr txBox="1"/>
          <p:nvPr/>
        </p:nvSpPr>
        <p:spPr>
          <a:xfrm>
            <a:off x="1005840" y="4069080"/>
            <a:ext cx="2423160" cy="365760"/>
          </a:xfrm>
          <a:prstGeom prst="rect">
            <a:avLst/>
          </a:prstGeom>
          <a:noFill/>
        </p:spPr>
        <p:txBody>
          <a:bodyPr wrap="square" anchor="t" lIns="54864" rIns="54864" tIns="54864" bIns="54864">
            <a:spAutoFit/>
          </a:bodyPr>
          <a:lstStyle/>
          <a:p>
            <a:pPr algn="ctr">
              <a:spcAft>
                <a:spcPts val="0"/>
              </a:spcAft>
            </a:pPr>
            <a:r>
              <a:rPr sz="1500" b="1">
                <a:solidFill>
                  <a:srgbClr val="161920"/>
                </a:solidFill>
                <a:latin typeface="Arial"/>
              </a:rPr>
              <a:t>DR ALFRED ANG</a:t>
            </a:r>
          </a:p>
        </p:txBody>
      </p:sp>
      <p:sp>
        <p:nvSpPr>
          <p:cNvPr id="14" name="TextBox 13"/>
          <p:cNvSpPr txBox="1"/>
          <p:nvPr/>
        </p:nvSpPr>
        <p:spPr>
          <a:xfrm>
            <a:off x="1005840" y="4572000"/>
            <a:ext cx="2423160" cy="731520"/>
          </a:xfrm>
          <a:prstGeom prst="rect">
            <a:avLst/>
          </a:prstGeom>
          <a:noFill/>
        </p:spPr>
        <p:txBody>
          <a:bodyPr wrap="square" anchor="t" lIns="54864" rIns="54864" tIns="54864" bIns="54864">
            <a:spAutoFit/>
          </a:bodyPr>
          <a:lstStyle/>
          <a:p>
            <a:pPr algn="ctr">
              <a:spcAft>
                <a:spcPts val="0"/>
              </a:spcAft>
            </a:pPr>
            <a:r>
              <a:rPr sz="1150" b="0">
                <a:solidFill>
                  <a:srgbClr val="5B6372"/>
                </a:solidFill>
                <a:latin typeface="Arial"/>
              </a:rPr>
              <a:t>Principal Trainer
Tertiary Infotech Academy</a:t>
            </a:r>
          </a:p>
        </p:txBody>
      </p:sp>
      <p:sp>
        <p:nvSpPr>
          <p:cNvPr id="15" name="Rounded Rectangle 14"/>
          <p:cNvSpPr/>
          <p:nvPr/>
        </p:nvSpPr>
        <p:spPr>
          <a:xfrm>
            <a:off x="3977639" y="1783080"/>
            <a:ext cx="3456432" cy="111556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06240" y="1947672"/>
            <a:ext cx="2971800" cy="274320"/>
          </a:xfrm>
          <a:prstGeom prst="rect">
            <a:avLst/>
          </a:prstGeom>
          <a:noFill/>
        </p:spPr>
        <p:txBody>
          <a:bodyPr wrap="square" anchor="t" lIns="54864" rIns="54864" tIns="54864" bIns="54864">
            <a:spAutoFit/>
          </a:bodyPr>
          <a:lstStyle/>
          <a:p>
            <a:pPr algn="l">
              <a:spcAft>
                <a:spcPts val="0"/>
              </a:spcAft>
            </a:pPr>
            <a:r>
              <a:rPr sz="1250" b="1">
                <a:solidFill>
                  <a:srgbClr val="224AF4"/>
                </a:solidFill>
                <a:latin typeface="Arial"/>
              </a:rPr>
              <a:t>Role</a:t>
            </a:r>
          </a:p>
        </p:txBody>
      </p:sp>
      <p:sp>
        <p:nvSpPr>
          <p:cNvPr id="17" name="TextBox 16"/>
          <p:cNvSpPr txBox="1"/>
          <p:nvPr/>
        </p:nvSpPr>
        <p:spPr>
          <a:xfrm>
            <a:off x="4206240" y="2313432"/>
            <a:ext cx="2971800" cy="438912"/>
          </a:xfrm>
          <a:prstGeom prst="rect">
            <a:avLst/>
          </a:prstGeom>
          <a:noFill/>
        </p:spPr>
        <p:txBody>
          <a:bodyPr wrap="square" anchor="t" lIns="54864" rIns="54864" tIns="54864" bIns="54864">
            <a:spAutoFit/>
          </a:bodyPr>
          <a:lstStyle/>
          <a:p>
            <a:pPr algn="l">
              <a:spcAft>
                <a:spcPts val="0"/>
              </a:spcAft>
            </a:pPr>
            <a:r>
              <a:rPr sz="1150" b="0">
                <a:solidFill>
                  <a:srgbClr val="161920"/>
                </a:solidFill>
                <a:latin typeface="Arial"/>
              </a:rPr>
              <a:t>Principal Trainer</a:t>
            </a:r>
          </a:p>
        </p:txBody>
      </p:sp>
      <p:sp>
        <p:nvSpPr>
          <p:cNvPr id="18" name="Rounded Rectangle 17"/>
          <p:cNvSpPr/>
          <p:nvPr/>
        </p:nvSpPr>
        <p:spPr>
          <a:xfrm>
            <a:off x="7680959" y="1783080"/>
            <a:ext cx="3456432" cy="111556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9559" y="1947672"/>
            <a:ext cx="2971800" cy="274320"/>
          </a:xfrm>
          <a:prstGeom prst="rect">
            <a:avLst/>
          </a:prstGeom>
          <a:noFill/>
        </p:spPr>
        <p:txBody>
          <a:bodyPr wrap="square" anchor="t" lIns="54864" rIns="54864" tIns="54864" bIns="54864">
            <a:spAutoFit/>
          </a:bodyPr>
          <a:lstStyle/>
          <a:p>
            <a:pPr algn="l">
              <a:spcAft>
                <a:spcPts val="0"/>
              </a:spcAft>
            </a:pPr>
            <a:r>
              <a:rPr sz="1250" b="1">
                <a:solidFill>
                  <a:srgbClr val="00B8D9"/>
                </a:solidFill>
                <a:latin typeface="Arial"/>
              </a:rPr>
              <a:t>Expertise</a:t>
            </a:r>
          </a:p>
        </p:txBody>
      </p:sp>
      <p:sp>
        <p:nvSpPr>
          <p:cNvPr id="20" name="TextBox 19"/>
          <p:cNvSpPr txBox="1"/>
          <p:nvPr/>
        </p:nvSpPr>
        <p:spPr>
          <a:xfrm>
            <a:off x="7909559" y="2313432"/>
            <a:ext cx="2971800" cy="438912"/>
          </a:xfrm>
          <a:prstGeom prst="rect">
            <a:avLst/>
          </a:prstGeom>
          <a:noFill/>
        </p:spPr>
        <p:txBody>
          <a:bodyPr wrap="square" anchor="t" lIns="54864" rIns="54864" tIns="54864" bIns="54864">
            <a:spAutoFit/>
          </a:bodyPr>
          <a:lstStyle/>
          <a:p>
            <a:pPr algn="l">
              <a:spcAft>
                <a:spcPts val="0"/>
              </a:spcAft>
            </a:pPr>
            <a:r>
              <a:rPr sz="1150" b="0">
                <a:solidFill>
                  <a:srgbClr val="161920"/>
                </a:solidFill>
                <a:latin typeface="Arial"/>
              </a:rPr>
              <a:t>Digital transformation · GenAI visuals</a:t>
            </a:r>
          </a:p>
        </p:txBody>
      </p:sp>
      <p:sp>
        <p:nvSpPr>
          <p:cNvPr id="21" name="Rounded Rectangle 20"/>
          <p:cNvSpPr/>
          <p:nvPr/>
        </p:nvSpPr>
        <p:spPr>
          <a:xfrm>
            <a:off x="3977639" y="3136391"/>
            <a:ext cx="3456432" cy="111556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06240" y="3300984"/>
            <a:ext cx="2971800" cy="274320"/>
          </a:xfrm>
          <a:prstGeom prst="rect">
            <a:avLst/>
          </a:prstGeom>
          <a:noFill/>
        </p:spPr>
        <p:txBody>
          <a:bodyPr wrap="square" anchor="t" lIns="54864" rIns="54864" tIns="54864" bIns="54864">
            <a:spAutoFit/>
          </a:bodyPr>
          <a:lstStyle/>
          <a:p>
            <a:pPr algn="l">
              <a:spcAft>
                <a:spcPts val="0"/>
              </a:spcAft>
            </a:pPr>
            <a:r>
              <a:rPr sz="1250" b="1">
                <a:solidFill>
                  <a:srgbClr val="E11D74"/>
                </a:solidFill>
                <a:latin typeface="Arial"/>
              </a:rPr>
              <a:t>Facilitation</a:t>
            </a:r>
          </a:p>
        </p:txBody>
      </p:sp>
      <p:sp>
        <p:nvSpPr>
          <p:cNvPr id="23" name="TextBox 22"/>
          <p:cNvSpPr txBox="1"/>
          <p:nvPr/>
        </p:nvSpPr>
        <p:spPr>
          <a:xfrm>
            <a:off x="4206240" y="3666744"/>
            <a:ext cx="2971800" cy="438912"/>
          </a:xfrm>
          <a:prstGeom prst="rect">
            <a:avLst/>
          </a:prstGeom>
          <a:noFill/>
        </p:spPr>
        <p:txBody>
          <a:bodyPr wrap="square" anchor="t" lIns="54864" rIns="54864" tIns="54864" bIns="54864">
            <a:spAutoFit/>
          </a:bodyPr>
          <a:lstStyle/>
          <a:p>
            <a:pPr algn="l">
              <a:spcAft>
                <a:spcPts val="0"/>
              </a:spcAft>
            </a:pPr>
            <a:r>
              <a:rPr sz="1150" b="0">
                <a:solidFill>
                  <a:srgbClr val="161920"/>
                </a:solidFill>
                <a:latin typeface="Arial"/>
              </a:rPr>
              <a:t>Concepts · coached practice · evidence review</a:t>
            </a:r>
          </a:p>
        </p:txBody>
      </p:sp>
      <p:sp>
        <p:nvSpPr>
          <p:cNvPr id="24" name="Rounded Rectangle 23"/>
          <p:cNvSpPr/>
          <p:nvPr/>
        </p:nvSpPr>
        <p:spPr>
          <a:xfrm>
            <a:off x="7680959" y="3136391"/>
            <a:ext cx="3456432" cy="111556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09559" y="3300984"/>
            <a:ext cx="2971800" cy="274320"/>
          </a:xfrm>
          <a:prstGeom prst="rect">
            <a:avLst/>
          </a:prstGeom>
          <a:noFill/>
        </p:spPr>
        <p:txBody>
          <a:bodyPr wrap="square" anchor="t" lIns="54864" rIns="54864" tIns="54864" bIns="54864">
            <a:spAutoFit/>
          </a:bodyPr>
          <a:lstStyle/>
          <a:p>
            <a:pPr algn="l">
              <a:spcAft>
                <a:spcPts val="0"/>
              </a:spcAft>
            </a:pPr>
            <a:r>
              <a:rPr sz="1250" b="1">
                <a:solidFill>
                  <a:srgbClr val="7C3AED"/>
                </a:solidFill>
                <a:latin typeface="Arial"/>
              </a:rPr>
              <a:t>Quality</a:t>
            </a:r>
          </a:p>
        </p:txBody>
      </p:sp>
      <p:sp>
        <p:nvSpPr>
          <p:cNvPr id="26" name="TextBox 25"/>
          <p:cNvSpPr txBox="1"/>
          <p:nvPr/>
        </p:nvSpPr>
        <p:spPr>
          <a:xfrm>
            <a:off x="7909559" y="3666744"/>
            <a:ext cx="2971800" cy="438912"/>
          </a:xfrm>
          <a:prstGeom prst="rect">
            <a:avLst/>
          </a:prstGeom>
          <a:noFill/>
        </p:spPr>
        <p:txBody>
          <a:bodyPr wrap="square" anchor="t" lIns="54864" rIns="54864" tIns="54864" bIns="54864">
            <a:spAutoFit/>
          </a:bodyPr>
          <a:lstStyle/>
          <a:p>
            <a:pPr algn="l">
              <a:spcAft>
                <a:spcPts val="0"/>
              </a:spcAft>
            </a:pPr>
            <a:r>
              <a:rPr sz="1150" b="0">
                <a:solidFill>
                  <a:srgbClr val="161920"/>
                </a:solidFill>
                <a:latin typeface="Arial"/>
              </a:rPr>
              <a:t>Reversible workflows · acceptance criteria</a:t>
            </a:r>
          </a:p>
        </p:txBody>
      </p:sp>
      <p:sp>
        <p:nvSpPr>
          <p:cNvPr id="27" name="Rounded Rectangle 26"/>
          <p:cNvSpPr/>
          <p:nvPr/>
        </p:nvSpPr>
        <p:spPr>
          <a:xfrm>
            <a:off x="3977639" y="4489704"/>
            <a:ext cx="3456432" cy="111556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206240" y="4654296"/>
            <a:ext cx="2971800" cy="274320"/>
          </a:xfrm>
          <a:prstGeom prst="rect">
            <a:avLst/>
          </a:prstGeom>
          <a:noFill/>
        </p:spPr>
        <p:txBody>
          <a:bodyPr wrap="square" anchor="t" lIns="54864" rIns="54864" tIns="54864" bIns="54864">
            <a:spAutoFit/>
          </a:bodyPr>
          <a:lstStyle/>
          <a:p>
            <a:pPr algn="l">
              <a:spcAft>
                <a:spcPts val="0"/>
              </a:spcAft>
            </a:pPr>
            <a:r>
              <a:rPr sz="1250" b="1">
                <a:solidFill>
                  <a:srgbClr val="009A78"/>
                </a:solidFill>
                <a:latin typeface="Arial"/>
              </a:rPr>
              <a:t>Learning culture</a:t>
            </a:r>
          </a:p>
        </p:txBody>
      </p:sp>
      <p:sp>
        <p:nvSpPr>
          <p:cNvPr id="29" name="TextBox 28"/>
          <p:cNvSpPr txBox="1"/>
          <p:nvPr/>
        </p:nvSpPr>
        <p:spPr>
          <a:xfrm>
            <a:off x="4206240" y="5020056"/>
            <a:ext cx="2971800" cy="438912"/>
          </a:xfrm>
          <a:prstGeom prst="rect">
            <a:avLst/>
          </a:prstGeom>
          <a:noFill/>
        </p:spPr>
        <p:txBody>
          <a:bodyPr wrap="square" anchor="t" lIns="54864" rIns="54864" tIns="54864" bIns="54864">
            <a:spAutoFit/>
          </a:bodyPr>
          <a:lstStyle/>
          <a:p>
            <a:pPr algn="l">
              <a:spcAft>
                <a:spcPts val="0"/>
              </a:spcAft>
            </a:pPr>
            <a:r>
              <a:rPr sz="1150" b="0">
                <a:solidFill>
                  <a:srgbClr val="161920"/>
                </a:solidFill>
                <a:latin typeface="Arial"/>
              </a:rPr>
              <a:t>Explain the reason behind every edit</a:t>
            </a:r>
          </a:p>
        </p:txBody>
      </p:sp>
      <p:sp>
        <p:nvSpPr>
          <p:cNvPr id="30" name="Rounded Rectangle 29"/>
          <p:cNvSpPr/>
          <p:nvPr/>
        </p:nvSpPr>
        <p:spPr>
          <a:xfrm>
            <a:off x="7680959" y="4489704"/>
            <a:ext cx="3456432" cy="111556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09559" y="4654296"/>
            <a:ext cx="2971800" cy="274320"/>
          </a:xfrm>
          <a:prstGeom prst="rect">
            <a:avLst/>
          </a:prstGeom>
          <a:noFill/>
        </p:spPr>
        <p:txBody>
          <a:bodyPr wrap="square" anchor="t" lIns="54864" rIns="54864" tIns="54864" bIns="54864">
            <a:spAutoFit/>
          </a:bodyPr>
          <a:lstStyle/>
          <a:p>
            <a:pPr algn="l">
              <a:spcAft>
                <a:spcPts val="0"/>
              </a:spcAft>
            </a:pPr>
            <a:r>
              <a:rPr sz="1250" b="1">
                <a:solidFill>
                  <a:srgbClr val="E98500"/>
                </a:solidFill>
                <a:latin typeface="Arial"/>
              </a:rPr>
              <a:t>Contact</a:t>
            </a:r>
          </a:p>
        </p:txBody>
      </p:sp>
      <p:sp>
        <p:nvSpPr>
          <p:cNvPr id="32" name="TextBox 31"/>
          <p:cNvSpPr txBox="1"/>
          <p:nvPr/>
        </p:nvSpPr>
        <p:spPr>
          <a:xfrm>
            <a:off x="7909559" y="5020056"/>
            <a:ext cx="2971800" cy="438912"/>
          </a:xfrm>
          <a:prstGeom prst="rect">
            <a:avLst/>
          </a:prstGeom>
          <a:noFill/>
        </p:spPr>
        <p:txBody>
          <a:bodyPr wrap="square" anchor="t" lIns="54864" rIns="54864" tIns="54864" bIns="54864">
            <a:spAutoFit/>
          </a:bodyPr>
          <a:lstStyle/>
          <a:p>
            <a:pPr algn="l">
              <a:spcAft>
                <a:spcPts val="0"/>
              </a:spcAft>
            </a:pPr>
            <a:r>
              <a:rPr sz="1150" b="0">
                <a:solidFill>
                  <a:srgbClr val="161920"/>
                </a:solidFill>
                <a:latin typeface="Arial"/>
              </a:rPr>
              <a:t>enquiry@tertiaryinfotech.com · +65 6100 0613</a:t>
            </a:r>
          </a:p>
        </p:txBody>
      </p:sp>
    </p:spTree>
  </p:cSld>
  <p:transition spd="med" advClick="1">
    <p:fade/>
  </p:transition>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OPENING DISCUSSION</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Your GenAI Visual Context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5</a:t>
            </a:r>
          </a:p>
        </p:txBody>
      </p:sp>
      <p:sp>
        <p:nvSpPr>
          <p:cNvPr id="10" name="Rounded Rectangle 9"/>
          <p:cNvSpPr/>
          <p:nvPr/>
        </p:nvSpPr>
        <p:spPr>
          <a:xfrm>
            <a:off x="685800"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755648"/>
            <a:ext cx="73152" cy="212140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Role</a:t>
            </a:r>
          </a:p>
        </p:txBody>
      </p:sp>
      <p:sp>
        <p:nvSpPr>
          <p:cNvPr id="13" name="TextBox 12"/>
          <p:cNvSpPr txBox="1"/>
          <p:nvPr/>
        </p:nvSpPr>
        <p:spPr>
          <a:xfrm>
            <a:off x="905256"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What visuals do you create or manage?</a:t>
            </a:r>
          </a:p>
        </p:txBody>
      </p:sp>
      <p:sp>
        <p:nvSpPr>
          <p:cNvPr id="14" name="Rounded Rectangle 13"/>
          <p:cNvSpPr/>
          <p:nvPr/>
        </p:nvSpPr>
        <p:spPr>
          <a:xfrm>
            <a:off x="4349496"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9496" y="1755648"/>
            <a:ext cx="73152" cy="212140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68952"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Channel</a:t>
            </a:r>
          </a:p>
        </p:txBody>
      </p:sp>
      <p:sp>
        <p:nvSpPr>
          <p:cNvPr id="17" name="TextBox 16"/>
          <p:cNvSpPr txBox="1"/>
          <p:nvPr/>
        </p:nvSpPr>
        <p:spPr>
          <a:xfrm>
            <a:off x="4568952"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Social, web, presentation, print or campaign?</a:t>
            </a:r>
          </a:p>
        </p:txBody>
      </p:sp>
      <p:sp>
        <p:nvSpPr>
          <p:cNvPr id="18" name="Rounded Rectangle 17"/>
          <p:cNvSpPr/>
          <p:nvPr/>
        </p:nvSpPr>
        <p:spPr>
          <a:xfrm>
            <a:off x="8013192"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3192" y="1755648"/>
            <a:ext cx="73152" cy="212140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32648"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Friction</a:t>
            </a:r>
          </a:p>
        </p:txBody>
      </p:sp>
      <p:sp>
        <p:nvSpPr>
          <p:cNvPr id="21" name="TextBox 20"/>
          <p:cNvSpPr txBox="1"/>
          <p:nvPr/>
        </p:nvSpPr>
        <p:spPr>
          <a:xfrm>
            <a:off x="8232648"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Which ideation or Photoshop task costs the most time?</a:t>
            </a:r>
          </a:p>
        </p:txBody>
      </p:sp>
      <p:sp>
        <p:nvSpPr>
          <p:cNvPr id="22" name="Rounded Rectangle 21"/>
          <p:cNvSpPr/>
          <p:nvPr/>
        </p:nvSpPr>
        <p:spPr>
          <a:xfrm>
            <a:off x="685800"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5800" y="4078224"/>
            <a:ext cx="73152" cy="21214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Quality</a:t>
            </a:r>
          </a:p>
        </p:txBody>
      </p:sp>
      <p:sp>
        <p:nvSpPr>
          <p:cNvPr id="25" name="TextBox 24"/>
          <p:cNvSpPr txBox="1"/>
          <p:nvPr/>
        </p:nvSpPr>
        <p:spPr>
          <a:xfrm>
            <a:off x="905256"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Which visual defect is most visible today?</a:t>
            </a:r>
          </a:p>
        </p:txBody>
      </p:sp>
      <p:sp>
        <p:nvSpPr>
          <p:cNvPr id="26" name="Rounded Rectangle 25"/>
          <p:cNvSpPr/>
          <p:nvPr/>
        </p:nvSpPr>
        <p:spPr>
          <a:xfrm>
            <a:off x="4349496"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49496" y="4078224"/>
            <a:ext cx="73152" cy="212140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68952"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009A78"/>
                </a:solidFill>
                <a:latin typeface="Arial"/>
              </a:rPr>
              <a:t>Experience</a:t>
            </a:r>
          </a:p>
        </p:txBody>
      </p:sp>
      <p:sp>
        <p:nvSpPr>
          <p:cNvPr id="29" name="TextBox 28"/>
          <p:cNvSpPr txBox="1"/>
          <p:nvPr/>
        </p:nvSpPr>
        <p:spPr>
          <a:xfrm>
            <a:off x="4568952"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Which Firefly or Photoshop feature is familiar?</a:t>
            </a:r>
          </a:p>
        </p:txBody>
      </p:sp>
      <p:sp>
        <p:nvSpPr>
          <p:cNvPr id="30" name="Rounded Rectangle 29"/>
          <p:cNvSpPr/>
          <p:nvPr/>
        </p:nvSpPr>
        <p:spPr>
          <a:xfrm>
            <a:off x="8013192"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13192" y="4078224"/>
            <a:ext cx="73152" cy="212140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32648"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E98500"/>
                </a:solidFill>
                <a:latin typeface="Arial"/>
              </a:rPr>
              <a:t>Evidence</a:t>
            </a:r>
          </a:p>
        </p:txBody>
      </p:sp>
      <p:sp>
        <p:nvSpPr>
          <p:cNvPr id="33" name="TextBox 32"/>
          <p:cNvSpPr txBox="1"/>
          <p:nvPr/>
        </p:nvSpPr>
        <p:spPr>
          <a:xfrm>
            <a:off x="8232648"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What finished artifact will prove improvement?</a:t>
            </a:r>
          </a:p>
        </p:txBody>
      </p:sp>
    </p:spTree>
  </p:cSld>
  <p:transition spd="med" advClick="1">
    <p:fade/>
  </p:transition>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GROUND RULES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Working Agreements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6</a:t>
            </a:r>
          </a:p>
        </p:txBody>
      </p:sp>
      <p:sp>
        <p:nvSpPr>
          <p:cNvPr id="10" name="Rounded Rectangle 9"/>
          <p:cNvSpPr/>
          <p:nvPr/>
        </p:nvSpPr>
        <p:spPr>
          <a:xfrm>
            <a:off x="685800"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755648"/>
            <a:ext cx="73152" cy="212140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Participate</a:t>
            </a:r>
          </a:p>
        </p:txBody>
      </p:sp>
      <p:sp>
        <p:nvSpPr>
          <p:cNvPr id="13" name="TextBox 12"/>
          <p:cNvSpPr txBox="1"/>
          <p:nvPr/>
        </p:nvSpPr>
        <p:spPr>
          <a:xfrm>
            <a:off x="905256"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Try the tools and explain choices.</a:t>
            </a:r>
          </a:p>
        </p:txBody>
      </p:sp>
      <p:sp>
        <p:nvSpPr>
          <p:cNvPr id="14" name="Rounded Rectangle 13"/>
          <p:cNvSpPr/>
          <p:nvPr/>
        </p:nvSpPr>
        <p:spPr>
          <a:xfrm>
            <a:off x="4349496"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9496" y="1755648"/>
            <a:ext cx="73152" cy="212140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68952"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Respect</a:t>
            </a:r>
          </a:p>
        </p:txBody>
      </p:sp>
      <p:sp>
        <p:nvSpPr>
          <p:cNvPr id="17" name="TextBox 16"/>
          <p:cNvSpPr txBox="1"/>
          <p:nvPr/>
        </p:nvSpPr>
        <p:spPr>
          <a:xfrm>
            <a:off x="4568952"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Critique work, not people.</a:t>
            </a:r>
          </a:p>
        </p:txBody>
      </p:sp>
      <p:sp>
        <p:nvSpPr>
          <p:cNvPr id="18" name="Rounded Rectangle 17"/>
          <p:cNvSpPr/>
          <p:nvPr/>
        </p:nvSpPr>
        <p:spPr>
          <a:xfrm>
            <a:off x="8013192"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3192" y="1755648"/>
            <a:ext cx="73152" cy="212140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32648"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Protect assets</a:t>
            </a:r>
          </a:p>
        </p:txBody>
      </p:sp>
      <p:sp>
        <p:nvSpPr>
          <p:cNvPr id="21" name="TextBox 20"/>
          <p:cNvSpPr txBox="1"/>
          <p:nvPr/>
        </p:nvSpPr>
        <p:spPr>
          <a:xfrm>
            <a:off x="8232648"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Use permitted sources and retain rights evidence.</a:t>
            </a:r>
          </a:p>
        </p:txBody>
      </p:sp>
      <p:sp>
        <p:nvSpPr>
          <p:cNvPr id="22" name="Rounded Rectangle 21"/>
          <p:cNvSpPr/>
          <p:nvPr/>
        </p:nvSpPr>
        <p:spPr>
          <a:xfrm>
            <a:off x="685800"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5800" y="4078224"/>
            <a:ext cx="73152" cy="21214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Save versions</a:t>
            </a:r>
          </a:p>
        </p:txBody>
      </p:sp>
      <p:sp>
        <p:nvSpPr>
          <p:cNvPr id="25" name="TextBox 24"/>
          <p:cNvSpPr txBox="1"/>
          <p:nvPr/>
        </p:nvSpPr>
        <p:spPr>
          <a:xfrm>
            <a:off x="905256"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Preserve originals and name layers/files.</a:t>
            </a:r>
          </a:p>
        </p:txBody>
      </p:sp>
      <p:sp>
        <p:nvSpPr>
          <p:cNvPr id="26" name="Rounded Rectangle 25"/>
          <p:cNvSpPr/>
          <p:nvPr/>
        </p:nvSpPr>
        <p:spPr>
          <a:xfrm>
            <a:off x="4349496"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49496" y="4078224"/>
            <a:ext cx="73152" cy="212140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68952"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009A78"/>
                </a:solidFill>
                <a:latin typeface="Arial"/>
              </a:rPr>
              <a:t>Share safely</a:t>
            </a:r>
          </a:p>
        </p:txBody>
      </p:sp>
      <p:sp>
        <p:nvSpPr>
          <p:cNvPr id="29" name="TextBox 28"/>
          <p:cNvSpPr txBox="1"/>
          <p:nvPr/>
        </p:nvSpPr>
        <p:spPr>
          <a:xfrm>
            <a:off x="4568952"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Protect learner work and assessment content.</a:t>
            </a:r>
          </a:p>
        </p:txBody>
      </p:sp>
      <p:sp>
        <p:nvSpPr>
          <p:cNvPr id="30" name="Rounded Rectangle 29"/>
          <p:cNvSpPr/>
          <p:nvPr/>
        </p:nvSpPr>
        <p:spPr>
          <a:xfrm>
            <a:off x="8013192"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13192" y="4078224"/>
            <a:ext cx="73152" cy="212140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32648"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E98500"/>
                </a:solidFill>
                <a:latin typeface="Arial"/>
              </a:rPr>
              <a:t>Verify</a:t>
            </a:r>
          </a:p>
        </p:txBody>
      </p:sp>
      <p:sp>
        <p:nvSpPr>
          <p:cNvPr id="33" name="TextBox 32"/>
          <p:cNvSpPr txBox="1"/>
          <p:nvPr/>
        </p:nvSpPr>
        <p:spPr>
          <a:xfrm>
            <a:off x="8232648"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Reopen exports before delivery.</a:t>
            </a:r>
          </a:p>
        </p:txBody>
      </p:sp>
    </p:spTree>
  </p:cSld>
  <p:transition spd="med" advClick="1">
    <p:fade/>
  </p:transition>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LMS-TMS · LEARNER PACKAGE</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Download Course Materials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8</a:t>
            </a:r>
          </a:p>
        </p:txBody>
      </p:sp>
      <p:sp>
        <p:nvSpPr>
          <p:cNvPr id="10" name="Rounded Rectangle 9"/>
          <p:cNvSpPr/>
          <p:nvPr/>
        </p:nvSpPr>
        <p:spPr>
          <a:xfrm>
            <a:off x="777240" y="1737360"/>
            <a:ext cx="10607040" cy="4434840"/>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37360"/>
            <a:ext cx="10607040" cy="502920"/>
          </a:xfrm>
          <a:prstGeom prst="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24128" y="1901952"/>
            <a:ext cx="109728" cy="10972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271016" y="1901952"/>
            <a:ext cx="109728" cy="10972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517904" y="1901952"/>
            <a:ext cx="109728" cy="10972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011680" y="1847088"/>
            <a:ext cx="7955279" cy="256032"/>
          </a:xfrm>
          <a:prstGeom prst="roundRect">
            <a:avLst/>
          </a:prstGeom>
          <a:solidFill>
            <a:srgbClr val="3238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148840" y="1892807"/>
            <a:ext cx="7635240" cy="146304"/>
          </a:xfrm>
          <a:prstGeom prst="rect">
            <a:avLst/>
          </a:prstGeom>
          <a:noFill/>
        </p:spPr>
        <p:txBody>
          <a:bodyPr wrap="square" anchor="t" lIns="54864" rIns="54864" tIns="54864" bIns="54864">
            <a:spAutoFit/>
          </a:bodyPr>
          <a:lstStyle/>
          <a:p>
            <a:pPr algn="ctr">
              <a:spcAft>
                <a:spcPts val="0"/>
              </a:spcAft>
            </a:pPr>
            <a:r>
              <a:rPr sz="850" b="0">
                <a:solidFill>
                  <a:srgbClr val="FFFFFF"/>
                </a:solidFill>
                <a:latin typeface="Arial"/>
              </a:rPr>
              <a:t>lms-tms.tertiaryinfotech.com</a:t>
            </a:r>
          </a:p>
        </p:txBody>
      </p:sp>
      <p:sp>
        <p:nvSpPr>
          <p:cNvPr id="17" name="TextBox 16"/>
          <p:cNvSpPr txBox="1"/>
          <p:nvPr/>
        </p:nvSpPr>
        <p:spPr>
          <a:xfrm>
            <a:off x="1097280" y="2578608"/>
            <a:ext cx="6766560" cy="502920"/>
          </a:xfrm>
          <a:prstGeom prst="rect">
            <a:avLst/>
          </a:prstGeom>
          <a:noFill/>
        </p:spPr>
        <p:txBody>
          <a:bodyPr wrap="square" anchor="t" lIns="54864" rIns="54864" tIns="54864" bIns="54864">
            <a:spAutoFit/>
          </a:bodyPr>
          <a:lstStyle/>
          <a:p>
            <a:pPr algn="l">
              <a:spcAft>
                <a:spcPts val="0"/>
              </a:spcAft>
            </a:pPr>
            <a:r>
              <a:rPr sz="2100" b="1">
                <a:solidFill>
                  <a:srgbClr val="161920"/>
                </a:solidFill>
                <a:latin typeface="Arial"/>
              </a:rPr>
              <a:t>GenAI Visuals · Photoshop + Firefly</a:t>
            </a:r>
          </a:p>
        </p:txBody>
      </p:sp>
      <p:sp>
        <p:nvSpPr>
          <p:cNvPr id="18" name="TextBox 17"/>
          <p:cNvSpPr txBox="1"/>
          <p:nvPr/>
        </p:nvSpPr>
        <p:spPr>
          <a:xfrm>
            <a:off x="1097280" y="3063240"/>
            <a:ext cx="4754880"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Courseware · v8</a:t>
            </a:r>
          </a:p>
        </p:txBody>
      </p:sp>
      <p:sp>
        <p:nvSpPr>
          <p:cNvPr id="19" name="Rounded Rectangle 18"/>
          <p:cNvSpPr/>
          <p:nvPr/>
        </p:nvSpPr>
        <p:spPr>
          <a:xfrm>
            <a:off x="1097280" y="3767328"/>
            <a:ext cx="1664208" cy="150876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554480" y="3986784"/>
            <a:ext cx="749808" cy="56692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554480" y="4133087"/>
            <a:ext cx="749808" cy="201168"/>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PPTX</a:t>
            </a:r>
          </a:p>
        </p:txBody>
      </p:sp>
      <p:sp>
        <p:nvSpPr>
          <p:cNvPr id="22" name="TextBox 21"/>
          <p:cNvSpPr txBox="1"/>
          <p:nvPr/>
        </p:nvSpPr>
        <p:spPr>
          <a:xfrm>
            <a:off x="1234439" y="4736592"/>
            <a:ext cx="1389888" cy="274320"/>
          </a:xfrm>
          <a:prstGeom prst="rect">
            <a:avLst/>
          </a:prstGeom>
          <a:noFill/>
        </p:spPr>
        <p:txBody>
          <a:bodyPr wrap="square" anchor="t" lIns="54864" rIns="54864" tIns="54864" bIns="54864">
            <a:spAutoFit/>
          </a:bodyPr>
          <a:lstStyle/>
          <a:p>
            <a:pPr algn="ctr">
              <a:spcAft>
                <a:spcPts val="0"/>
              </a:spcAft>
            </a:pPr>
            <a:r>
              <a:rPr sz="1050" b="1">
                <a:solidFill>
                  <a:srgbClr val="161920"/>
                </a:solidFill>
                <a:latin typeface="Arial"/>
              </a:rPr>
              <a:t>Trainer deck</a:t>
            </a:r>
          </a:p>
        </p:txBody>
      </p:sp>
      <p:sp>
        <p:nvSpPr>
          <p:cNvPr id="23" name="Rounded Rectangle 22"/>
          <p:cNvSpPr/>
          <p:nvPr/>
        </p:nvSpPr>
        <p:spPr>
          <a:xfrm>
            <a:off x="3090672" y="3767328"/>
            <a:ext cx="1664208" cy="150876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547872" y="3986784"/>
            <a:ext cx="749808" cy="56692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47872" y="4133087"/>
            <a:ext cx="749808" cy="201168"/>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PDF</a:t>
            </a:r>
          </a:p>
        </p:txBody>
      </p:sp>
      <p:sp>
        <p:nvSpPr>
          <p:cNvPr id="26" name="TextBox 25"/>
          <p:cNvSpPr txBox="1"/>
          <p:nvPr/>
        </p:nvSpPr>
        <p:spPr>
          <a:xfrm>
            <a:off x="3227832" y="4736592"/>
            <a:ext cx="1389888" cy="274320"/>
          </a:xfrm>
          <a:prstGeom prst="rect">
            <a:avLst/>
          </a:prstGeom>
          <a:noFill/>
        </p:spPr>
        <p:txBody>
          <a:bodyPr wrap="square" anchor="t" lIns="54864" rIns="54864" tIns="54864" bIns="54864">
            <a:spAutoFit/>
          </a:bodyPr>
          <a:lstStyle/>
          <a:p>
            <a:pPr algn="ctr">
              <a:spcAft>
                <a:spcPts val="0"/>
              </a:spcAft>
            </a:pPr>
            <a:r>
              <a:rPr sz="1050" b="1">
                <a:solidFill>
                  <a:srgbClr val="161920"/>
                </a:solidFill>
                <a:latin typeface="Arial"/>
              </a:rPr>
              <a:t>Learner slides</a:t>
            </a:r>
          </a:p>
        </p:txBody>
      </p:sp>
      <p:sp>
        <p:nvSpPr>
          <p:cNvPr id="27" name="Rounded Rectangle 26"/>
          <p:cNvSpPr/>
          <p:nvPr/>
        </p:nvSpPr>
        <p:spPr>
          <a:xfrm>
            <a:off x="5084064" y="3767328"/>
            <a:ext cx="1664208" cy="150876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541264" y="3986784"/>
            <a:ext cx="749808" cy="56692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541264" y="4133087"/>
            <a:ext cx="749808" cy="201168"/>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LG</a:t>
            </a:r>
          </a:p>
        </p:txBody>
      </p:sp>
      <p:sp>
        <p:nvSpPr>
          <p:cNvPr id="30" name="TextBox 29"/>
          <p:cNvSpPr txBox="1"/>
          <p:nvPr/>
        </p:nvSpPr>
        <p:spPr>
          <a:xfrm>
            <a:off x="5221224" y="4736592"/>
            <a:ext cx="1389888" cy="274320"/>
          </a:xfrm>
          <a:prstGeom prst="rect">
            <a:avLst/>
          </a:prstGeom>
          <a:noFill/>
        </p:spPr>
        <p:txBody>
          <a:bodyPr wrap="square" anchor="t" lIns="54864" rIns="54864" tIns="54864" bIns="54864">
            <a:spAutoFit/>
          </a:bodyPr>
          <a:lstStyle/>
          <a:p>
            <a:pPr algn="ctr">
              <a:spcAft>
                <a:spcPts val="0"/>
              </a:spcAft>
            </a:pPr>
            <a:r>
              <a:rPr sz="1050" b="1">
                <a:solidFill>
                  <a:srgbClr val="161920"/>
                </a:solidFill>
                <a:latin typeface="Arial"/>
              </a:rPr>
              <a:t>Detailed guide</a:t>
            </a:r>
          </a:p>
        </p:txBody>
      </p:sp>
      <p:sp>
        <p:nvSpPr>
          <p:cNvPr id="31" name="Rounded Rectangle 30"/>
          <p:cNvSpPr/>
          <p:nvPr/>
        </p:nvSpPr>
        <p:spPr>
          <a:xfrm>
            <a:off x="7077456" y="3767328"/>
            <a:ext cx="1664208" cy="150876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534656" y="3986784"/>
            <a:ext cx="749808" cy="56692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534656" y="4133087"/>
            <a:ext cx="749808" cy="201168"/>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LP</a:t>
            </a:r>
          </a:p>
        </p:txBody>
      </p:sp>
      <p:sp>
        <p:nvSpPr>
          <p:cNvPr id="34" name="TextBox 33"/>
          <p:cNvSpPr txBox="1"/>
          <p:nvPr/>
        </p:nvSpPr>
        <p:spPr>
          <a:xfrm>
            <a:off x="7214616" y="4736592"/>
            <a:ext cx="1389888" cy="274320"/>
          </a:xfrm>
          <a:prstGeom prst="rect">
            <a:avLst/>
          </a:prstGeom>
          <a:noFill/>
        </p:spPr>
        <p:txBody>
          <a:bodyPr wrap="square" anchor="t" lIns="54864" rIns="54864" tIns="54864" bIns="54864">
            <a:spAutoFit/>
          </a:bodyPr>
          <a:lstStyle/>
          <a:p>
            <a:pPr algn="ctr">
              <a:spcAft>
                <a:spcPts val="0"/>
              </a:spcAft>
            </a:pPr>
            <a:r>
              <a:rPr sz="1050" b="1">
                <a:solidFill>
                  <a:srgbClr val="161920"/>
                </a:solidFill>
                <a:latin typeface="Arial"/>
              </a:rPr>
              <a:t>Delivery plan</a:t>
            </a:r>
          </a:p>
        </p:txBody>
      </p:sp>
      <p:sp>
        <p:nvSpPr>
          <p:cNvPr id="35" name="Rounded Rectangle 34"/>
          <p:cNvSpPr/>
          <p:nvPr/>
        </p:nvSpPr>
        <p:spPr>
          <a:xfrm>
            <a:off x="9070848" y="3767328"/>
            <a:ext cx="1664208" cy="150876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528048" y="3986784"/>
            <a:ext cx="749808" cy="56692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528048" y="4133087"/>
            <a:ext cx="749808" cy="201168"/>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10</a:t>
            </a:r>
          </a:p>
        </p:txBody>
      </p:sp>
      <p:sp>
        <p:nvSpPr>
          <p:cNvPr id="38" name="TextBox 37"/>
          <p:cNvSpPr txBox="1"/>
          <p:nvPr/>
        </p:nvSpPr>
        <p:spPr>
          <a:xfrm>
            <a:off x="9208008" y="4736592"/>
            <a:ext cx="1389888" cy="274320"/>
          </a:xfrm>
          <a:prstGeom prst="rect">
            <a:avLst/>
          </a:prstGeom>
          <a:noFill/>
        </p:spPr>
        <p:txBody>
          <a:bodyPr wrap="square" anchor="t" lIns="54864" rIns="54864" tIns="54864" bIns="54864">
            <a:spAutoFit/>
          </a:bodyPr>
          <a:lstStyle/>
          <a:p>
            <a:pPr algn="ctr">
              <a:spcAft>
                <a:spcPts val="0"/>
              </a:spcAft>
            </a:pPr>
            <a:r>
              <a:rPr sz="1050" b="1">
                <a:solidFill>
                  <a:srgbClr val="161920"/>
                </a:solidFill>
                <a:latin typeface="Arial"/>
              </a:rPr>
              <a:t>Lab folders</a:t>
            </a:r>
          </a:p>
        </p:txBody>
      </p:sp>
      <p:sp>
        <p:nvSpPr>
          <p:cNvPr id="39" name="TextBox 38"/>
          <p:cNvSpPr txBox="1"/>
          <p:nvPr/>
        </p:nvSpPr>
        <p:spPr>
          <a:xfrm>
            <a:off x="1097280" y="5532120"/>
            <a:ext cx="9875520" cy="274320"/>
          </a:xfrm>
          <a:prstGeom prst="rect">
            <a:avLst/>
          </a:prstGeom>
          <a:noFill/>
        </p:spPr>
        <p:txBody>
          <a:bodyPr wrap="square" anchor="t" lIns="54864" rIns="54864" tIns="54864" bIns="54864">
            <a:spAutoFit/>
          </a:bodyPr>
          <a:lstStyle/>
          <a:p>
            <a:pPr algn="ctr">
              <a:spcAft>
                <a:spcPts val="0"/>
              </a:spcAft>
            </a:pPr>
            <a:r>
              <a:rPr sz="1300" b="1">
                <a:solidFill>
                  <a:srgbClr val="5B6372"/>
                </a:solidFill>
                <a:latin typeface="Arial"/>
              </a:rPr>
              <a:t>Outcome · the complete package is available in one authenticated course record.</a:t>
            </a:r>
          </a:p>
        </p:txBody>
      </p:sp>
    </p:spTree>
  </p:cSld>
  <p:transition spd="med" advClick="1">
    <p:fade/>
  </p:transition>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LEARNER-FACING GITHUB COURSEWARE</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Access the Ten Lab Folders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9</a:t>
            </a:r>
          </a:p>
        </p:txBody>
      </p:sp>
      <p:sp>
        <p:nvSpPr>
          <p:cNvPr id="10" name="Rounded Rectangle 9"/>
          <p:cNvSpPr/>
          <p:nvPr/>
        </p:nvSpPr>
        <p:spPr>
          <a:xfrm>
            <a:off x="868680" y="1828800"/>
            <a:ext cx="10378440" cy="361188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2176272"/>
            <a:ext cx="9738360" cy="502920"/>
          </a:xfrm>
          <a:prstGeom prst="rect">
            <a:avLst/>
          </a:prstGeom>
          <a:noFill/>
        </p:spPr>
        <p:txBody>
          <a:bodyPr wrap="square" anchor="t" lIns="54864" rIns="54864" tIns="54864" bIns="54864">
            <a:spAutoFit/>
          </a:bodyPr>
          <a:lstStyle/>
          <a:p>
            <a:pPr algn="ctr">
              <a:spcAft>
                <a:spcPts val="0"/>
              </a:spcAft>
            </a:pPr>
            <a:r>
              <a:rPr sz="2000" b="1">
                <a:solidFill>
                  <a:srgbClr val="161920"/>
                </a:solidFill>
                <a:latin typeface="Arial"/>
              </a:rPr>
              <a:t>Open the course repository, select labs/, then open the numbered folder assigned by your trainer.</a:t>
            </a:r>
          </a:p>
        </p:txBody>
      </p:sp>
      <p:sp>
        <p:nvSpPr>
          <p:cNvPr id="12" name="TextBox 11"/>
          <p:cNvSpPr txBox="1"/>
          <p:nvPr/>
        </p:nvSpPr>
        <p:spPr>
          <a:xfrm>
            <a:off x="2423160" y="3063240"/>
            <a:ext cx="7269480" cy="713232"/>
          </a:xfrm>
          <a:prstGeom prst="rect">
            <a:avLst/>
          </a:prstGeom>
          <a:noFill/>
        </p:spPr>
        <p:txBody>
          <a:bodyPr wrap="square" anchor="ctr" lIns="54864" rIns="54864" tIns="54864" bIns="54864">
            <a:spAutoFit/>
          </a:bodyPr>
          <a:lstStyle/>
          <a:p>
            <a:pPr algn="ctr">
              <a:spcAft>
                <a:spcPts val="0"/>
              </a:spcAft>
            </a:pPr>
            <a:r>
              <a:rPr sz="2200" b="1">
                <a:solidFill>
                  <a:srgbClr val="224AF4"/>
                </a:solidFill>
                <a:latin typeface="Arial"/>
                <a:hlinkClick r:id="rId2"/>
              </a:rPr>
              <a:t>Open the learner lab folders</a:t>
            </a:r>
          </a:p>
        </p:txBody>
      </p:sp>
      <p:sp>
        <p:nvSpPr>
          <p:cNvPr id="13" name="TextBox 12"/>
          <p:cNvSpPr txBox="1"/>
          <p:nvPr/>
        </p:nvSpPr>
        <p:spPr>
          <a:xfrm>
            <a:off x="1417320" y="4370832"/>
            <a:ext cx="9326880" cy="548640"/>
          </a:xfrm>
          <a:prstGeom prst="rect">
            <a:avLst/>
          </a:prstGeom>
          <a:noFill/>
        </p:spPr>
        <p:txBody>
          <a:bodyPr wrap="square" anchor="t" lIns="54864" rIns="54864" tIns="54864" bIns="54864">
            <a:spAutoFit/>
          </a:bodyPr>
          <a:lstStyle/>
          <a:p>
            <a:pPr algn="ctr">
              <a:spcAft>
                <a:spcPts val="0"/>
              </a:spcAft>
            </a:pPr>
            <a:r>
              <a:rPr sz="1400" b="0">
                <a:solidFill>
                  <a:srgbClr val="5B6372"/>
                </a:solidFill>
                <a:latin typeface="Arial"/>
              </a:rPr>
              <a:t>Every folder contains a detailed guide plus supplied PSD/JPEG assets. Keep your outputs inside that folder or the trainer-approved workspace.</a:t>
            </a:r>
          </a:p>
        </p:txBody>
      </p:sp>
    </p:spTree>
  </p:cSld>
  <p:transition spd="med" advClick="1">
    <p:fade/>
  </p:transition>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COURSE FLOW</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Two-Day Learning Journey</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10</a:t>
            </a:r>
          </a:p>
        </p:txBody>
      </p:sp>
      <p:sp>
        <p:nvSpPr>
          <p:cNvPr id="10" name="Rounded Rectangle 9"/>
          <p:cNvSpPr/>
          <p:nvPr/>
        </p:nvSpPr>
        <p:spPr>
          <a:xfrm>
            <a:off x="685800" y="1874519"/>
            <a:ext cx="1997049" cy="228600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50392" y="2039112"/>
            <a:ext cx="548640" cy="548640"/>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2167127"/>
            <a:ext cx="548640" cy="219456"/>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1</a:t>
            </a:r>
          </a:p>
        </p:txBody>
      </p:sp>
      <p:sp>
        <p:nvSpPr>
          <p:cNvPr id="13" name="TextBox 12"/>
          <p:cNvSpPr txBox="1"/>
          <p:nvPr/>
        </p:nvSpPr>
        <p:spPr>
          <a:xfrm>
            <a:off x="850392" y="2816352"/>
            <a:ext cx="1667865" cy="594360"/>
          </a:xfrm>
          <a:prstGeom prst="rect">
            <a:avLst/>
          </a:prstGeom>
          <a:noFill/>
        </p:spPr>
        <p:txBody>
          <a:bodyPr wrap="square" anchor="t" lIns="54864" rIns="54864" tIns="54864" bIns="54864">
            <a:spAutoFit/>
          </a:bodyPr>
          <a:lstStyle/>
          <a:p>
            <a:pPr algn="ctr">
              <a:spcAft>
                <a:spcPts val="0"/>
              </a:spcAft>
            </a:pPr>
            <a:r>
              <a:rPr sz="1500" b="1">
                <a:solidFill>
                  <a:srgbClr val="161920"/>
                </a:solidFill>
                <a:latin typeface="Arial"/>
              </a:rPr>
              <a:t>Explore</a:t>
            </a:r>
          </a:p>
        </p:txBody>
      </p:sp>
      <p:sp>
        <p:nvSpPr>
          <p:cNvPr id="14" name="Chevron 13"/>
          <p:cNvSpPr/>
          <p:nvPr/>
        </p:nvSpPr>
        <p:spPr>
          <a:xfrm>
            <a:off x="2714853" y="2816352"/>
            <a:ext cx="137160" cy="457200"/>
          </a:xfrm>
          <a:prstGeom prst="chevron">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884017" y="1874519"/>
            <a:ext cx="1997049" cy="228600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048609" y="2039112"/>
            <a:ext cx="548640" cy="548640"/>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48609" y="2167127"/>
            <a:ext cx="548640" cy="219456"/>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2</a:t>
            </a:r>
          </a:p>
        </p:txBody>
      </p:sp>
      <p:sp>
        <p:nvSpPr>
          <p:cNvPr id="18" name="TextBox 17"/>
          <p:cNvSpPr txBox="1"/>
          <p:nvPr/>
        </p:nvSpPr>
        <p:spPr>
          <a:xfrm>
            <a:off x="3048609" y="2816352"/>
            <a:ext cx="1667865" cy="594360"/>
          </a:xfrm>
          <a:prstGeom prst="rect">
            <a:avLst/>
          </a:prstGeom>
          <a:noFill/>
        </p:spPr>
        <p:txBody>
          <a:bodyPr wrap="square" anchor="t" lIns="54864" rIns="54864" tIns="54864" bIns="54864">
            <a:spAutoFit/>
          </a:bodyPr>
          <a:lstStyle/>
          <a:p>
            <a:pPr algn="ctr">
              <a:spcAft>
                <a:spcPts val="0"/>
              </a:spcAft>
            </a:pPr>
            <a:r>
              <a:rPr sz="1500" b="1">
                <a:solidFill>
                  <a:srgbClr val="161920"/>
                </a:solidFill>
                <a:latin typeface="Arial"/>
              </a:rPr>
              <a:t>Reference</a:t>
            </a:r>
          </a:p>
        </p:txBody>
      </p:sp>
      <p:sp>
        <p:nvSpPr>
          <p:cNvPr id="19" name="Chevron 18"/>
          <p:cNvSpPr/>
          <p:nvPr/>
        </p:nvSpPr>
        <p:spPr>
          <a:xfrm>
            <a:off x="4913071" y="2816352"/>
            <a:ext cx="137160" cy="457200"/>
          </a:xfrm>
          <a:prstGeom prst="chevron">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82235" y="1874519"/>
            <a:ext cx="1997049" cy="228600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46827" y="2039112"/>
            <a:ext cx="548640" cy="548640"/>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6827" y="2167127"/>
            <a:ext cx="548640" cy="219456"/>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3</a:t>
            </a:r>
          </a:p>
        </p:txBody>
      </p:sp>
      <p:sp>
        <p:nvSpPr>
          <p:cNvPr id="23" name="TextBox 22"/>
          <p:cNvSpPr txBox="1"/>
          <p:nvPr/>
        </p:nvSpPr>
        <p:spPr>
          <a:xfrm>
            <a:off x="5246827" y="2816352"/>
            <a:ext cx="1667865" cy="594360"/>
          </a:xfrm>
          <a:prstGeom prst="rect">
            <a:avLst/>
          </a:prstGeom>
          <a:noFill/>
        </p:spPr>
        <p:txBody>
          <a:bodyPr wrap="square" anchor="t" lIns="54864" rIns="54864" tIns="54864" bIns="54864">
            <a:spAutoFit/>
          </a:bodyPr>
          <a:lstStyle/>
          <a:p>
            <a:pPr algn="ctr">
              <a:spcAft>
                <a:spcPts val="0"/>
              </a:spcAft>
            </a:pPr>
            <a:r>
              <a:rPr sz="1500" b="1">
                <a:solidFill>
                  <a:srgbClr val="161920"/>
                </a:solidFill>
                <a:latin typeface="Arial"/>
              </a:rPr>
              <a:t>Compose</a:t>
            </a:r>
          </a:p>
        </p:txBody>
      </p:sp>
      <p:sp>
        <p:nvSpPr>
          <p:cNvPr id="24" name="Chevron 23"/>
          <p:cNvSpPr/>
          <p:nvPr/>
        </p:nvSpPr>
        <p:spPr>
          <a:xfrm>
            <a:off x="7111288" y="2816352"/>
            <a:ext cx="137160" cy="457200"/>
          </a:xfrm>
          <a:prstGeom prst="chevron">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80452" y="1874519"/>
            <a:ext cx="1997049" cy="228600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445044" y="2039112"/>
            <a:ext cx="548640" cy="54864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45044" y="2167127"/>
            <a:ext cx="548640" cy="219456"/>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4</a:t>
            </a:r>
          </a:p>
        </p:txBody>
      </p:sp>
      <p:sp>
        <p:nvSpPr>
          <p:cNvPr id="28" name="TextBox 27"/>
          <p:cNvSpPr txBox="1"/>
          <p:nvPr/>
        </p:nvSpPr>
        <p:spPr>
          <a:xfrm>
            <a:off x="7445044" y="2816352"/>
            <a:ext cx="1667865" cy="594360"/>
          </a:xfrm>
          <a:prstGeom prst="rect">
            <a:avLst/>
          </a:prstGeom>
          <a:noFill/>
        </p:spPr>
        <p:txBody>
          <a:bodyPr wrap="square" anchor="t" lIns="54864" rIns="54864" tIns="54864" bIns="54864">
            <a:spAutoFit/>
          </a:bodyPr>
          <a:lstStyle/>
          <a:p>
            <a:pPr algn="ctr">
              <a:spcAft>
                <a:spcPts val="0"/>
              </a:spcAft>
            </a:pPr>
            <a:r>
              <a:rPr sz="1500" b="1">
                <a:solidFill>
                  <a:srgbClr val="161920"/>
                </a:solidFill>
                <a:latin typeface="Arial"/>
              </a:rPr>
              <a:t>Critique</a:t>
            </a:r>
          </a:p>
        </p:txBody>
      </p:sp>
      <p:sp>
        <p:nvSpPr>
          <p:cNvPr id="29" name="Chevron 28"/>
          <p:cNvSpPr/>
          <p:nvPr/>
        </p:nvSpPr>
        <p:spPr>
          <a:xfrm>
            <a:off x="9309506" y="2816352"/>
            <a:ext cx="137160" cy="457200"/>
          </a:xfrm>
          <a:prstGeom prst="chevron">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478670" y="1874519"/>
            <a:ext cx="1997049" cy="228600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643262" y="2039112"/>
            <a:ext cx="548640" cy="548640"/>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43262" y="2167127"/>
            <a:ext cx="548640" cy="219456"/>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5</a:t>
            </a:r>
          </a:p>
        </p:txBody>
      </p:sp>
      <p:sp>
        <p:nvSpPr>
          <p:cNvPr id="33" name="TextBox 32"/>
          <p:cNvSpPr txBox="1"/>
          <p:nvPr/>
        </p:nvSpPr>
        <p:spPr>
          <a:xfrm>
            <a:off x="9643262" y="2816352"/>
            <a:ext cx="1667865" cy="594360"/>
          </a:xfrm>
          <a:prstGeom prst="rect">
            <a:avLst/>
          </a:prstGeom>
          <a:noFill/>
        </p:spPr>
        <p:txBody>
          <a:bodyPr wrap="square" anchor="t" lIns="54864" rIns="54864" tIns="54864" bIns="54864">
            <a:spAutoFit/>
          </a:bodyPr>
          <a:lstStyle/>
          <a:p>
            <a:pPr algn="ctr">
              <a:spcAft>
                <a:spcPts val="0"/>
              </a:spcAft>
            </a:pPr>
            <a:r>
              <a:rPr sz="1500" b="1">
                <a:solidFill>
                  <a:srgbClr val="161920"/>
                </a:solidFill>
                <a:latin typeface="Arial"/>
              </a:rPr>
              <a:t>Deliver</a:t>
            </a:r>
          </a:p>
        </p:txBody>
      </p:sp>
      <p:sp>
        <p:nvSpPr>
          <p:cNvPr id="34" name="Rounded Rectangle 33"/>
          <p:cNvSpPr/>
          <p:nvPr/>
        </p:nvSpPr>
        <p:spPr>
          <a:xfrm>
            <a:off x="685800" y="4617720"/>
            <a:ext cx="10789920" cy="113385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14400" y="4846320"/>
            <a:ext cx="1508760" cy="228600"/>
          </a:xfrm>
          <a:prstGeom prst="rect">
            <a:avLst/>
          </a:prstGeom>
          <a:noFill/>
        </p:spPr>
        <p:txBody>
          <a:bodyPr wrap="square" anchor="t" lIns="54864" rIns="54864" tIns="54864" bIns="54864">
            <a:spAutoFit/>
          </a:bodyPr>
          <a:lstStyle/>
          <a:p>
            <a:pPr algn="l">
              <a:spcAft>
                <a:spcPts val="0"/>
              </a:spcAft>
            </a:pPr>
            <a:r>
              <a:rPr sz="1100" b="1">
                <a:solidFill>
                  <a:srgbClr val="FFFFFF"/>
                </a:solidFill>
                <a:latin typeface="Arial"/>
              </a:rPr>
              <a:t>OUTCOME</a:t>
            </a:r>
          </a:p>
        </p:txBody>
      </p:sp>
      <p:sp>
        <p:nvSpPr>
          <p:cNvPr id="36" name="TextBox 35"/>
          <p:cNvSpPr txBox="1"/>
          <p:nvPr/>
        </p:nvSpPr>
        <p:spPr>
          <a:xfrm>
            <a:off x="2240280" y="4773168"/>
            <a:ext cx="8915400" cy="621792"/>
          </a:xfrm>
          <a:prstGeom prst="rect">
            <a:avLst/>
          </a:prstGeom>
          <a:noFill/>
        </p:spPr>
        <p:txBody>
          <a:bodyPr wrap="square" anchor="t" lIns="54864" rIns="54864" tIns="54864" bIns="54864">
            <a:spAutoFit/>
          </a:bodyPr>
          <a:lstStyle/>
          <a:p>
            <a:pPr algn="l">
              <a:spcAft>
                <a:spcPts val="0"/>
              </a:spcAft>
            </a:pPr>
            <a:r>
              <a:rPr sz="1600" b="1">
                <a:solidFill>
                  <a:srgbClr val="FFFFFF"/>
                </a:solidFill>
                <a:latin typeface="Arial"/>
              </a:rPr>
              <a:t>The workflow moves from audience-led exploration to Firefly control, editable Photoshop integration, critique and verified delivery.</a:t>
            </a:r>
          </a:p>
        </p:txBody>
      </p:sp>
    </p:spTree>
  </p:cSld>
  <p:transition spd="med" advClick="1">
    <p:fade/>
  </p:transition>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VISUAL COMMUNICATION</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Skills Framework Alignment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11</a:t>
            </a:r>
          </a:p>
        </p:txBody>
      </p:sp>
      <p:sp>
        <p:nvSpPr>
          <p:cNvPr id="10" name="Rounded Rectangle 9"/>
          <p:cNvSpPr/>
          <p:nvPr/>
        </p:nvSpPr>
        <p:spPr>
          <a:xfrm>
            <a:off x="685800"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755648"/>
            <a:ext cx="73152" cy="212140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TSC</a:t>
            </a:r>
          </a:p>
        </p:txBody>
      </p:sp>
      <p:sp>
        <p:nvSpPr>
          <p:cNvPr id="13" name="TextBox 12"/>
          <p:cNvSpPr txBox="1"/>
          <p:nvPr/>
        </p:nvSpPr>
        <p:spPr>
          <a:xfrm>
            <a:off x="905256"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Visual Communication · DSN-COM-4005-1.1</a:t>
            </a:r>
          </a:p>
        </p:txBody>
      </p:sp>
      <p:sp>
        <p:nvSpPr>
          <p:cNvPr id="14" name="Rounded Rectangle 13"/>
          <p:cNvSpPr/>
          <p:nvPr/>
        </p:nvSpPr>
        <p:spPr>
          <a:xfrm>
            <a:off x="4349496"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9496" y="1755648"/>
            <a:ext cx="73152" cy="212140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68952"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Course</a:t>
            </a:r>
          </a:p>
        </p:txBody>
      </p:sp>
      <p:sp>
        <p:nvSpPr>
          <p:cNvPr id="17" name="TextBox 16"/>
          <p:cNvSpPr txBox="1"/>
          <p:nvPr/>
        </p:nvSpPr>
        <p:spPr>
          <a:xfrm>
            <a:off x="4568952"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TGS-2024045220</a:t>
            </a:r>
          </a:p>
        </p:txBody>
      </p:sp>
      <p:sp>
        <p:nvSpPr>
          <p:cNvPr id="18" name="Rounded Rectangle 17"/>
          <p:cNvSpPr/>
          <p:nvPr/>
        </p:nvSpPr>
        <p:spPr>
          <a:xfrm>
            <a:off x="8013192"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3192" y="1755648"/>
            <a:ext cx="73152" cy="212140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32648"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Duration</a:t>
            </a:r>
          </a:p>
        </p:txBody>
      </p:sp>
      <p:sp>
        <p:nvSpPr>
          <p:cNvPr id="21" name="TextBox 20"/>
          <p:cNvSpPr txBox="1"/>
          <p:nvPr/>
        </p:nvSpPr>
        <p:spPr>
          <a:xfrm>
            <a:off x="8232648"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2 days · 16 hours, including 2 hours of assessment</a:t>
            </a:r>
          </a:p>
        </p:txBody>
      </p:sp>
      <p:sp>
        <p:nvSpPr>
          <p:cNvPr id="22" name="Rounded Rectangle 21"/>
          <p:cNvSpPr/>
          <p:nvPr/>
        </p:nvSpPr>
        <p:spPr>
          <a:xfrm>
            <a:off x="685800"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5800" y="4078224"/>
            <a:ext cx="73152" cy="21214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Knowledge</a:t>
            </a:r>
          </a:p>
        </p:txBody>
      </p:sp>
      <p:sp>
        <p:nvSpPr>
          <p:cNvPr id="25" name="TextBox 24"/>
          <p:cNvSpPr txBox="1"/>
          <p:nvPr/>
        </p:nvSpPr>
        <p:spPr>
          <a:xfrm>
            <a:off x="905256"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K1–K5</a:t>
            </a:r>
          </a:p>
        </p:txBody>
      </p:sp>
      <p:sp>
        <p:nvSpPr>
          <p:cNvPr id="26" name="Rounded Rectangle 25"/>
          <p:cNvSpPr/>
          <p:nvPr/>
        </p:nvSpPr>
        <p:spPr>
          <a:xfrm>
            <a:off x="4349496"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49496" y="4078224"/>
            <a:ext cx="73152" cy="212140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68952"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009A78"/>
                </a:solidFill>
                <a:latin typeface="Arial"/>
              </a:rPr>
              <a:t>Abilities</a:t>
            </a:r>
          </a:p>
        </p:txBody>
      </p:sp>
      <p:sp>
        <p:nvSpPr>
          <p:cNvPr id="29" name="TextBox 28"/>
          <p:cNvSpPr txBox="1"/>
          <p:nvPr/>
        </p:nvSpPr>
        <p:spPr>
          <a:xfrm>
            <a:off x="4568952"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A1–A7</a:t>
            </a:r>
          </a:p>
        </p:txBody>
      </p:sp>
      <p:sp>
        <p:nvSpPr>
          <p:cNvPr id="30" name="Rounded Rectangle 29"/>
          <p:cNvSpPr/>
          <p:nvPr/>
        </p:nvSpPr>
        <p:spPr>
          <a:xfrm>
            <a:off x="8013192"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13192" y="4078224"/>
            <a:ext cx="73152" cy="212140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32648"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E98500"/>
                </a:solidFill>
                <a:latin typeface="Arial"/>
              </a:rPr>
              <a:t>Assessment</a:t>
            </a:r>
          </a:p>
        </p:txBody>
      </p:sp>
      <p:sp>
        <p:nvSpPr>
          <p:cNvPr id="33" name="TextBox 32"/>
          <p:cNvSpPr txBox="1"/>
          <p:nvPr/>
        </p:nvSpPr>
        <p:spPr>
          <a:xfrm>
            <a:off x="8232648"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WA 60 min · PP 60 min</a:t>
            </a:r>
          </a:p>
        </p:txBody>
      </p:sp>
    </p:spTree>
  </p:cSld>
  <p:transition spd="med" advClick="1">
    <p:fade/>
  </p:transition>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K1–K5</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Knowledge Criteria</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12</a:t>
            </a:r>
          </a:p>
        </p:txBody>
      </p:sp>
      <p:sp>
        <p:nvSpPr>
          <p:cNvPr id="10" name="Rounded Rectangle 9"/>
          <p:cNvSpPr/>
          <p:nvPr/>
        </p:nvSpPr>
        <p:spPr>
          <a:xfrm>
            <a:off x="685800"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755648"/>
            <a:ext cx="73152" cy="212140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K1</a:t>
            </a:r>
          </a:p>
        </p:txBody>
      </p:sp>
      <p:sp>
        <p:nvSpPr>
          <p:cNvPr id="13" name="TextBox 12"/>
          <p:cNvSpPr txBox="1"/>
          <p:nvPr/>
        </p:nvSpPr>
        <p:spPr>
          <a:xfrm>
            <a:off x="905256"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Elements of typography, logos, visual communication design and information design.</a:t>
            </a:r>
          </a:p>
        </p:txBody>
      </p:sp>
      <p:sp>
        <p:nvSpPr>
          <p:cNvPr id="14" name="Rounded Rectangle 13"/>
          <p:cNvSpPr/>
          <p:nvPr/>
        </p:nvSpPr>
        <p:spPr>
          <a:xfrm>
            <a:off x="4349496"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9496" y="1755648"/>
            <a:ext cx="73152" cy="212140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68952"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K2</a:t>
            </a:r>
          </a:p>
        </p:txBody>
      </p:sp>
      <p:sp>
        <p:nvSpPr>
          <p:cNvPr id="17" name="TextBox 16"/>
          <p:cNvSpPr txBox="1"/>
          <p:nvPr/>
        </p:nvSpPr>
        <p:spPr>
          <a:xfrm>
            <a:off x="4568952"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Best practices for visual communication.</a:t>
            </a:r>
          </a:p>
        </p:txBody>
      </p:sp>
      <p:sp>
        <p:nvSpPr>
          <p:cNvPr id="18" name="Rounded Rectangle 17"/>
          <p:cNvSpPr/>
          <p:nvPr/>
        </p:nvSpPr>
        <p:spPr>
          <a:xfrm>
            <a:off x="8013192"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3192" y="1755648"/>
            <a:ext cx="73152" cy="212140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32648"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K3</a:t>
            </a:r>
          </a:p>
        </p:txBody>
      </p:sp>
      <p:sp>
        <p:nvSpPr>
          <p:cNvPr id="21" name="TextBox 20"/>
          <p:cNvSpPr txBox="1"/>
          <p:nvPr/>
        </p:nvSpPr>
        <p:spPr>
          <a:xfrm>
            <a:off x="8232648"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Uses of relevant visual-design software packages.</a:t>
            </a:r>
          </a:p>
        </p:txBody>
      </p:sp>
      <p:sp>
        <p:nvSpPr>
          <p:cNvPr id="22" name="Rounded Rectangle 21"/>
          <p:cNvSpPr/>
          <p:nvPr/>
        </p:nvSpPr>
        <p:spPr>
          <a:xfrm>
            <a:off x="685800"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5800" y="4078224"/>
            <a:ext cx="73152" cy="21214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K4</a:t>
            </a:r>
          </a:p>
        </p:txBody>
      </p:sp>
      <p:sp>
        <p:nvSpPr>
          <p:cNvPr id="25" name="TextBox 24"/>
          <p:cNvSpPr txBox="1"/>
          <p:nvPr/>
        </p:nvSpPr>
        <p:spPr>
          <a:xfrm>
            <a:off x="905256"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Colour fundamentals and forms.</a:t>
            </a:r>
          </a:p>
        </p:txBody>
      </p:sp>
      <p:sp>
        <p:nvSpPr>
          <p:cNvPr id="26" name="Rounded Rectangle 25"/>
          <p:cNvSpPr/>
          <p:nvPr/>
        </p:nvSpPr>
        <p:spPr>
          <a:xfrm>
            <a:off x="4349496"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49496" y="4078224"/>
            <a:ext cx="73152" cy="212140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68952"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009A78"/>
                </a:solidFill>
                <a:latin typeface="Arial"/>
              </a:rPr>
              <a:t>K5</a:t>
            </a:r>
          </a:p>
        </p:txBody>
      </p:sp>
      <p:sp>
        <p:nvSpPr>
          <p:cNvPr id="29" name="TextBox 28"/>
          <p:cNvSpPr txBox="1"/>
          <p:nvPr/>
        </p:nvSpPr>
        <p:spPr>
          <a:xfrm>
            <a:off x="4568952"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Techniques for analysing aesthetics.</a:t>
            </a:r>
          </a:p>
        </p:txBody>
      </p:sp>
    </p:spTree>
  </p:cSld>
  <p:transition spd="med" advClick="1">
    <p:fade/>
  </p:transition>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A1–A7</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Ability Criteria</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13</a:t>
            </a:r>
          </a:p>
        </p:txBody>
      </p:sp>
      <p:sp>
        <p:nvSpPr>
          <p:cNvPr id="10" name="Rounded Rectangle 9"/>
          <p:cNvSpPr/>
          <p:nvPr/>
        </p:nvSpPr>
        <p:spPr>
          <a:xfrm>
            <a:off x="685800" y="1755648"/>
            <a:ext cx="3462528" cy="1347216"/>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755648"/>
            <a:ext cx="73152" cy="13472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A1</a:t>
            </a:r>
          </a:p>
        </p:txBody>
      </p:sp>
      <p:sp>
        <p:nvSpPr>
          <p:cNvPr id="13" name="TextBox 12"/>
          <p:cNvSpPr txBox="1"/>
          <p:nvPr/>
        </p:nvSpPr>
        <p:spPr>
          <a:xfrm>
            <a:off x="905256" y="2414015"/>
            <a:ext cx="3060192" cy="505968"/>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Initiate visual communication ideas through exploration.</a:t>
            </a:r>
          </a:p>
        </p:txBody>
      </p:sp>
      <p:sp>
        <p:nvSpPr>
          <p:cNvPr id="14" name="Rounded Rectangle 13"/>
          <p:cNvSpPr/>
          <p:nvPr/>
        </p:nvSpPr>
        <p:spPr>
          <a:xfrm>
            <a:off x="4349496" y="1755648"/>
            <a:ext cx="3462528" cy="1347216"/>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9496" y="1755648"/>
            <a:ext cx="73152" cy="13472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68952"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A2</a:t>
            </a:r>
          </a:p>
        </p:txBody>
      </p:sp>
      <p:sp>
        <p:nvSpPr>
          <p:cNvPr id="17" name="TextBox 16"/>
          <p:cNvSpPr txBox="1"/>
          <p:nvPr/>
        </p:nvSpPr>
        <p:spPr>
          <a:xfrm>
            <a:off x="4568952" y="2414015"/>
            <a:ext cx="3060192" cy="505968"/>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Develop outputs by integrating media, materials, processes and environments.</a:t>
            </a:r>
          </a:p>
        </p:txBody>
      </p:sp>
      <p:sp>
        <p:nvSpPr>
          <p:cNvPr id="18" name="Rounded Rectangle 17"/>
          <p:cNvSpPr/>
          <p:nvPr/>
        </p:nvSpPr>
        <p:spPr>
          <a:xfrm>
            <a:off x="8013192" y="1755648"/>
            <a:ext cx="3462528" cy="1347216"/>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3192" y="1755648"/>
            <a:ext cx="73152" cy="13472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32648"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A3</a:t>
            </a:r>
          </a:p>
        </p:txBody>
      </p:sp>
      <p:sp>
        <p:nvSpPr>
          <p:cNvPr id="21" name="TextBox 20"/>
          <p:cNvSpPr txBox="1"/>
          <p:nvPr/>
        </p:nvSpPr>
        <p:spPr>
          <a:xfrm>
            <a:off x="8232648" y="2414015"/>
            <a:ext cx="3060192" cy="505968"/>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Create storyboards and task flows to communicate intentions.</a:t>
            </a:r>
          </a:p>
        </p:txBody>
      </p:sp>
      <p:sp>
        <p:nvSpPr>
          <p:cNvPr id="22" name="Rounded Rectangle 21"/>
          <p:cNvSpPr/>
          <p:nvPr/>
        </p:nvSpPr>
        <p:spPr>
          <a:xfrm>
            <a:off x="685800" y="3304032"/>
            <a:ext cx="3462528" cy="1347216"/>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5800" y="3304032"/>
            <a:ext cx="73152" cy="13472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3505200"/>
            <a:ext cx="3060192"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A4</a:t>
            </a:r>
          </a:p>
        </p:txBody>
      </p:sp>
      <p:sp>
        <p:nvSpPr>
          <p:cNvPr id="25" name="TextBox 24"/>
          <p:cNvSpPr txBox="1"/>
          <p:nvPr/>
        </p:nvSpPr>
        <p:spPr>
          <a:xfrm>
            <a:off x="905256" y="3962399"/>
            <a:ext cx="3060192" cy="505968"/>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Evaluate design work with stakeholders.</a:t>
            </a:r>
          </a:p>
        </p:txBody>
      </p:sp>
      <p:sp>
        <p:nvSpPr>
          <p:cNvPr id="26" name="Rounded Rectangle 25"/>
          <p:cNvSpPr/>
          <p:nvPr/>
        </p:nvSpPr>
        <p:spPr>
          <a:xfrm>
            <a:off x="4349496" y="3304032"/>
            <a:ext cx="3462528" cy="1347216"/>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49496" y="3304032"/>
            <a:ext cx="73152" cy="13472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68952" y="3505200"/>
            <a:ext cx="3060192" cy="384048"/>
          </a:xfrm>
          <a:prstGeom prst="rect">
            <a:avLst/>
          </a:prstGeom>
          <a:noFill/>
        </p:spPr>
        <p:txBody>
          <a:bodyPr wrap="square" anchor="t" lIns="54864" rIns="54864" tIns="54864" bIns="54864">
            <a:spAutoFit/>
          </a:bodyPr>
          <a:lstStyle/>
          <a:p>
            <a:pPr algn="l">
              <a:spcAft>
                <a:spcPts val="0"/>
              </a:spcAft>
            </a:pPr>
            <a:r>
              <a:rPr sz="1500" b="1">
                <a:solidFill>
                  <a:srgbClr val="009A78"/>
                </a:solidFill>
                <a:latin typeface="Arial"/>
              </a:rPr>
              <a:t>A5</a:t>
            </a:r>
          </a:p>
        </p:txBody>
      </p:sp>
      <p:sp>
        <p:nvSpPr>
          <p:cNvPr id="29" name="TextBox 28"/>
          <p:cNvSpPr txBox="1"/>
          <p:nvPr/>
        </p:nvSpPr>
        <p:spPr>
          <a:xfrm>
            <a:off x="4568952" y="3962399"/>
            <a:ext cx="3060192" cy="505968"/>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Propose suggestions to enhance visual formats.</a:t>
            </a:r>
          </a:p>
        </p:txBody>
      </p:sp>
      <p:sp>
        <p:nvSpPr>
          <p:cNvPr id="30" name="Rounded Rectangle 29"/>
          <p:cNvSpPr/>
          <p:nvPr/>
        </p:nvSpPr>
        <p:spPr>
          <a:xfrm>
            <a:off x="8013192" y="3304032"/>
            <a:ext cx="3462528" cy="1347216"/>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13192" y="3304032"/>
            <a:ext cx="73152" cy="1347216"/>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32648" y="3505200"/>
            <a:ext cx="3060192" cy="384048"/>
          </a:xfrm>
          <a:prstGeom prst="rect">
            <a:avLst/>
          </a:prstGeom>
          <a:noFill/>
        </p:spPr>
        <p:txBody>
          <a:bodyPr wrap="square" anchor="t" lIns="54864" rIns="54864" tIns="54864" bIns="54864">
            <a:spAutoFit/>
          </a:bodyPr>
          <a:lstStyle/>
          <a:p>
            <a:pPr algn="l">
              <a:spcAft>
                <a:spcPts val="0"/>
              </a:spcAft>
            </a:pPr>
            <a:r>
              <a:rPr sz="1500" b="1">
                <a:solidFill>
                  <a:srgbClr val="E98500"/>
                </a:solidFill>
                <a:latin typeface="Arial"/>
              </a:rPr>
              <a:t>A6</a:t>
            </a:r>
          </a:p>
        </p:txBody>
      </p:sp>
      <p:sp>
        <p:nvSpPr>
          <p:cNvPr id="33" name="TextBox 32"/>
          <p:cNvSpPr txBox="1"/>
          <p:nvPr/>
        </p:nvSpPr>
        <p:spPr>
          <a:xfrm>
            <a:off x="8232648" y="3962399"/>
            <a:ext cx="3060192" cy="505968"/>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Critique own and others' work using explicit criteria.</a:t>
            </a:r>
          </a:p>
        </p:txBody>
      </p:sp>
      <p:sp>
        <p:nvSpPr>
          <p:cNvPr id="34" name="Rounded Rectangle 33"/>
          <p:cNvSpPr/>
          <p:nvPr/>
        </p:nvSpPr>
        <p:spPr>
          <a:xfrm>
            <a:off x="685800" y="4852416"/>
            <a:ext cx="3462528" cy="1347216"/>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85800" y="4852416"/>
            <a:ext cx="73152" cy="13472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5256" y="5053584"/>
            <a:ext cx="3060192"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A7</a:t>
            </a:r>
          </a:p>
        </p:txBody>
      </p:sp>
      <p:sp>
        <p:nvSpPr>
          <p:cNvPr id="37" name="TextBox 36"/>
          <p:cNvSpPr txBox="1"/>
          <p:nvPr/>
        </p:nvSpPr>
        <p:spPr>
          <a:xfrm>
            <a:off x="905256" y="5510784"/>
            <a:ext cx="3060192" cy="505968"/>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Develop strategies that strengthen the appeal of visual outputs.</a:t>
            </a:r>
          </a:p>
        </p:txBody>
      </p:sp>
    </p:spTree>
  </p:cSld>
  <p:transition spd="med" advClick="1">
    <p:fade/>
  </p:transition>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WHAT YOU WILL BE ABLE TO DO</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Learning Outcomes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14</a:t>
            </a:r>
          </a:p>
        </p:txBody>
      </p:sp>
      <p:sp>
        <p:nvSpPr>
          <p:cNvPr id="10" name="Rounded Rectangle 9"/>
          <p:cNvSpPr/>
          <p:nvPr/>
        </p:nvSpPr>
        <p:spPr>
          <a:xfrm>
            <a:off x="685800" y="1755648"/>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755648"/>
            <a:ext cx="73152" cy="212140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1956816"/>
            <a:ext cx="4892040"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LO1</a:t>
            </a:r>
          </a:p>
        </p:txBody>
      </p:sp>
      <p:sp>
        <p:nvSpPr>
          <p:cNvPr id="13" name="TextBox 12"/>
          <p:cNvSpPr txBox="1"/>
          <p:nvPr/>
        </p:nvSpPr>
        <p:spPr>
          <a:xfrm>
            <a:off x="905256" y="2414015"/>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Initiate visual communication through generative AI in Photoshop and Firefly.</a:t>
            </a:r>
          </a:p>
        </p:txBody>
      </p:sp>
      <p:sp>
        <p:nvSpPr>
          <p:cNvPr id="14" name="Rounded Rectangle 13"/>
          <p:cNvSpPr/>
          <p:nvPr/>
        </p:nvSpPr>
        <p:spPr>
          <a:xfrm>
            <a:off x="6181344" y="1755648"/>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81344" y="1755648"/>
            <a:ext cx="73152" cy="212140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1956816"/>
            <a:ext cx="4892040"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LO2</a:t>
            </a:r>
          </a:p>
        </p:txBody>
      </p:sp>
      <p:sp>
        <p:nvSpPr>
          <p:cNvPr id="17" name="TextBox 16"/>
          <p:cNvSpPr txBox="1"/>
          <p:nvPr/>
        </p:nvSpPr>
        <p:spPr>
          <a:xfrm>
            <a:off x="6400800" y="2414015"/>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Create storyboards in Firefly for visual narratives and task flows.</a:t>
            </a:r>
          </a:p>
        </p:txBody>
      </p:sp>
      <p:sp>
        <p:nvSpPr>
          <p:cNvPr id="18" name="Rounded Rectangle 17"/>
          <p:cNvSpPr/>
          <p:nvPr/>
        </p:nvSpPr>
        <p:spPr>
          <a:xfrm>
            <a:off x="685800" y="4078224"/>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4078224"/>
            <a:ext cx="73152" cy="212140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4279392"/>
            <a:ext cx="4892040"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LO3</a:t>
            </a:r>
          </a:p>
        </p:txBody>
      </p:sp>
      <p:sp>
        <p:nvSpPr>
          <p:cNvPr id="21" name="TextBox 20"/>
          <p:cNvSpPr txBox="1"/>
          <p:nvPr/>
        </p:nvSpPr>
        <p:spPr>
          <a:xfrm>
            <a:off x="905256" y="4736592"/>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Propose enhancements through aesthetic analysis and advanced critique in Photoshop.</a:t>
            </a:r>
          </a:p>
        </p:txBody>
      </p:sp>
      <p:sp>
        <p:nvSpPr>
          <p:cNvPr id="22" name="Rounded Rectangle 21"/>
          <p:cNvSpPr/>
          <p:nvPr/>
        </p:nvSpPr>
        <p:spPr>
          <a:xfrm>
            <a:off x="6181344" y="4078224"/>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81344" y="4078224"/>
            <a:ext cx="73152" cy="21214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4279392"/>
            <a:ext cx="4892040"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LO4</a:t>
            </a:r>
          </a:p>
        </p:txBody>
      </p:sp>
      <p:sp>
        <p:nvSpPr>
          <p:cNvPr id="25" name="TextBox 24"/>
          <p:cNvSpPr txBox="1"/>
          <p:nvPr/>
        </p:nvSpPr>
        <p:spPr>
          <a:xfrm>
            <a:off x="6400800" y="4736592"/>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Formulate generative-AI colour strategies in Photoshop.</a:t>
            </a:r>
          </a:p>
        </p:txBody>
      </p:sp>
    </p:spTree>
  </p:cSld>
  <p:transition spd="med" advClick="1">
    <p:fade/>
  </p:transition>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FOUR CONNECTED TOPICS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Course Outline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15</a:t>
            </a:r>
          </a:p>
        </p:txBody>
      </p:sp>
      <p:sp>
        <p:nvSpPr>
          <p:cNvPr id="10" name="Rounded Rectangle 9"/>
          <p:cNvSpPr/>
          <p:nvPr/>
        </p:nvSpPr>
        <p:spPr>
          <a:xfrm>
            <a:off x="685800" y="1755648"/>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755648"/>
            <a:ext cx="73152" cy="212140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1956816"/>
            <a:ext cx="4892040"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Topic 1</a:t>
            </a:r>
          </a:p>
        </p:txBody>
      </p:sp>
      <p:sp>
        <p:nvSpPr>
          <p:cNvPr id="13" name="TextBox 12"/>
          <p:cNvSpPr txBox="1"/>
          <p:nvPr/>
        </p:nvSpPr>
        <p:spPr>
          <a:xfrm>
            <a:off x="905256" y="2414015"/>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GenAI for Visual Communication
Turn an audience need into an intentional, rights-aware visual direction.
LO1 · K1 · K2 · A1 · A2</a:t>
            </a:r>
          </a:p>
        </p:txBody>
      </p:sp>
      <p:sp>
        <p:nvSpPr>
          <p:cNvPr id="14" name="Rounded Rectangle 13"/>
          <p:cNvSpPr/>
          <p:nvPr/>
        </p:nvSpPr>
        <p:spPr>
          <a:xfrm>
            <a:off x="6181344" y="1755648"/>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81344" y="1755648"/>
            <a:ext cx="73152" cy="212140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1956816"/>
            <a:ext cx="4892040"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Topic 2</a:t>
            </a:r>
          </a:p>
        </p:txBody>
      </p:sp>
      <p:sp>
        <p:nvSpPr>
          <p:cNvPr id="17" name="TextBox 16"/>
          <p:cNvSpPr txBox="1"/>
          <p:nvPr/>
        </p:nvSpPr>
        <p:spPr>
          <a:xfrm>
            <a:off x="6400800" y="2414015"/>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Firefly Storyboards and Reference Control
Control composition and style, then organise variations into a communicable flow.
LO2 · K3 · A3</a:t>
            </a:r>
          </a:p>
        </p:txBody>
      </p:sp>
      <p:sp>
        <p:nvSpPr>
          <p:cNvPr id="18" name="Rounded Rectangle 17"/>
          <p:cNvSpPr/>
          <p:nvPr/>
        </p:nvSpPr>
        <p:spPr>
          <a:xfrm>
            <a:off x="685800" y="4078224"/>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4078224"/>
            <a:ext cx="73152" cy="212140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4279392"/>
            <a:ext cx="4892040"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Topic 3</a:t>
            </a:r>
          </a:p>
        </p:txBody>
      </p:sp>
      <p:sp>
        <p:nvSpPr>
          <p:cNvPr id="21" name="TextBox 20"/>
          <p:cNvSpPr txBox="1"/>
          <p:nvPr/>
        </p:nvSpPr>
        <p:spPr>
          <a:xfrm>
            <a:off x="905256" y="4736592"/>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Photoshop Generative Editing and Critique
Use selections and generative features to build, evaluate and improve editable composites.
LO3 · K3 · K5 · A4 · A5 · A6</a:t>
            </a:r>
          </a:p>
        </p:txBody>
      </p:sp>
      <p:sp>
        <p:nvSpPr>
          <p:cNvPr id="22" name="Rounded Rectangle 21"/>
          <p:cNvSpPr/>
          <p:nvPr/>
        </p:nvSpPr>
        <p:spPr>
          <a:xfrm>
            <a:off x="6181344" y="4078224"/>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81344" y="4078224"/>
            <a:ext cx="73152" cy="21214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4279392"/>
            <a:ext cx="4892040"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Topic 4</a:t>
            </a:r>
          </a:p>
        </p:txBody>
      </p:sp>
      <p:sp>
        <p:nvSpPr>
          <p:cNvPr id="25" name="TextBox 24"/>
          <p:cNvSpPr txBox="1"/>
          <p:nvPr/>
        </p:nvSpPr>
        <p:spPr>
          <a:xfrm>
            <a:off x="6400800" y="4736592"/>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Colour Strategy, Enhancement and Delivery
Build a coherent palette, preserve editability and verify the delivered visual.
LO4 · K4 · K5 · A7</a:t>
            </a:r>
          </a:p>
        </p:txBody>
      </p:sp>
    </p:spTree>
  </p:cSld>
  <p:transition spd="med" advClick="1">
    <p:fade/>
  </p:transition>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C92828"/>
                </a:solidFill>
                <a:latin typeface="Arial"/>
              </a:rPr>
              <a:t>BEFORE THE PAPERS BEGIN</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Assessment Briefing</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16</a:t>
            </a:r>
          </a:p>
        </p:txBody>
      </p:sp>
      <p:sp>
        <p:nvSpPr>
          <p:cNvPr id="10" name="Rounded Rectangle 9"/>
          <p:cNvSpPr/>
          <p:nvPr/>
        </p:nvSpPr>
        <p:spPr>
          <a:xfrm>
            <a:off x="685800"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755648"/>
            <a:ext cx="73152" cy="212140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Individual work</a:t>
            </a:r>
          </a:p>
        </p:txBody>
      </p:sp>
      <p:sp>
        <p:nvSpPr>
          <p:cNvPr id="13" name="TextBox 12"/>
          <p:cNvSpPr txBox="1"/>
          <p:nvPr/>
        </p:nvSpPr>
        <p:spPr>
          <a:xfrm>
            <a:off x="905256"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No discussion, photography or recording of assessment scripts.</a:t>
            </a:r>
          </a:p>
        </p:txBody>
      </p:sp>
      <p:sp>
        <p:nvSpPr>
          <p:cNvPr id="14" name="Rounded Rectangle 13"/>
          <p:cNvSpPr/>
          <p:nvPr/>
        </p:nvSpPr>
        <p:spPr>
          <a:xfrm>
            <a:off x="4349496"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9496" y="1755648"/>
            <a:ext cx="73152" cy="212140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68952"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Approved references</a:t>
            </a:r>
          </a:p>
        </p:txBody>
      </p:sp>
      <p:sp>
        <p:nvSpPr>
          <p:cNvPr id="17" name="TextBox 16"/>
          <p:cNvSpPr txBox="1"/>
          <p:nvPr/>
        </p:nvSpPr>
        <p:spPr>
          <a:xfrm>
            <a:off x="4568952"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Use course materials allowed by the assessor.</a:t>
            </a:r>
          </a:p>
        </p:txBody>
      </p:sp>
      <p:sp>
        <p:nvSpPr>
          <p:cNvPr id="18" name="Rounded Rectangle 17"/>
          <p:cNvSpPr/>
          <p:nvPr/>
        </p:nvSpPr>
        <p:spPr>
          <a:xfrm>
            <a:off x="8013192"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3192" y="1755648"/>
            <a:ext cx="73152" cy="212140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32648"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Phones/materials</a:t>
            </a:r>
          </a:p>
        </p:txBody>
      </p:sp>
      <p:sp>
        <p:nvSpPr>
          <p:cNvPr id="21" name="TextBox 20"/>
          <p:cNvSpPr txBox="1"/>
          <p:nvPr/>
        </p:nvSpPr>
        <p:spPr>
          <a:xfrm>
            <a:off x="8232648"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Place unapproved items under the table or as directed.</a:t>
            </a:r>
          </a:p>
        </p:txBody>
      </p:sp>
      <p:sp>
        <p:nvSpPr>
          <p:cNvPr id="22" name="Rounded Rectangle 21"/>
          <p:cNvSpPr/>
          <p:nvPr/>
        </p:nvSpPr>
        <p:spPr>
          <a:xfrm>
            <a:off x="685800"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5800" y="4078224"/>
            <a:ext cx="73152" cy="21214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Writing</a:t>
            </a:r>
          </a:p>
        </p:txBody>
      </p:sp>
      <p:sp>
        <p:nvSpPr>
          <p:cNvPr id="25" name="TextBox 24"/>
          <p:cNvSpPr txBox="1"/>
          <p:nvPr/>
        </p:nvSpPr>
        <p:spPr>
          <a:xfrm>
            <a:off x="905256"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Use black/blue pen for hard copy; no correction fluid or tape.</a:t>
            </a:r>
          </a:p>
        </p:txBody>
      </p:sp>
      <p:sp>
        <p:nvSpPr>
          <p:cNvPr id="26" name="Rounded Rectangle 25"/>
          <p:cNvSpPr/>
          <p:nvPr/>
        </p:nvSpPr>
        <p:spPr>
          <a:xfrm>
            <a:off x="4349496"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49496" y="4078224"/>
            <a:ext cx="73152" cy="212140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68952"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009A78"/>
                </a:solidFill>
                <a:latin typeface="Arial"/>
              </a:rPr>
              <a:t>Time</a:t>
            </a:r>
          </a:p>
        </p:txBody>
      </p:sp>
      <p:sp>
        <p:nvSpPr>
          <p:cNvPr id="29" name="TextBox 28"/>
          <p:cNvSpPr txBox="1"/>
          <p:nvPr/>
        </p:nvSpPr>
        <p:spPr>
          <a:xfrm>
            <a:off x="4568952"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WA 60 minutes; PP 60 minutes; submit when time is called.</a:t>
            </a:r>
          </a:p>
        </p:txBody>
      </p:sp>
      <p:sp>
        <p:nvSpPr>
          <p:cNvPr id="30" name="Rounded Rectangle 29"/>
          <p:cNvSpPr/>
          <p:nvPr/>
        </p:nvSpPr>
        <p:spPr>
          <a:xfrm>
            <a:off x="8013192"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13192" y="4078224"/>
            <a:ext cx="73152" cy="212140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32648"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E98500"/>
                </a:solidFill>
                <a:latin typeface="Arial"/>
              </a:rPr>
              <a:t>Outcome</a:t>
            </a:r>
          </a:p>
        </p:txBody>
      </p:sp>
      <p:sp>
        <p:nvSpPr>
          <p:cNvPr id="33" name="TextBox 32"/>
          <p:cNvSpPr txBox="1"/>
          <p:nvPr/>
        </p:nvSpPr>
        <p:spPr>
          <a:xfrm>
            <a:off x="8232648"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Competent or Not Yet Competent, with reassessment and appeal rights explained.</a:t>
            </a:r>
          </a:p>
        </p:txBody>
      </p:sp>
    </p:spTree>
  </p:cSld>
  <p:transition spd="med" advClick="1">
    <p:fade/>
  </p:transition>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SUMMATIVE EVIDENCE</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Assessment Design</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17</a:t>
            </a:r>
          </a:p>
        </p:txBody>
      </p:sp>
      <p:sp>
        <p:nvSpPr>
          <p:cNvPr id="10" name="Rounded Rectangle 9"/>
          <p:cNvSpPr/>
          <p:nvPr/>
        </p:nvSpPr>
        <p:spPr>
          <a:xfrm>
            <a:off x="685800" y="1874519"/>
            <a:ext cx="1997049" cy="228600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50392" y="2039112"/>
            <a:ext cx="548640" cy="548640"/>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2167127"/>
            <a:ext cx="548640" cy="219456"/>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1</a:t>
            </a:r>
          </a:p>
        </p:txBody>
      </p:sp>
      <p:sp>
        <p:nvSpPr>
          <p:cNvPr id="13" name="TextBox 12"/>
          <p:cNvSpPr txBox="1"/>
          <p:nvPr/>
        </p:nvSpPr>
        <p:spPr>
          <a:xfrm>
            <a:off x="850392" y="2816352"/>
            <a:ext cx="1667865" cy="594360"/>
          </a:xfrm>
          <a:prstGeom prst="rect">
            <a:avLst/>
          </a:prstGeom>
          <a:noFill/>
        </p:spPr>
        <p:txBody>
          <a:bodyPr wrap="square" anchor="t" lIns="54864" rIns="54864" tIns="54864" bIns="54864">
            <a:spAutoFit/>
          </a:bodyPr>
          <a:lstStyle/>
          <a:p>
            <a:pPr algn="ctr">
              <a:spcAft>
                <a:spcPts val="0"/>
              </a:spcAft>
            </a:pPr>
            <a:r>
              <a:rPr sz="1500" b="1">
                <a:solidFill>
                  <a:srgbClr val="161920"/>
                </a:solidFill>
                <a:latin typeface="Arial"/>
              </a:rPr>
              <a:t>WA · K1–K5</a:t>
            </a:r>
          </a:p>
        </p:txBody>
      </p:sp>
      <p:sp>
        <p:nvSpPr>
          <p:cNvPr id="14" name="Chevron 13"/>
          <p:cNvSpPr/>
          <p:nvPr/>
        </p:nvSpPr>
        <p:spPr>
          <a:xfrm>
            <a:off x="2714853" y="2816352"/>
            <a:ext cx="137160" cy="457200"/>
          </a:xfrm>
          <a:prstGeom prst="chevron">
            <a:avLst/>
          </a:prstGeom>
          <a:solidFill>
            <a:srgbClr val="E11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884017" y="1874519"/>
            <a:ext cx="1997049" cy="228600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048609" y="2039112"/>
            <a:ext cx="548640" cy="548640"/>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48609" y="2167127"/>
            <a:ext cx="548640" cy="219456"/>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2</a:t>
            </a:r>
          </a:p>
        </p:txBody>
      </p:sp>
      <p:sp>
        <p:nvSpPr>
          <p:cNvPr id="18" name="TextBox 17"/>
          <p:cNvSpPr txBox="1"/>
          <p:nvPr/>
        </p:nvSpPr>
        <p:spPr>
          <a:xfrm>
            <a:off x="3048609" y="2816352"/>
            <a:ext cx="1667865" cy="594360"/>
          </a:xfrm>
          <a:prstGeom prst="rect">
            <a:avLst/>
          </a:prstGeom>
          <a:noFill/>
        </p:spPr>
        <p:txBody>
          <a:bodyPr wrap="square" anchor="t" lIns="54864" rIns="54864" tIns="54864" bIns="54864">
            <a:spAutoFit/>
          </a:bodyPr>
          <a:lstStyle/>
          <a:p>
            <a:pPr algn="ctr">
              <a:spcAft>
                <a:spcPts val="0"/>
              </a:spcAft>
            </a:pPr>
            <a:r>
              <a:rPr sz="1500" b="1">
                <a:solidFill>
                  <a:srgbClr val="161920"/>
                </a:solidFill>
                <a:latin typeface="Arial"/>
              </a:rPr>
              <a:t>PP · A1/A2</a:t>
            </a:r>
          </a:p>
        </p:txBody>
      </p:sp>
      <p:sp>
        <p:nvSpPr>
          <p:cNvPr id="19" name="Chevron 18"/>
          <p:cNvSpPr/>
          <p:nvPr/>
        </p:nvSpPr>
        <p:spPr>
          <a:xfrm>
            <a:off x="4913071" y="2816352"/>
            <a:ext cx="137160" cy="457200"/>
          </a:xfrm>
          <a:prstGeom prst="chevron">
            <a:avLst/>
          </a:prstGeom>
          <a:solidFill>
            <a:srgbClr val="E11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82235" y="1874519"/>
            <a:ext cx="1997049" cy="228600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46827" y="2039112"/>
            <a:ext cx="548640" cy="548640"/>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6827" y="2167127"/>
            <a:ext cx="548640" cy="219456"/>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3</a:t>
            </a:r>
          </a:p>
        </p:txBody>
      </p:sp>
      <p:sp>
        <p:nvSpPr>
          <p:cNvPr id="23" name="TextBox 22"/>
          <p:cNvSpPr txBox="1"/>
          <p:nvPr/>
        </p:nvSpPr>
        <p:spPr>
          <a:xfrm>
            <a:off x="5246827" y="2816352"/>
            <a:ext cx="1667865" cy="594360"/>
          </a:xfrm>
          <a:prstGeom prst="rect">
            <a:avLst/>
          </a:prstGeom>
          <a:noFill/>
        </p:spPr>
        <p:txBody>
          <a:bodyPr wrap="square" anchor="t" lIns="54864" rIns="54864" tIns="54864" bIns="54864">
            <a:spAutoFit/>
          </a:bodyPr>
          <a:lstStyle/>
          <a:p>
            <a:pPr algn="ctr">
              <a:spcAft>
                <a:spcPts val="0"/>
              </a:spcAft>
            </a:pPr>
            <a:r>
              <a:rPr sz="1500" b="1">
                <a:solidFill>
                  <a:srgbClr val="161920"/>
                </a:solidFill>
                <a:latin typeface="Arial"/>
              </a:rPr>
              <a:t>PP · A3/A4</a:t>
            </a:r>
          </a:p>
        </p:txBody>
      </p:sp>
      <p:sp>
        <p:nvSpPr>
          <p:cNvPr id="24" name="Chevron 23"/>
          <p:cNvSpPr/>
          <p:nvPr/>
        </p:nvSpPr>
        <p:spPr>
          <a:xfrm>
            <a:off x="7111288" y="2816352"/>
            <a:ext cx="137160" cy="457200"/>
          </a:xfrm>
          <a:prstGeom prst="chevron">
            <a:avLst/>
          </a:prstGeom>
          <a:solidFill>
            <a:srgbClr val="E11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80452" y="1874519"/>
            <a:ext cx="1997049" cy="228600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445044" y="2039112"/>
            <a:ext cx="548640" cy="54864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45044" y="2167127"/>
            <a:ext cx="548640" cy="219456"/>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4</a:t>
            </a:r>
          </a:p>
        </p:txBody>
      </p:sp>
      <p:sp>
        <p:nvSpPr>
          <p:cNvPr id="28" name="TextBox 27"/>
          <p:cNvSpPr txBox="1"/>
          <p:nvPr/>
        </p:nvSpPr>
        <p:spPr>
          <a:xfrm>
            <a:off x="7445044" y="2816352"/>
            <a:ext cx="1667865" cy="594360"/>
          </a:xfrm>
          <a:prstGeom prst="rect">
            <a:avLst/>
          </a:prstGeom>
          <a:noFill/>
        </p:spPr>
        <p:txBody>
          <a:bodyPr wrap="square" anchor="t" lIns="54864" rIns="54864" tIns="54864" bIns="54864">
            <a:spAutoFit/>
          </a:bodyPr>
          <a:lstStyle/>
          <a:p>
            <a:pPr algn="ctr">
              <a:spcAft>
                <a:spcPts val="0"/>
              </a:spcAft>
            </a:pPr>
            <a:r>
              <a:rPr sz="1500" b="1">
                <a:solidFill>
                  <a:srgbClr val="161920"/>
                </a:solidFill>
                <a:latin typeface="Arial"/>
              </a:rPr>
              <a:t>PP · A5/A6</a:t>
            </a:r>
          </a:p>
        </p:txBody>
      </p:sp>
      <p:sp>
        <p:nvSpPr>
          <p:cNvPr id="29" name="Chevron 28"/>
          <p:cNvSpPr/>
          <p:nvPr/>
        </p:nvSpPr>
        <p:spPr>
          <a:xfrm>
            <a:off x="9309506" y="2816352"/>
            <a:ext cx="137160" cy="457200"/>
          </a:xfrm>
          <a:prstGeom prst="chevron">
            <a:avLst/>
          </a:prstGeom>
          <a:solidFill>
            <a:srgbClr val="E11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478670" y="1874519"/>
            <a:ext cx="1997049" cy="228600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643262" y="2039112"/>
            <a:ext cx="548640" cy="548640"/>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43262" y="2167127"/>
            <a:ext cx="548640" cy="219456"/>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5</a:t>
            </a:r>
          </a:p>
        </p:txBody>
      </p:sp>
      <p:sp>
        <p:nvSpPr>
          <p:cNvPr id="33" name="TextBox 32"/>
          <p:cNvSpPr txBox="1"/>
          <p:nvPr/>
        </p:nvSpPr>
        <p:spPr>
          <a:xfrm>
            <a:off x="9643262" y="2816352"/>
            <a:ext cx="1667865" cy="594360"/>
          </a:xfrm>
          <a:prstGeom prst="rect">
            <a:avLst/>
          </a:prstGeom>
          <a:noFill/>
        </p:spPr>
        <p:txBody>
          <a:bodyPr wrap="square" anchor="t" lIns="54864" rIns="54864" tIns="54864" bIns="54864">
            <a:spAutoFit/>
          </a:bodyPr>
          <a:lstStyle/>
          <a:p>
            <a:pPr algn="ctr">
              <a:spcAft>
                <a:spcPts val="0"/>
              </a:spcAft>
            </a:pPr>
            <a:r>
              <a:rPr sz="1500" b="1">
                <a:solidFill>
                  <a:srgbClr val="161920"/>
                </a:solidFill>
                <a:latin typeface="Arial"/>
              </a:rPr>
              <a:t>PP · A7</a:t>
            </a:r>
          </a:p>
        </p:txBody>
      </p:sp>
      <p:sp>
        <p:nvSpPr>
          <p:cNvPr id="34" name="Rounded Rectangle 33"/>
          <p:cNvSpPr/>
          <p:nvPr/>
        </p:nvSpPr>
        <p:spPr>
          <a:xfrm>
            <a:off x="685800" y="4617720"/>
            <a:ext cx="10789920" cy="1133856"/>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14400" y="4846320"/>
            <a:ext cx="1508760" cy="228600"/>
          </a:xfrm>
          <a:prstGeom prst="rect">
            <a:avLst/>
          </a:prstGeom>
          <a:noFill/>
        </p:spPr>
        <p:txBody>
          <a:bodyPr wrap="square" anchor="t" lIns="54864" rIns="54864" tIns="54864" bIns="54864">
            <a:spAutoFit/>
          </a:bodyPr>
          <a:lstStyle/>
          <a:p>
            <a:pPr algn="l">
              <a:spcAft>
                <a:spcPts val="0"/>
              </a:spcAft>
            </a:pPr>
            <a:r>
              <a:rPr sz="1100" b="1">
                <a:solidFill>
                  <a:srgbClr val="FFFFFF"/>
                </a:solidFill>
                <a:latin typeface="Arial"/>
              </a:rPr>
              <a:t>OUTCOME</a:t>
            </a:r>
          </a:p>
        </p:txBody>
      </p:sp>
      <p:sp>
        <p:nvSpPr>
          <p:cNvPr id="36" name="TextBox 35"/>
          <p:cNvSpPr txBox="1"/>
          <p:nvPr/>
        </p:nvSpPr>
        <p:spPr>
          <a:xfrm>
            <a:off x="2240280" y="4773168"/>
            <a:ext cx="8915400" cy="621792"/>
          </a:xfrm>
          <a:prstGeom prst="rect">
            <a:avLst/>
          </a:prstGeom>
          <a:noFill/>
        </p:spPr>
        <p:txBody>
          <a:bodyPr wrap="square" anchor="t" lIns="54864" rIns="54864" tIns="54864" bIns="54864">
            <a:spAutoFit/>
          </a:bodyPr>
          <a:lstStyle/>
          <a:p>
            <a:pPr algn="l">
              <a:spcAft>
                <a:spcPts val="0"/>
              </a:spcAft>
            </a:pPr>
            <a:r>
              <a:rPr sz="1600" b="1">
                <a:solidFill>
                  <a:srgbClr val="FFFFFF"/>
                </a:solidFill>
                <a:latin typeface="Arial"/>
              </a:rPr>
              <a:t>Five written questions and four connected practical tasks; each instrument is 60 minutes and open book.</a:t>
            </a:r>
          </a:p>
        </p:txBody>
      </p:sp>
    </p:spTree>
  </p:cSld>
  <p:transition spd="med" advClick="1">
    <p:fade/>
  </p:transition>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K2 · K3</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Tools, Materials and Workspace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18</a:t>
            </a:r>
          </a:p>
        </p:txBody>
      </p:sp>
      <p:sp>
        <p:nvSpPr>
          <p:cNvPr id="10" name="Rounded Rectangle 9"/>
          <p:cNvSpPr/>
          <p:nvPr/>
        </p:nvSpPr>
        <p:spPr>
          <a:xfrm>
            <a:off x="685800"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755648"/>
            <a:ext cx="73152" cy="212140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Hardware</a:t>
            </a:r>
          </a:p>
        </p:txBody>
      </p:sp>
      <p:sp>
        <p:nvSpPr>
          <p:cNvPr id="13" name="TextBox 12"/>
          <p:cNvSpPr txBox="1"/>
          <p:nvPr/>
        </p:nvSpPr>
        <p:spPr>
          <a:xfrm>
            <a:off x="905256"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Laptop, suitable display, mouse/tablet and reliable storage.</a:t>
            </a:r>
          </a:p>
        </p:txBody>
      </p:sp>
      <p:sp>
        <p:nvSpPr>
          <p:cNvPr id="14" name="Rounded Rectangle 13"/>
          <p:cNvSpPr/>
          <p:nvPr/>
        </p:nvSpPr>
        <p:spPr>
          <a:xfrm>
            <a:off x="4349496"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9496" y="1755648"/>
            <a:ext cx="73152" cy="212140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68952"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Software</a:t>
            </a:r>
          </a:p>
        </p:txBody>
      </p:sp>
      <p:sp>
        <p:nvSpPr>
          <p:cNvPr id="17" name="TextBox 16"/>
          <p:cNvSpPr txBox="1"/>
          <p:nvPr/>
        </p:nvSpPr>
        <p:spPr>
          <a:xfrm>
            <a:off x="4568952"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Current supported Photoshop desktop release and Adobe Firefly access.</a:t>
            </a:r>
          </a:p>
        </p:txBody>
      </p:sp>
      <p:sp>
        <p:nvSpPr>
          <p:cNvPr id="18" name="Rounded Rectangle 17"/>
          <p:cNvSpPr/>
          <p:nvPr/>
        </p:nvSpPr>
        <p:spPr>
          <a:xfrm>
            <a:off x="8013192"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3192" y="1755648"/>
            <a:ext cx="73152" cy="212140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32648"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Workspace</a:t>
            </a:r>
          </a:p>
        </p:txBody>
      </p:sp>
      <p:sp>
        <p:nvSpPr>
          <p:cNvPr id="21" name="TextBox 20"/>
          <p:cNvSpPr txBox="1"/>
          <p:nvPr/>
        </p:nvSpPr>
        <p:spPr>
          <a:xfrm>
            <a:off x="8232648"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Panels arranged for task focus and sufficient scratch disk.</a:t>
            </a:r>
          </a:p>
        </p:txBody>
      </p:sp>
      <p:sp>
        <p:nvSpPr>
          <p:cNvPr id="22" name="Rounded Rectangle 21"/>
          <p:cNvSpPr/>
          <p:nvPr/>
        </p:nvSpPr>
        <p:spPr>
          <a:xfrm>
            <a:off x="685800"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5800" y="4078224"/>
            <a:ext cx="73152" cy="21214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Sources</a:t>
            </a:r>
          </a:p>
        </p:txBody>
      </p:sp>
      <p:sp>
        <p:nvSpPr>
          <p:cNvPr id="25" name="TextBox 24"/>
          <p:cNvSpPr txBox="1"/>
          <p:nvPr/>
        </p:nvSpPr>
        <p:spPr>
          <a:xfrm>
            <a:off x="905256"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Supplied rights-aware PSD/JPEG assets and approved references.</a:t>
            </a:r>
          </a:p>
        </p:txBody>
      </p:sp>
      <p:sp>
        <p:nvSpPr>
          <p:cNvPr id="26" name="Rounded Rectangle 25"/>
          <p:cNvSpPr/>
          <p:nvPr/>
        </p:nvSpPr>
        <p:spPr>
          <a:xfrm>
            <a:off x="4349496"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49496" y="4078224"/>
            <a:ext cx="73152" cy="212140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68952"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009A78"/>
                </a:solidFill>
                <a:latin typeface="Arial"/>
              </a:rPr>
              <a:t>Output brief</a:t>
            </a:r>
          </a:p>
        </p:txBody>
      </p:sp>
      <p:sp>
        <p:nvSpPr>
          <p:cNvPr id="29" name="TextBox 28"/>
          <p:cNvSpPr txBox="1"/>
          <p:nvPr/>
        </p:nvSpPr>
        <p:spPr>
          <a:xfrm>
            <a:off x="4568952"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Audience, channel, pixel size, colour space and copy-safe areas.</a:t>
            </a:r>
          </a:p>
        </p:txBody>
      </p:sp>
      <p:sp>
        <p:nvSpPr>
          <p:cNvPr id="30" name="Rounded Rectangle 29"/>
          <p:cNvSpPr/>
          <p:nvPr/>
        </p:nvSpPr>
        <p:spPr>
          <a:xfrm>
            <a:off x="8013192"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13192" y="4078224"/>
            <a:ext cx="73152" cy="212140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32648"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E98500"/>
                </a:solidFill>
                <a:latin typeface="Arial"/>
              </a:rPr>
              <a:t>Safety</a:t>
            </a:r>
          </a:p>
        </p:txBody>
      </p:sp>
      <p:sp>
        <p:nvSpPr>
          <p:cNvPr id="33" name="TextBox 32"/>
          <p:cNvSpPr txBox="1"/>
          <p:nvPr/>
        </p:nvSpPr>
        <p:spPr>
          <a:xfrm>
            <a:off x="8232648"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Backups, reversible editing and verified exports.</a:t>
            </a:r>
          </a:p>
        </p:txBody>
      </p:sp>
    </p:spTree>
  </p:cSld>
  <p:transition spd="med" advClick="1">
    <p:fade/>
  </p:transition>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TOOL CONTEXT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Adobe Tool Scope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19</a:t>
            </a:r>
          </a:p>
        </p:txBody>
      </p:sp>
      <p:sp>
        <p:nvSpPr>
          <p:cNvPr id="10" name="Rounded Rectangle 9"/>
          <p:cNvSpPr/>
          <p:nvPr/>
        </p:nvSpPr>
        <p:spPr>
          <a:xfrm>
            <a:off x="685800"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755648"/>
            <a:ext cx="73152" cy="212140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Firefly</a:t>
            </a:r>
          </a:p>
        </p:txBody>
      </p:sp>
      <p:sp>
        <p:nvSpPr>
          <p:cNvPr id="13" name="TextBox 12"/>
          <p:cNvSpPr txBox="1"/>
          <p:nvPr/>
        </p:nvSpPr>
        <p:spPr>
          <a:xfrm>
            <a:off x="905256"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Prompt-led image exploration, reference controls and storyboard ideation.</a:t>
            </a:r>
          </a:p>
        </p:txBody>
      </p:sp>
      <p:sp>
        <p:nvSpPr>
          <p:cNvPr id="14" name="Rounded Rectangle 13"/>
          <p:cNvSpPr/>
          <p:nvPr/>
        </p:nvSpPr>
        <p:spPr>
          <a:xfrm>
            <a:off x="4349496"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9496" y="1755648"/>
            <a:ext cx="73152" cy="212140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68952"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Photoshop</a:t>
            </a:r>
          </a:p>
        </p:txBody>
      </p:sp>
      <p:sp>
        <p:nvSpPr>
          <p:cNvPr id="17" name="TextBox 16"/>
          <p:cNvSpPr txBox="1"/>
          <p:nvPr/>
        </p:nvSpPr>
        <p:spPr>
          <a:xfrm>
            <a:off x="4568952"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Selections, generative edits, compositing, colour and output.</a:t>
            </a:r>
          </a:p>
        </p:txBody>
      </p:sp>
      <p:sp>
        <p:nvSpPr>
          <p:cNvPr id="18" name="Rounded Rectangle 17"/>
          <p:cNvSpPr/>
          <p:nvPr/>
        </p:nvSpPr>
        <p:spPr>
          <a:xfrm>
            <a:off x="8013192"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3192" y="1755648"/>
            <a:ext cx="73152" cy="212140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32648"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Not Adobe certification</a:t>
            </a:r>
          </a:p>
        </p:txBody>
      </p:sp>
      <p:sp>
        <p:nvSpPr>
          <p:cNvPr id="21" name="TextBox 20"/>
          <p:cNvSpPr txBox="1"/>
          <p:nvPr/>
        </p:nvSpPr>
        <p:spPr>
          <a:xfrm>
            <a:off x="8232648"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This WSQ course does not certify an Adobe credential.</a:t>
            </a:r>
          </a:p>
        </p:txBody>
      </p:sp>
      <p:sp>
        <p:nvSpPr>
          <p:cNvPr id="22" name="Rounded Rectangle 21"/>
          <p:cNvSpPr/>
          <p:nvPr/>
        </p:nvSpPr>
        <p:spPr>
          <a:xfrm>
            <a:off x="685800"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5800" y="4078224"/>
            <a:ext cx="73152" cy="21214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Interface drift</a:t>
            </a:r>
          </a:p>
        </p:txBody>
      </p:sp>
      <p:sp>
        <p:nvSpPr>
          <p:cNvPr id="25" name="TextBox 24"/>
          <p:cNvSpPr txBox="1"/>
          <p:nvPr/>
        </p:nvSpPr>
        <p:spPr>
          <a:xfrm>
            <a:off x="905256"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Models and labels change; decisions and evidence remain durable.</a:t>
            </a:r>
          </a:p>
        </p:txBody>
      </p:sp>
      <p:sp>
        <p:nvSpPr>
          <p:cNvPr id="26" name="Rounded Rectangle 25"/>
          <p:cNvSpPr/>
          <p:nvPr/>
        </p:nvSpPr>
        <p:spPr>
          <a:xfrm>
            <a:off x="4349496"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49496" y="4078224"/>
            <a:ext cx="73152" cy="212140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68952"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009A78"/>
                </a:solidFill>
                <a:latin typeface="Arial"/>
              </a:rPr>
              <a:t>Responsible AI</a:t>
            </a:r>
          </a:p>
        </p:txBody>
      </p:sp>
      <p:sp>
        <p:nvSpPr>
          <p:cNvPr id="29" name="TextBox 28"/>
          <p:cNvSpPr txBox="1"/>
          <p:nvPr/>
        </p:nvSpPr>
        <p:spPr>
          <a:xfrm>
            <a:off x="4568952"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Review outputs, respect rights and retain provenance.</a:t>
            </a:r>
          </a:p>
        </p:txBody>
      </p:sp>
      <p:sp>
        <p:nvSpPr>
          <p:cNvPr id="30" name="Rounded Rectangle 29"/>
          <p:cNvSpPr/>
          <p:nvPr/>
        </p:nvSpPr>
        <p:spPr>
          <a:xfrm>
            <a:off x="8013192"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13192" y="4078224"/>
            <a:ext cx="73152" cy="212140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32648"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E98500"/>
                </a:solidFill>
                <a:latin typeface="Arial"/>
              </a:rPr>
              <a:t>Trademark</a:t>
            </a:r>
          </a:p>
        </p:txBody>
      </p:sp>
      <p:sp>
        <p:nvSpPr>
          <p:cNvPr id="33" name="TextBox 32"/>
          <p:cNvSpPr txBox="1"/>
          <p:nvPr/>
        </p:nvSpPr>
        <p:spPr>
          <a:xfrm>
            <a:off x="8232648"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Adobe, Firefly and Photoshop are Adobe trademarks.</a:t>
            </a:r>
          </a:p>
        </p:txBody>
      </p:sp>
    </p:spTree>
  </p:cSld>
  <p:transition spd="med" advClick="1">
    <p:fade/>
  </p:transition>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94360" y="502920"/>
            <a:ext cx="1143000" cy="1143000"/>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804672"/>
            <a:ext cx="1143000" cy="320040"/>
          </a:xfrm>
          <a:prstGeom prst="rect">
            <a:avLst/>
          </a:prstGeom>
          <a:noFill/>
        </p:spPr>
        <p:txBody>
          <a:bodyPr wrap="square" anchor="t" lIns="54864" rIns="54864" tIns="54864" bIns="54864">
            <a:spAutoFit/>
          </a:bodyPr>
          <a:lstStyle/>
          <a:p>
            <a:pPr algn="ctr">
              <a:spcAft>
                <a:spcPts val="0"/>
              </a:spcAft>
            </a:pPr>
            <a:r>
              <a:rPr sz="2200" b="1">
                <a:solidFill>
                  <a:srgbClr val="FFFFFF"/>
                </a:solidFill>
                <a:latin typeface="Arial"/>
              </a:rPr>
              <a:t>01</a:t>
            </a:r>
          </a:p>
        </p:txBody>
      </p:sp>
      <p:sp>
        <p:nvSpPr>
          <p:cNvPr id="5" name="TextBox 4"/>
          <p:cNvSpPr txBox="1"/>
          <p:nvPr/>
        </p:nvSpPr>
        <p:spPr>
          <a:xfrm>
            <a:off x="685800" y="1920240"/>
            <a:ext cx="10881360" cy="1097280"/>
          </a:xfrm>
          <a:prstGeom prst="rect">
            <a:avLst/>
          </a:prstGeom>
          <a:noFill/>
        </p:spPr>
        <p:txBody>
          <a:bodyPr wrap="square" anchor="t" lIns="54864" rIns="54864" tIns="54864" bIns="54864">
            <a:spAutoFit/>
          </a:bodyPr>
          <a:lstStyle/>
          <a:p>
            <a:pPr algn="l">
              <a:spcAft>
                <a:spcPts val="0"/>
              </a:spcAft>
            </a:pPr>
            <a:r>
              <a:rPr sz="3800" b="1">
                <a:solidFill>
                  <a:srgbClr val="FFFFFF"/>
                </a:solidFill>
                <a:latin typeface="Arial"/>
              </a:rPr>
              <a:t>GenAI for Visual Communication</a:t>
            </a:r>
          </a:p>
        </p:txBody>
      </p:sp>
      <p:sp>
        <p:nvSpPr>
          <p:cNvPr id="6" name="TextBox 5"/>
          <p:cNvSpPr txBox="1"/>
          <p:nvPr/>
        </p:nvSpPr>
        <p:spPr>
          <a:xfrm>
            <a:off x="713232" y="3246120"/>
            <a:ext cx="10241280" cy="777240"/>
          </a:xfrm>
          <a:prstGeom prst="rect">
            <a:avLst/>
          </a:prstGeom>
          <a:noFill/>
        </p:spPr>
        <p:txBody>
          <a:bodyPr wrap="square" anchor="t" lIns="54864" rIns="54864" tIns="54864" bIns="54864">
            <a:spAutoFit/>
          </a:bodyPr>
          <a:lstStyle/>
          <a:p>
            <a:pPr algn="l">
              <a:spcAft>
                <a:spcPts val="0"/>
              </a:spcAft>
            </a:pPr>
            <a:r>
              <a:rPr sz="1800" b="0">
                <a:solidFill>
                  <a:srgbClr val="C8CFDA"/>
                </a:solidFill>
                <a:latin typeface="Arial"/>
              </a:rPr>
              <a:t>Turn an audience need into an intentional, rights-aware visual direction.</a:t>
            </a:r>
          </a:p>
        </p:txBody>
      </p:sp>
      <p:sp>
        <p:nvSpPr>
          <p:cNvPr id="7" name="TextBox 6"/>
          <p:cNvSpPr txBox="1"/>
          <p:nvPr/>
        </p:nvSpPr>
        <p:spPr>
          <a:xfrm>
            <a:off x="713232" y="5349240"/>
            <a:ext cx="5943600" cy="320040"/>
          </a:xfrm>
          <a:prstGeom prst="rect">
            <a:avLst/>
          </a:prstGeom>
          <a:noFill/>
        </p:spPr>
        <p:txBody>
          <a:bodyPr wrap="square" anchor="t" lIns="54864" rIns="54864" tIns="54864" bIns="54864">
            <a:spAutoFit/>
          </a:bodyPr>
          <a:lstStyle/>
          <a:p>
            <a:pPr algn="l">
              <a:spcAft>
                <a:spcPts val="0"/>
              </a:spcAft>
            </a:pPr>
            <a:r>
              <a:rPr sz="1400" b="1">
                <a:solidFill>
                  <a:srgbClr val="00B8D9"/>
                </a:solidFill>
                <a:latin typeface="Arial"/>
              </a:rPr>
              <a:t>LO1 · K1 · K2 · A1 · A2</a:t>
            </a:r>
          </a:p>
        </p:txBody>
      </p:sp>
      <p:sp>
        <p:nvSpPr>
          <p:cNvPr id="8" name="TextBox 7"/>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D7DEE9"/>
                </a:solidFill>
                <a:latin typeface="Arial"/>
              </a:rPr>
              <a:t>Generative-AI-Visuals-in-Photoshop-and-Firefly  ·  TGS-2024045220</a:t>
            </a:r>
          </a:p>
        </p:txBody>
      </p:sp>
      <p:sp>
        <p:nvSpPr>
          <p:cNvPr id="9" name="TextBox 8"/>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D7DEE9"/>
                </a:solidFill>
                <a:latin typeface="Arial"/>
              </a:rPr>
              <a:t>© 2026 Tertiary Infotech Academy Pte Ltd</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D7DEE9"/>
                </a:solidFill>
                <a:latin typeface="Arial"/>
              </a:rPr>
              <a:t>20</a:t>
            </a:r>
          </a:p>
        </p:txBody>
      </p:sp>
    </p:spTree>
  </p:cSld>
  <p:transition spd="med" advClick="1">
    <p:fade/>
  </p:transition>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EDITABLE PROMPT-QUALITY CHART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Prompt Quality Is a System</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21</a:t>
            </a:r>
          </a:p>
        </p:txBody>
      </p:sp>
      <p:graphicFrame>
        <p:nvGraphicFramePr>
          <p:cNvPr id="11" name="Chart 10"/>
          <p:cNvGraphicFramePr>
            <a:graphicFrameLocks noGrp="1"/>
          </p:cNvGraphicFramePr>
          <p:nvPr/>
        </p:nvGraphicFramePr>
        <p:xfrm>
          <a:off x="749808" y="1783080"/>
          <a:ext cx="7360920" cy="4343400"/>
        </p:xfrm>
        <a:graphic>
          <a:graphicData uri="http://schemas.openxmlformats.org/drawingml/2006/chart">
            <c:chart xmlns:c="http://schemas.openxmlformats.org/drawingml/2006/chart" r:id="rId2"/>
          </a:graphicData>
        </a:graphic>
      </p:graphicFrame>
      <p:sp>
        <p:nvSpPr>
          <p:cNvPr id="12" name="Rounded Rectangle 11"/>
          <p:cNvSpPr/>
          <p:nvPr/>
        </p:nvSpPr>
        <p:spPr>
          <a:xfrm>
            <a:off x="8394192" y="1874519"/>
            <a:ext cx="2971800" cy="361188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68512" y="2148840"/>
            <a:ext cx="2423160" cy="411480"/>
          </a:xfrm>
          <a:prstGeom prst="rect">
            <a:avLst/>
          </a:prstGeom>
          <a:noFill/>
        </p:spPr>
        <p:txBody>
          <a:bodyPr wrap="square" anchor="t" lIns="54864" rIns="54864" tIns="54864" bIns="54864">
            <a:spAutoFit/>
          </a:bodyPr>
          <a:lstStyle/>
          <a:p>
            <a:pPr algn="l">
              <a:spcAft>
                <a:spcPts val="0"/>
              </a:spcAft>
            </a:pPr>
            <a:r>
              <a:rPr sz="1200" b="1">
                <a:solidFill>
                  <a:srgbClr val="00B8D9"/>
                </a:solidFill>
                <a:latin typeface="Arial"/>
              </a:rPr>
              <a:t>READ THE CHART</a:t>
            </a:r>
          </a:p>
        </p:txBody>
      </p:sp>
      <p:sp>
        <p:nvSpPr>
          <p:cNvPr id="14" name="TextBox 13"/>
          <p:cNvSpPr txBox="1"/>
          <p:nvPr/>
        </p:nvSpPr>
        <p:spPr>
          <a:xfrm>
            <a:off x="8668512" y="2770632"/>
            <a:ext cx="2423160" cy="2057400"/>
          </a:xfrm>
          <a:prstGeom prst="rect">
            <a:avLst/>
          </a:prstGeom>
          <a:noFill/>
        </p:spPr>
        <p:txBody>
          <a:bodyPr wrap="square" anchor="t" lIns="54864" rIns="54864" tIns="54864" bIns="54864">
            <a:spAutoFit/>
          </a:bodyPr>
          <a:lstStyle/>
          <a:p>
            <a:pPr algn="l">
              <a:spcAft>
                <a:spcPts val="0"/>
              </a:spcAft>
            </a:pPr>
            <a:r>
              <a:rPr sz="1500" b="1">
                <a:solidFill>
                  <a:srgbClr val="161920"/>
                </a:solidFill>
                <a:latin typeface="Arial"/>
              </a:rPr>
              <a:t>Illustrative review scores show that a vivid subject alone is insufficient; channel fit, composition, constraints and provenance complete the visual brief.</a:t>
            </a:r>
          </a:p>
        </p:txBody>
      </p:sp>
      <p:sp>
        <p:nvSpPr>
          <p:cNvPr id="15" name="TextBox 14"/>
          <p:cNvSpPr txBox="1"/>
          <p:nvPr/>
        </p:nvSpPr>
        <p:spPr>
          <a:xfrm>
            <a:off x="8668512" y="5074920"/>
            <a:ext cx="2423160" cy="256032"/>
          </a:xfrm>
          <a:prstGeom prst="rect">
            <a:avLst/>
          </a:prstGeom>
          <a:noFill/>
        </p:spPr>
        <p:txBody>
          <a:bodyPr wrap="square" anchor="t" lIns="54864" rIns="54864" tIns="54864" bIns="54864">
            <a:spAutoFit/>
          </a:bodyPr>
          <a:lstStyle/>
          <a:p>
            <a:pPr algn="l">
              <a:spcAft>
                <a:spcPts val="0"/>
              </a:spcAft>
            </a:pPr>
            <a:r>
              <a:rPr sz="900" b="0">
                <a:solidFill>
                  <a:srgbClr val="5B6372"/>
                </a:solidFill>
                <a:latin typeface="Arial"/>
              </a:rPr>
              <a:t>Editable native PowerPoint chart</a:t>
            </a:r>
          </a:p>
        </p:txBody>
      </p:sp>
    </p:spTree>
  </p:cSld>
  <p:transition spd="med" advClick="1">
    <p:fade/>
  </p:transition>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CONCEPT 01 · AUTHENTIC ASSET + EDITABLE ANNOTATIONS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Human-led GenAI Creative Loop</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22</a:t>
            </a:r>
          </a:p>
        </p:txBody>
      </p:sp>
      <p:sp>
        <p:nvSpPr>
          <p:cNvPr id="11" name="Rounded Rectangle 10"/>
          <p:cNvSpPr/>
          <p:nvPr/>
        </p:nvSpPr>
        <p:spPr>
          <a:xfrm>
            <a:off x="685800" y="1755648"/>
            <a:ext cx="4828032" cy="4443984"/>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refly_a dog reading a book while sitting at a desk by candle light, while wearing glasses,  120801.jpg"/>
          <p:cNvPicPr>
            <a:picLocks noChangeAspect="1"/>
          </p:cNvPicPr>
          <p:nvPr/>
        </p:nvPicPr>
        <p:blipFill>
          <a:blip r:embed="rId2"/>
          <a:srcRect t="14301" b="14301"/>
          <a:stretch>
            <a:fillRect/>
          </a:stretch>
        </p:blipFill>
        <p:spPr>
          <a:xfrm>
            <a:off x="758952" y="1828800"/>
            <a:ext cx="4681728" cy="4297680"/>
          </a:xfrm>
          <a:prstGeom prst="rect">
            <a:avLst/>
          </a:prstGeom>
        </p:spPr>
      </p:pic>
      <p:sp>
        <p:nvSpPr>
          <p:cNvPr id="13" name="Rounded Rectangle 12"/>
          <p:cNvSpPr/>
          <p:nvPr/>
        </p:nvSpPr>
        <p:spPr>
          <a:xfrm>
            <a:off x="5742432" y="178308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888736" y="1956816"/>
            <a:ext cx="475488" cy="47548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88736" y="201168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1</a:t>
            </a:r>
          </a:p>
        </p:txBody>
      </p:sp>
      <p:sp>
        <p:nvSpPr>
          <p:cNvPr id="16" name="TextBox 15"/>
          <p:cNvSpPr txBox="1"/>
          <p:nvPr/>
        </p:nvSpPr>
        <p:spPr>
          <a:xfrm>
            <a:off x="6510528" y="192938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How it works</a:t>
            </a:r>
          </a:p>
        </p:txBody>
      </p:sp>
      <p:sp>
        <p:nvSpPr>
          <p:cNvPr id="17" name="TextBox 16"/>
          <p:cNvSpPr txBox="1"/>
          <p:nvPr/>
        </p:nvSpPr>
        <p:spPr>
          <a:xfrm>
            <a:off x="6510528" y="222199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A human defines the brief, directs generation, selects evidence and remains accountable for publication.</a:t>
            </a:r>
          </a:p>
        </p:txBody>
      </p:sp>
      <p:sp>
        <p:nvSpPr>
          <p:cNvPr id="18" name="Rounded Rectangle 17"/>
          <p:cNvSpPr/>
          <p:nvPr/>
        </p:nvSpPr>
        <p:spPr>
          <a:xfrm>
            <a:off x="5742432" y="288036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888736" y="3054096"/>
            <a:ext cx="475488" cy="47548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88736" y="310896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2</a:t>
            </a:r>
          </a:p>
        </p:txBody>
      </p:sp>
      <p:sp>
        <p:nvSpPr>
          <p:cNvPr id="21" name="TextBox 20"/>
          <p:cNvSpPr txBox="1"/>
          <p:nvPr/>
        </p:nvSpPr>
        <p:spPr>
          <a:xfrm>
            <a:off x="6510528" y="302666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Best used for</a:t>
            </a:r>
          </a:p>
        </p:txBody>
      </p:sp>
      <p:sp>
        <p:nvSpPr>
          <p:cNvPr id="22" name="TextBox 21"/>
          <p:cNvSpPr txBox="1"/>
          <p:nvPr/>
        </p:nvSpPr>
        <p:spPr>
          <a:xfrm>
            <a:off x="6510528" y="331927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Fast exploration where intent and judgement matter more than raw variation count.</a:t>
            </a:r>
          </a:p>
        </p:txBody>
      </p:sp>
      <p:sp>
        <p:nvSpPr>
          <p:cNvPr id="23" name="Rounded Rectangle 22"/>
          <p:cNvSpPr/>
          <p:nvPr/>
        </p:nvSpPr>
        <p:spPr>
          <a:xfrm>
            <a:off x="5742432" y="3977639"/>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888736" y="4151376"/>
            <a:ext cx="475488" cy="47548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88736" y="420624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3</a:t>
            </a:r>
          </a:p>
        </p:txBody>
      </p:sp>
      <p:sp>
        <p:nvSpPr>
          <p:cNvPr id="26" name="TextBox 25"/>
          <p:cNvSpPr txBox="1"/>
          <p:nvPr/>
        </p:nvSpPr>
        <p:spPr>
          <a:xfrm>
            <a:off x="6510528" y="412394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Professional decision</a:t>
            </a:r>
          </a:p>
        </p:txBody>
      </p:sp>
      <p:sp>
        <p:nvSpPr>
          <p:cNvPr id="27" name="TextBox 26"/>
          <p:cNvSpPr txBox="1"/>
          <p:nvPr/>
        </p:nvSpPr>
        <p:spPr>
          <a:xfrm>
            <a:off x="6510528" y="441655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Choose this method when its content model and edge behaviour fit the brief.</a:t>
            </a:r>
          </a:p>
        </p:txBody>
      </p:sp>
      <p:sp>
        <p:nvSpPr>
          <p:cNvPr id="28" name="Rounded Rectangle 27"/>
          <p:cNvSpPr/>
          <p:nvPr/>
        </p:nvSpPr>
        <p:spPr>
          <a:xfrm>
            <a:off x="5742432" y="507492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888736" y="5248656"/>
            <a:ext cx="475488" cy="47548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88736" y="530352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4</a:t>
            </a:r>
          </a:p>
        </p:txBody>
      </p:sp>
      <p:sp>
        <p:nvSpPr>
          <p:cNvPr id="31" name="TextBox 30"/>
          <p:cNvSpPr txBox="1"/>
          <p:nvPr/>
        </p:nvSpPr>
        <p:spPr>
          <a:xfrm>
            <a:off x="6510528" y="522122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Quality signal</a:t>
            </a:r>
          </a:p>
        </p:txBody>
      </p:sp>
      <p:sp>
        <p:nvSpPr>
          <p:cNvPr id="32" name="TextBox 31"/>
          <p:cNvSpPr txBox="1"/>
          <p:nvPr/>
        </p:nvSpPr>
        <p:spPr>
          <a:xfrm>
            <a:off x="6510528" y="551383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A decision log connects the selected visual to audience, purpose and acceptance criteria.</a:t>
            </a:r>
          </a:p>
        </p:txBody>
      </p:sp>
    </p:spTree>
  </p:cSld>
  <p:transition spd="med" advClick="1">
    <p:fade/>
  </p:transition>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Human-led GenAI Creative Loop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23</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Brief · prompt · variation · critique · edit · verify</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Automating the decision as well as the production.</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A decision log connects the selected visual to audience, purpose and acceptance criteria.</a:t>
            </a:r>
          </a:p>
        </p:txBody>
      </p:sp>
      <p:sp>
        <p:nvSpPr>
          <p:cNvPr id="23" name="Rounded Rectangle 22"/>
          <p:cNvSpPr/>
          <p:nvPr/>
        </p:nvSpPr>
        <p:spPr>
          <a:xfrm>
            <a:off x="685800" y="5349240"/>
            <a:ext cx="10771632" cy="65836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Worked Artifact · Human-led GenAI Creative Loop</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24</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B8D9"/>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Fast exploration where intent and judgement matter more than raw variation count.</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Brief · prompt · variation · critique · edit · verify</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7C3AED"/>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Automating the decision as well as the production.</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A decision log connects the selected visual to audience, purpose and acceptance criteria.</a:t>
            </a:r>
          </a:p>
        </p:txBody>
      </p:sp>
      <p:sp>
        <p:nvSpPr>
          <p:cNvPr id="30" name="Rounded Rectangle 29"/>
          <p:cNvSpPr/>
          <p:nvPr/>
        </p:nvSpPr>
        <p:spPr>
          <a:xfrm>
            <a:off x="804672" y="5532120"/>
            <a:ext cx="10561320" cy="530352"/>
          </a:xfrm>
          <a:prstGeom prst="roundRect">
            <a:avLst/>
          </a:prstGeom>
          <a:solidFill>
            <a:srgbClr val="FFFFFF"/>
          </a:solidFill>
          <a:ln>
            <a:solidFill>
              <a:srgbClr val="00B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00B8D9"/>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Annotated Decision Model · Human-led GenAI Creative Loop</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25</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Brief</a:t>
            </a:r>
          </a:p>
        </p:txBody>
      </p:sp>
      <p:sp>
        <p:nvSpPr>
          <p:cNvPr id="16" name="Rounded Rectangle 15"/>
          <p:cNvSpPr/>
          <p:nvPr/>
        </p:nvSpPr>
        <p:spPr>
          <a:xfrm>
            <a:off x="896112" y="3099816"/>
            <a:ext cx="384048" cy="38404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prompt</a:t>
            </a:r>
          </a:p>
        </p:txBody>
      </p:sp>
      <p:sp>
        <p:nvSpPr>
          <p:cNvPr id="19" name="Rounded Rectangle 18"/>
          <p:cNvSpPr/>
          <p:nvPr/>
        </p:nvSpPr>
        <p:spPr>
          <a:xfrm>
            <a:off x="896112" y="3685032"/>
            <a:ext cx="384048"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variation</a:t>
            </a:r>
          </a:p>
        </p:txBody>
      </p:sp>
      <p:sp>
        <p:nvSpPr>
          <p:cNvPr id="22" name="Rounded Rectangle 21"/>
          <p:cNvSpPr/>
          <p:nvPr/>
        </p:nvSpPr>
        <p:spPr>
          <a:xfrm>
            <a:off x="896112" y="4270248"/>
            <a:ext cx="384048" cy="38404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critique</a:t>
            </a:r>
          </a:p>
        </p:txBody>
      </p:sp>
      <p:sp>
        <p:nvSpPr>
          <p:cNvPr id="25" name="Rounded Rectangle 24"/>
          <p:cNvSpPr/>
          <p:nvPr/>
        </p:nvSpPr>
        <p:spPr>
          <a:xfrm>
            <a:off x="896112" y="4855464"/>
            <a:ext cx="384048" cy="38404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19472"/>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5</a:t>
            </a:r>
          </a:p>
        </p:txBody>
      </p:sp>
      <p:sp>
        <p:nvSpPr>
          <p:cNvPr id="27" name="TextBox 26"/>
          <p:cNvSpPr txBox="1"/>
          <p:nvPr/>
        </p:nvSpPr>
        <p:spPr>
          <a:xfrm>
            <a:off x="1408176" y="4873752"/>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edit</a:t>
            </a:r>
          </a:p>
        </p:txBody>
      </p:sp>
      <p:sp>
        <p:nvSpPr>
          <p:cNvPr id="28" name="Rounded Rectangle 27"/>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E11D74"/>
                </a:solidFill>
                <a:latin typeface="Arial"/>
              </a:rPr>
              <a:t>EDITABLE CANVAS / OUTPUT STATE</a:t>
            </a:r>
          </a:p>
        </p:txBody>
      </p:sp>
      <p:sp>
        <p:nvSpPr>
          <p:cNvPr id="31" name="TextBox 30"/>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A human defines the brief, directs generation, selects evidence and remains accountable for publication.</a:t>
            </a:r>
          </a:p>
        </p:txBody>
      </p:sp>
      <p:sp>
        <p:nvSpPr>
          <p:cNvPr id="32" name="Rounded Rectangle 31"/>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4" name="Rounded Rectangle 33"/>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E11D74"/>
                </a:solidFill>
                <a:latin typeface="Arial"/>
              </a:rPr>
              <a:t>PROOF PANEL</a:t>
            </a:r>
          </a:p>
        </p:txBody>
      </p:sp>
      <p:sp>
        <p:nvSpPr>
          <p:cNvPr id="36" name="TextBox 35"/>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A decision log connects the selected visual to audience, purpose and acceptance criteria.</a:t>
            </a:r>
          </a:p>
        </p:txBody>
      </p:sp>
      <p:sp>
        <p:nvSpPr>
          <p:cNvPr id="37" name="TextBox 36"/>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Diagnostic · Human-led GenAI Creative Loop</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26</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Automating the decision as well as the production.</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Brief · prompt · variation · critique · edit · verify.</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A decision log connects the selected visual to audience, purpose and acceptance criteria.</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7C3AED"/>
                </a:solidFill>
                <a:latin typeface="Arial"/>
              </a:rPr>
              <a:t>Accept only when the defect is reduced and protected content remains intact.</a:t>
            </a:r>
          </a:p>
        </p:txBody>
      </p:sp>
    </p:spTree>
  </p:cSld>
  <p:transition spd="med" advClick="1">
    <p:fade/>
  </p:transition>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CONCEPT 02 · AUTHENTIC ASSET + EDITABLE ANNOTATIONS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GenAI Image Use Cases and Boundaries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27</a:t>
            </a:r>
          </a:p>
        </p:txBody>
      </p:sp>
      <p:sp>
        <p:nvSpPr>
          <p:cNvPr id="11" name="Rounded Rectangle 10"/>
          <p:cNvSpPr/>
          <p:nvPr/>
        </p:nvSpPr>
        <p:spPr>
          <a:xfrm>
            <a:off x="6675120" y="1755648"/>
            <a:ext cx="4828032" cy="4443984"/>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erence.jpg"/>
          <p:cNvPicPr>
            <a:picLocks noChangeAspect="1"/>
          </p:cNvPicPr>
          <p:nvPr/>
        </p:nvPicPr>
        <p:blipFill>
          <a:blip r:embed="rId2"/>
          <a:srcRect t="4102" b="4102"/>
          <a:stretch>
            <a:fillRect/>
          </a:stretch>
        </p:blipFill>
        <p:spPr>
          <a:xfrm>
            <a:off x="6748272" y="1828800"/>
            <a:ext cx="4681728" cy="4297680"/>
          </a:xfrm>
          <a:prstGeom prst="rect">
            <a:avLst/>
          </a:prstGeom>
        </p:spPr>
      </p:pic>
      <p:sp>
        <p:nvSpPr>
          <p:cNvPr id="13" name="Rounded Rectangle 12"/>
          <p:cNvSpPr/>
          <p:nvPr/>
        </p:nvSpPr>
        <p:spPr>
          <a:xfrm>
            <a:off x="685800" y="178308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32104" y="1956816"/>
            <a:ext cx="475488" cy="47548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 y="201168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1</a:t>
            </a:r>
          </a:p>
        </p:txBody>
      </p:sp>
      <p:sp>
        <p:nvSpPr>
          <p:cNvPr id="16" name="TextBox 15"/>
          <p:cNvSpPr txBox="1"/>
          <p:nvPr/>
        </p:nvSpPr>
        <p:spPr>
          <a:xfrm>
            <a:off x="1453895" y="192938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How it works</a:t>
            </a:r>
          </a:p>
        </p:txBody>
      </p:sp>
      <p:sp>
        <p:nvSpPr>
          <p:cNvPr id="17" name="TextBox 16"/>
          <p:cNvSpPr txBox="1"/>
          <p:nvPr/>
        </p:nvSpPr>
        <p:spPr>
          <a:xfrm>
            <a:off x="1453895" y="222199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Generation, insertion, removal, expansion and translation solve different visual problems and carry different risks.</a:t>
            </a:r>
          </a:p>
        </p:txBody>
      </p:sp>
      <p:sp>
        <p:nvSpPr>
          <p:cNvPr id="18" name="Rounded Rectangle 17"/>
          <p:cNvSpPr/>
          <p:nvPr/>
        </p:nvSpPr>
        <p:spPr>
          <a:xfrm>
            <a:off x="685800" y="288036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32104" y="3054096"/>
            <a:ext cx="475488" cy="47548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 y="310896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2</a:t>
            </a:r>
          </a:p>
        </p:txBody>
      </p:sp>
      <p:sp>
        <p:nvSpPr>
          <p:cNvPr id="21" name="TextBox 20"/>
          <p:cNvSpPr txBox="1"/>
          <p:nvPr/>
        </p:nvSpPr>
        <p:spPr>
          <a:xfrm>
            <a:off x="1453895" y="302666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Best used for</a:t>
            </a:r>
          </a:p>
        </p:txBody>
      </p:sp>
      <p:sp>
        <p:nvSpPr>
          <p:cNvPr id="22" name="TextBox 21"/>
          <p:cNvSpPr txBox="1"/>
          <p:nvPr/>
        </p:nvSpPr>
        <p:spPr>
          <a:xfrm>
            <a:off x="1453895" y="331927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Choosing an appropriate AI feature before opening a tool.</a:t>
            </a:r>
          </a:p>
        </p:txBody>
      </p:sp>
      <p:sp>
        <p:nvSpPr>
          <p:cNvPr id="23" name="Rounded Rectangle 22"/>
          <p:cNvSpPr/>
          <p:nvPr/>
        </p:nvSpPr>
        <p:spPr>
          <a:xfrm>
            <a:off x="685800" y="3977639"/>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32104" y="4151376"/>
            <a:ext cx="475488" cy="47548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2104" y="420624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3</a:t>
            </a:r>
          </a:p>
        </p:txBody>
      </p:sp>
      <p:sp>
        <p:nvSpPr>
          <p:cNvPr id="26" name="TextBox 25"/>
          <p:cNvSpPr txBox="1"/>
          <p:nvPr/>
        </p:nvSpPr>
        <p:spPr>
          <a:xfrm>
            <a:off x="1453895" y="412394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Professional decision</a:t>
            </a:r>
          </a:p>
        </p:txBody>
      </p:sp>
      <p:sp>
        <p:nvSpPr>
          <p:cNvPr id="27" name="TextBox 26"/>
          <p:cNvSpPr txBox="1"/>
          <p:nvPr/>
        </p:nvSpPr>
        <p:spPr>
          <a:xfrm>
            <a:off x="1453895" y="441655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Choose this method when its content model and edge behaviour fit the brief.</a:t>
            </a:r>
          </a:p>
        </p:txBody>
      </p:sp>
      <p:sp>
        <p:nvSpPr>
          <p:cNvPr id="28" name="Rounded Rectangle 27"/>
          <p:cNvSpPr/>
          <p:nvPr/>
        </p:nvSpPr>
        <p:spPr>
          <a:xfrm>
            <a:off x="685800" y="507492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32104" y="5248656"/>
            <a:ext cx="475488" cy="47548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2104" y="530352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4</a:t>
            </a:r>
          </a:p>
        </p:txBody>
      </p:sp>
      <p:sp>
        <p:nvSpPr>
          <p:cNvPr id="31" name="TextBox 30"/>
          <p:cNvSpPr txBox="1"/>
          <p:nvPr/>
        </p:nvSpPr>
        <p:spPr>
          <a:xfrm>
            <a:off x="1453895" y="522122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Quality signal</a:t>
            </a:r>
          </a:p>
        </p:txBody>
      </p:sp>
      <p:sp>
        <p:nvSpPr>
          <p:cNvPr id="32" name="TextBox 31"/>
          <p:cNvSpPr txBox="1"/>
          <p:nvPr/>
        </p:nvSpPr>
        <p:spPr>
          <a:xfrm>
            <a:off x="1453895" y="551383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The chosen feature and boundary are justified against the brief.</a:t>
            </a:r>
          </a:p>
        </p:txBody>
      </p:sp>
    </p:spTree>
  </p:cSld>
  <p:transition spd="med" advClick="1">
    <p:fade/>
  </p:transition>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GenAI Image Use Cases and Boundaries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28</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Task type · rights · sensitivity · required control · delivery channel</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Using generation where faithful documentation is required.</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The chosen feature and boundary are justified against the brief.</a:t>
            </a:r>
          </a:p>
        </p:txBody>
      </p:sp>
      <p:sp>
        <p:nvSpPr>
          <p:cNvPr id="23" name="Rounded Rectangle 22"/>
          <p:cNvSpPr/>
          <p:nvPr/>
        </p:nvSpPr>
        <p:spPr>
          <a:xfrm>
            <a:off x="685800" y="5349240"/>
            <a:ext cx="10771632" cy="65836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Worked Artifact · GenAI Image Use Cases and Boundaries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29</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Choosing an appropriate AI feature before opening a tool.</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7C3AED"/>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Task type · rights · sensitivity · required control · delivery channel</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Using generation where faithful documentation is required.</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98500"/>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The chosen feature and boundary are justified against the brief.</a:t>
            </a:r>
          </a:p>
        </p:txBody>
      </p:sp>
      <p:sp>
        <p:nvSpPr>
          <p:cNvPr id="30" name="Rounded Rectangle 29"/>
          <p:cNvSpPr/>
          <p:nvPr/>
        </p:nvSpPr>
        <p:spPr>
          <a:xfrm>
            <a:off x="804672" y="5532120"/>
            <a:ext cx="10561320" cy="530352"/>
          </a:xfrm>
          <a:prstGeom prst="roundRect">
            <a:avLst/>
          </a:prstGeom>
          <a:solidFill>
            <a:srgbClr val="FFFFFF"/>
          </a:solidFill>
          <a:ln>
            <a:solidFill>
              <a:srgbClr val="E11D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E11D74"/>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Annotated Decision Model · GenAI Image Use Cases and Boundaries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30</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Task type</a:t>
            </a:r>
          </a:p>
        </p:txBody>
      </p:sp>
      <p:sp>
        <p:nvSpPr>
          <p:cNvPr id="16" name="Rounded Rectangle 15"/>
          <p:cNvSpPr/>
          <p:nvPr/>
        </p:nvSpPr>
        <p:spPr>
          <a:xfrm>
            <a:off x="896112" y="3099816"/>
            <a:ext cx="384048"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rights</a:t>
            </a:r>
          </a:p>
        </p:txBody>
      </p:sp>
      <p:sp>
        <p:nvSpPr>
          <p:cNvPr id="19" name="Rounded Rectangle 18"/>
          <p:cNvSpPr/>
          <p:nvPr/>
        </p:nvSpPr>
        <p:spPr>
          <a:xfrm>
            <a:off x="896112" y="3685032"/>
            <a:ext cx="384048" cy="38404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sensitivity</a:t>
            </a:r>
          </a:p>
        </p:txBody>
      </p:sp>
      <p:sp>
        <p:nvSpPr>
          <p:cNvPr id="22" name="Rounded Rectangle 21"/>
          <p:cNvSpPr/>
          <p:nvPr/>
        </p:nvSpPr>
        <p:spPr>
          <a:xfrm>
            <a:off x="896112" y="4270248"/>
            <a:ext cx="384048" cy="38404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required control</a:t>
            </a:r>
          </a:p>
        </p:txBody>
      </p:sp>
      <p:sp>
        <p:nvSpPr>
          <p:cNvPr id="25" name="Rounded Rectangle 24"/>
          <p:cNvSpPr/>
          <p:nvPr/>
        </p:nvSpPr>
        <p:spPr>
          <a:xfrm>
            <a:off x="896112" y="4855464"/>
            <a:ext cx="384048" cy="38404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19472"/>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5</a:t>
            </a:r>
          </a:p>
        </p:txBody>
      </p:sp>
      <p:sp>
        <p:nvSpPr>
          <p:cNvPr id="27" name="TextBox 26"/>
          <p:cNvSpPr txBox="1"/>
          <p:nvPr/>
        </p:nvSpPr>
        <p:spPr>
          <a:xfrm>
            <a:off x="1408176" y="4873752"/>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delivery channel</a:t>
            </a:r>
          </a:p>
        </p:txBody>
      </p:sp>
      <p:sp>
        <p:nvSpPr>
          <p:cNvPr id="28" name="Rounded Rectangle 27"/>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7C3AED"/>
                </a:solidFill>
                <a:latin typeface="Arial"/>
              </a:rPr>
              <a:t>EDITABLE CANVAS / OUTPUT STATE</a:t>
            </a:r>
          </a:p>
        </p:txBody>
      </p:sp>
      <p:sp>
        <p:nvSpPr>
          <p:cNvPr id="31" name="TextBox 30"/>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Generation, insertion, removal, expansion and translation solve different visual problems and carry different risks.</a:t>
            </a:r>
          </a:p>
        </p:txBody>
      </p:sp>
      <p:sp>
        <p:nvSpPr>
          <p:cNvPr id="32" name="Rounded Rectangle 31"/>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4" name="Rounded Rectangle 33"/>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7C3AED"/>
                </a:solidFill>
                <a:latin typeface="Arial"/>
              </a:rPr>
              <a:t>PROOF PANEL</a:t>
            </a:r>
          </a:p>
        </p:txBody>
      </p:sp>
      <p:sp>
        <p:nvSpPr>
          <p:cNvPr id="36" name="TextBox 35"/>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The chosen feature and boundary are justified against the brief.</a:t>
            </a:r>
          </a:p>
        </p:txBody>
      </p:sp>
      <p:sp>
        <p:nvSpPr>
          <p:cNvPr id="37" name="TextBox 36"/>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Diagnostic · GenAI Image Use Cases and Boundaries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31</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Using generation where faithful documentation is required.</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Task type · rights · sensitivity · required control · delivery channel.</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The chosen feature and boundary are justified against the brief.</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Accept only when the defect is reduced and protected content remains intact.</a:t>
            </a:r>
          </a:p>
        </p:txBody>
      </p:sp>
    </p:spTree>
  </p:cSld>
  <p:transition spd="med" advClick="1">
    <p:fade/>
  </p:transition>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CONCEPT 03 · AUTHENTIC ASSET + EDITABLE ANNOTATIONS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Prompt Anatomy</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32</a:t>
            </a:r>
          </a:p>
        </p:txBody>
      </p:sp>
      <p:sp>
        <p:nvSpPr>
          <p:cNvPr id="11" name="Rounded Rectangle 10"/>
          <p:cNvSpPr/>
          <p:nvPr/>
        </p:nvSpPr>
        <p:spPr>
          <a:xfrm>
            <a:off x="685800" y="1755648"/>
            <a:ext cx="4828032" cy="4443984"/>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hummingbird.jpg"/>
          <p:cNvPicPr>
            <a:picLocks noChangeAspect="1"/>
          </p:cNvPicPr>
          <p:nvPr/>
        </p:nvPicPr>
        <p:blipFill>
          <a:blip r:embed="rId2"/>
          <a:srcRect l="19362" r="19362"/>
          <a:stretch>
            <a:fillRect/>
          </a:stretch>
        </p:blipFill>
        <p:spPr>
          <a:xfrm>
            <a:off x="758952" y="1828800"/>
            <a:ext cx="4681728" cy="4297680"/>
          </a:xfrm>
          <a:prstGeom prst="rect">
            <a:avLst/>
          </a:prstGeom>
        </p:spPr>
      </p:pic>
      <p:sp>
        <p:nvSpPr>
          <p:cNvPr id="13" name="Rounded Rectangle 12"/>
          <p:cNvSpPr/>
          <p:nvPr/>
        </p:nvSpPr>
        <p:spPr>
          <a:xfrm>
            <a:off x="5742432" y="178308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888736" y="1956816"/>
            <a:ext cx="475488" cy="47548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88736" y="201168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1</a:t>
            </a:r>
          </a:p>
        </p:txBody>
      </p:sp>
      <p:sp>
        <p:nvSpPr>
          <p:cNvPr id="16" name="TextBox 15"/>
          <p:cNvSpPr txBox="1"/>
          <p:nvPr/>
        </p:nvSpPr>
        <p:spPr>
          <a:xfrm>
            <a:off x="6510528" y="192938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How it works</a:t>
            </a:r>
          </a:p>
        </p:txBody>
      </p:sp>
      <p:sp>
        <p:nvSpPr>
          <p:cNvPr id="17" name="TextBox 16"/>
          <p:cNvSpPr txBox="1"/>
          <p:nvPr/>
        </p:nvSpPr>
        <p:spPr>
          <a:xfrm>
            <a:off x="6510528" y="222199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A useful prompt combines subject, action, setting, visual treatment, composition and constraints.</a:t>
            </a:r>
          </a:p>
        </p:txBody>
      </p:sp>
      <p:sp>
        <p:nvSpPr>
          <p:cNvPr id="18" name="Rounded Rectangle 17"/>
          <p:cNvSpPr/>
          <p:nvPr/>
        </p:nvSpPr>
        <p:spPr>
          <a:xfrm>
            <a:off x="5742432" y="288036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888736" y="3054096"/>
            <a:ext cx="475488" cy="47548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88736" y="310896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2</a:t>
            </a:r>
          </a:p>
        </p:txBody>
      </p:sp>
      <p:sp>
        <p:nvSpPr>
          <p:cNvPr id="21" name="TextBox 20"/>
          <p:cNvSpPr txBox="1"/>
          <p:nvPr/>
        </p:nvSpPr>
        <p:spPr>
          <a:xfrm>
            <a:off x="6510528" y="302666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Best used for</a:t>
            </a:r>
          </a:p>
        </p:txBody>
      </p:sp>
      <p:sp>
        <p:nvSpPr>
          <p:cNvPr id="22" name="TextBox 21"/>
          <p:cNvSpPr txBox="1"/>
          <p:nvPr/>
        </p:nvSpPr>
        <p:spPr>
          <a:xfrm>
            <a:off x="6510528" y="331927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Creating a clear starting direction without over-prescribing every pixel.</a:t>
            </a:r>
          </a:p>
        </p:txBody>
      </p:sp>
      <p:sp>
        <p:nvSpPr>
          <p:cNvPr id="23" name="Rounded Rectangle 22"/>
          <p:cNvSpPr/>
          <p:nvPr/>
        </p:nvSpPr>
        <p:spPr>
          <a:xfrm>
            <a:off x="5742432" y="3977639"/>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888736" y="4151376"/>
            <a:ext cx="475488" cy="47548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88736" y="420624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3</a:t>
            </a:r>
          </a:p>
        </p:txBody>
      </p:sp>
      <p:sp>
        <p:nvSpPr>
          <p:cNvPr id="26" name="TextBox 25"/>
          <p:cNvSpPr txBox="1"/>
          <p:nvPr/>
        </p:nvSpPr>
        <p:spPr>
          <a:xfrm>
            <a:off x="6510528" y="412394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Professional decision</a:t>
            </a:r>
          </a:p>
        </p:txBody>
      </p:sp>
      <p:sp>
        <p:nvSpPr>
          <p:cNvPr id="27" name="TextBox 26"/>
          <p:cNvSpPr txBox="1"/>
          <p:nvPr/>
        </p:nvSpPr>
        <p:spPr>
          <a:xfrm>
            <a:off x="6510528" y="441655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Choose this method when its content model and edge behaviour fit the brief.</a:t>
            </a:r>
          </a:p>
        </p:txBody>
      </p:sp>
      <p:sp>
        <p:nvSpPr>
          <p:cNvPr id="28" name="Rounded Rectangle 27"/>
          <p:cNvSpPr/>
          <p:nvPr/>
        </p:nvSpPr>
        <p:spPr>
          <a:xfrm>
            <a:off x="5742432" y="507492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888736" y="5248656"/>
            <a:ext cx="475488" cy="47548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88736" y="530352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4</a:t>
            </a:r>
          </a:p>
        </p:txBody>
      </p:sp>
      <p:sp>
        <p:nvSpPr>
          <p:cNvPr id="31" name="TextBox 30"/>
          <p:cNvSpPr txBox="1"/>
          <p:nvPr/>
        </p:nvSpPr>
        <p:spPr>
          <a:xfrm>
            <a:off x="6510528" y="522122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Quality signal</a:t>
            </a:r>
          </a:p>
        </p:txBody>
      </p:sp>
      <p:sp>
        <p:nvSpPr>
          <p:cNvPr id="32" name="TextBox 31"/>
          <p:cNvSpPr txBox="1"/>
          <p:nvPr/>
        </p:nvSpPr>
        <p:spPr>
          <a:xfrm>
            <a:off x="6510528" y="551383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Prompt components can be traced to visible properties of the result.</a:t>
            </a:r>
          </a:p>
        </p:txBody>
      </p:sp>
    </p:spTree>
  </p:cSld>
  <p:transition spd="med" advClick="1">
    <p:fade/>
  </p:transition>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98500"/>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Prompt Anatomy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33</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Subject · action · setting · medium · lighting · camera · exclusions</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Contradictory adjectives, vague subjects and accidental text instructions.</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Prompt components can be traced to visible properties of the result.</a:t>
            </a:r>
          </a:p>
        </p:txBody>
      </p:sp>
      <p:sp>
        <p:nvSpPr>
          <p:cNvPr id="23" name="Rounded Rectangle 22"/>
          <p:cNvSpPr/>
          <p:nvPr/>
        </p:nvSpPr>
        <p:spPr>
          <a:xfrm>
            <a:off x="685800" y="5349240"/>
            <a:ext cx="10771632" cy="65836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Worked Artifact · Prompt Anatomy</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34</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7C3AED"/>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Creating a clear starting direction without over-prescribing every pixel.</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Subject · action · setting · medium · lighting · camera · exclusions</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98500"/>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Contradictory adjectives, vague subjects and accidental text instructions.</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Prompt components can be traced to visible properties of the result.</a:t>
            </a:r>
          </a:p>
        </p:txBody>
      </p:sp>
      <p:sp>
        <p:nvSpPr>
          <p:cNvPr id="30" name="Rounded Rectangle 29"/>
          <p:cNvSpPr/>
          <p:nvPr/>
        </p:nvSpPr>
        <p:spPr>
          <a:xfrm>
            <a:off x="804672" y="5532120"/>
            <a:ext cx="10561320" cy="530352"/>
          </a:xfrm>
          <a:prstGeom prst="roundRect">
            <a:avLst/>
          </a:prstGeom>
          <a:solidFill>
            <a:srgbClr val="FFFFFF"/>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7C3AED"/>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Annotated Decision Model · Prompt Anatomy</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35</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Subject</a:t>
            </a:r>
          </a:p>
        </p:txBody>
      </p:sp>
      <p:sp>
        <p:nvSpPr>
          <p:cNvPr id="16" name="Rounded Rectangle 15"/>
          <p:cNvSpPr/>
          <p:nvPr/>
        </p:nvSpPr>
        <p:spPr>
          <a:xfrm>
            <a:off x="896112" y="3099816"/>
            <a:ext cx="384048" cy="38404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action</a:t>
            </a:r>
          </a:p>
        </p:txBody>
      </p:sp>
      <p:sp>
        <p:nvSpPr>
          <p:cNvPr id="19" name="Rounded Rectangle 18"/>
          <p:cNvSpPr/>
          <p:nvPr/>
        </p:nvSpPr>
        <p:spPr>
          <a:xfrm>
            <a:off x="896112" y="3685032"/>
            <a:ext cx="384048" cy="38404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setting</a:t>
            </a:r>
          </a:p>
        </p:txBody>
      </p:sp>
      <p:sp>
        <p:nvSpPr>
          <p:cNvPr id="22" name="Rounded Rectangle 21"/>
          <p:cNvSpPr/>
          <p:nvPr/>
        </p:nvSpPr>
        <p:spPr>
          <a:xfrm>
            <a:off x="896112" y="4270248"/>
            <a:ext cx="384048" cy="38404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medium</a:t>
            </a:r>
          </a:p>
        </p:txBody>
      </p:sp>
      <p:sp>
        <p:nvSpPr>
          <p:cNvPr id="25" name="Rounded Rectangle 24"/>
          <p:cNvSpPr/>
          <p:nvPr/>
        </p:nvSpPr>
        <p:spPr>
          <a:xfrm>
            <a:off x="896112" y="4855464"/>
            <a:ext cx="384048" cy="38404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19472"/>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5</a:t>
            </a:r>
          </a:p>
        </p:txBody>
      </p:sp>
      <p:sp>
        <p:nvSpPr>
          <p:cNvPr id="27" name="TextBox 26"/>
          <p:cNvSpPr txBox="1"/>
          <p:nvPr/>
        </p:nvSpPr>
        <p:spPr>
          <a:xfrm>
            <a:off x="1408176" y="4873752"/>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lighting</a:t>
            </a:r>
          </a:p>
        </p:txBody>
      </p:sp>
      <p:sp>
        <p:nvSpPr>
          <p:cNvPr id="28" name="Rounded Rectangle 27"/>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009A78"/>
                </a:solidFill>
                <a:latin typeface="Arial"/>
              </a:rPr>
              <a:t>EDITABLE CANVAS / OUTPUT STATE</a:t>
            </a:r>
          </a:p>
        </p:txBody>
      </p:sp>
      <p:sp>
        <p:nvSpPr>
          <p:cNvPr id="31" name="TextBox 30"/>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A useful prompt combines subject, action, setting, visual treatment, composition and constraints.</a:t>
            </a:r>
          </a:p>
        </p:txBody>
      </p:sp>
      <p:sp>
        <p:nvSpPr>
          <p:cNvPr id="32" name="Rounded Rectangle 31"/>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4" name="Rounded Rectangle 33"/>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009A78"/>
                </a:solidFill>
                <a:latin typeface="Arial"/>
              </a:rPr>
              <a:t>PROOF PANEL</a:t>
            </a:r>
          </a:p>
        </p:txBody>
      </p:sp>
      <p:sp>
        <p:nvSpPr>
          <p:cNvPr id="36" name="TextBox 35"/>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Prompt components can be traced to visible properties of the result.</a:t>
            </a:r>
          </a:p>
        </p:txBody>
      </p:sp>
      <p:sp>
        <p:nvSpPr>
          <p:cNvPr id="37" name="TextBox 36"/>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98500"/>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Diagnostic · Prompt Anatomy</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36</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Contradictory adjectives, vague subjects and accidental text instructions.</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Subject · action · setting · medium · lighting · camera · exclusions.</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Prompt components can be traced to visible properties of the result.</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E98500"/>
                </a:solidFill>
                <a:latin typeface="Arial"/>
              </a:rPr>
              <a:t>Accept only when the defect is reduced and protected content remains intact.</a:t>
            </a:r>
          </a:p>
        </p:txBody>
      </p:sp>
    </p:spTree>
  </p:cSld>
  <p:transition spd="med" advClick="1">
    <p:fade/>
  </p:transition>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CONCEPT 04 · AUTHENTIC ASSET + EDITABLE ANNOTATIONS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Prompt Iteration and Variation</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37</a:t>
            </a:r>
          </a:p>
        </p:txBody>
      </p:sp>
      <p:sp>
        <p:nvSpPr>
          <p:cNvPr id="11" name="Rounded Rectangle 10"/>
          <p:cNvSpPr/>
          <p:nvPr/>
        </p:nvSpPr>
        <p:spPr>
          <a:xfrm>
            <a:off x="6675120" y="1755648"/>
            <a:ext cx="4828032" cy="4443984"/>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dventure.jpg"/>
          <p:cNvPicPr>
            <a:picLocks noChangeAspect="1"/>
          </p:cNvPicPr>
          <p:nvPr/>
        </p:nvPicPr>
        <p:blipFill>
          <a:blip r:embed="rId2"/>
          <a:srcRect l="21824" r="21824"/>
          <a:stretch>
            <a:fillRect/>
          </a:stretch>
        </p:blipFill>
        <p:spPr>
          <a:xfrm>
            <a:off x="6748272" y="1828800"/>
            <a:ext cx="4681728" cy="4297680"/>
          </a:xfrm>
          <a:prstGeom prst="rect">
            <a:avLst/>
          </a:prstGeom>
        </p:spPr>
      </p:pic>
      <p:sp>
        <p:nvSpPr>
          <p:cNvPr id="13" name="Rounded Rectangle 12"/>
          <p:cNvSpPr/>
          <p:nvPr/>
        </p:nvSpPr>
        <p:spPr>
          <a:xfrm>
            <a:off x="685800" y="178308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32104" y="1956816"/>
            <a:ext cx="475488" cy="47548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 y="201168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1</a:t>
            </a:r>
          </a:p>
        </p:txBody>
      </p:sp>
      <p:sp>
        <p:nvSpPr>
          <p:cNvPr id="16" name="TextBox 15"/>
          <p:cNvSpPr txBox="1"/>
          <p:nvPr/>
        </p:nvSpPr>
        <p:spPr>
          <a:xfrm>
            <a:off x="1453895" y="192938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How it works</a:t>
            </a:r>
          </a:p>
        </p:txBody>
      </p:sp>
      <p:sp>
        <p:nvSpPr>
          <p:cNvPr id="17" name="TextBox 16"/>
          <p:cNvSpPr txBox="1"/>
          <p:nvPr/>
        </p:nvSpPr>
        <p:spPr>
          <a:xfrm>
            <a:off x="1453895" y="222199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Changing one prompt factor at a time makes cause and effect observable.</a:t>
            </a:r>
          </a:p>
        </p:txBody>
      </p:sp>
      <p:sp>
        <p:nvSpPr>
          <p:cNvPr id="18" name="Rounded Rectangle 17"/>
          <p:cNvSpPr/>
          <p:nvPr/>
        </p:nvSpPr>
        <p:spPr>
          <a:xfrm>
            <a:off x="685800" y="288036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32104" y="3054096"/>
            <a:ext cx="475488" cy="47548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 y="310896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2</a:t>
            </a:r>
          </a:p>
        </p:txBody>
      </p:sp>
      <p:sp>
        <p:nvSpPr>
          <p:cNvPr id="21" name="TextBox 20"/>
          <p:cNvSpPr txBox="1"/>
          <p:nvPr/>
        </p:nvSpPr>
        <p:spPr>
          <a:xfrm>
            <a:off x="1453895" y="302666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Best used for</a:t>
            </a:r>
          </a:p>
        </p:txBody>
      </p:sp>
      <p:sp>
        <p:nvSpPr>
          <p:cNvPr id="22" name="TextBox 21"/>
          <p:cNvSpPr txBox="1"/>
          <p:nvPr/>
        </p:nvSpPr>
        <p:spPr>
          <a:xfrm>
            <a:off x="1453895" y="331927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Converging from a broad direction to a defensible final candidate.</a:t>
            </a:r>
          </a:p>
        </p:txBody>
      </p:sp>
      <p:sp>
        <p:nvSpPr>
          <p:cNvPr id="23" name="Rounded Rectangle 22"/>
          <p:cNvSpPr/>
          <p:nvPr/>
        </p:nvSpPr>
        <p:spPr>
          <a:xfrm>
            <a:off x="685800" y="3977639"/>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32104" y="4151376"/>
            <a:ext cx="475488" cy="47548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2104" y="420624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3</a:t>
            </a:r>
          </a:p>
        </p:txBody>
      </p:sp>
      <p:sp>
        <p:nvSpPr>
          <p:cNvPr id="26" name="TextBox 25"/>
          <p:cNvSpPr txBox="1"/>
          <p:nvPr/>
        </p:nvSpPr>
        <p:spPr>
          <a:xfrm>
            <a:off x="1453895" y="412394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Professional decision</a:t>
            </a:r>
          </a:p>
        </p:txBody>
      </p:sp>
      <p:sp>
        <p:nvSpPr>
          <p:cNvPr id="27" name="TextBox 26"/>
          <p:cNvSpPr txBox="1"/>
          <p:nvPr/>
        </p:nvSpPr>
        <p:spPr>
          <a:xfrm>
            <a:off x="1453895" y="441655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Choose this method when its content model and edge behaviour fit the brief.</a:t>
            </a:r>
          </a:p>
        </p:txBody>
      </p:sp>
      <p:sp>
        <p:nvSpPr>
          <p:cNvPr id="28" name="Rounded Rectangle 27"/>
          <p:cNvSpPr/>
          <p:nvPr/>
        </p:nvSpPr>
        <p:spPr>
          <a:xfrm>
            <a:off x="685800" y="507492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32104" y="5248656"/>
            <a:ext cx="475488" cy="47548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2104" y="530352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4</a:t>
            </a:r>
          </a:p>
        </p:txBody>
      </p:sp>
      <p:sp>
        <p:nvSpPr>
          <p:cNvPr id="31" name="TextBox 30"/>
          <p:cNvSpPr txBox="1"/>
          <p:nvPr/>
        </p:nvSpPr>
        <p:spPr>
          <a:xfrm>
            <a:off x="1453895" y="522122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Quality signal</a:t>
            </a:r>
          </a:p>
        </p:txBody>
      </p:sp>
      <p:sp>
        <p:nvSpPr>
          <p:cNvPr id="32" name="TextBox 31"/>
          <p:cNvSpPr txBox="1"/>
          <p:nvPr/>
        </p:nvSpPr>
        <p:spPr>
          <a:xfrm>
            <a:off x="1453895" y="551383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A contact sheet shows at least three labelled iterations and the selection reason.</a:t>
            </a:r>
          </a:p>
        </p:txBody>
      </p:sp>
    </p:spTree>
  </p:cSld>
  <p:transition spd="med" advClick="1">
    <p:fade/>
  </p:transition>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Prompt Iteration and Variation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38</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Baseline · single-variable change · seed/variation · comparison notes</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Changing model, prompt, style and composition simultaneously.</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A contact sheet shows at least three labelled iterations and the selection reason.</a:t>
            </a:r>
          </a:p>
        </p:txBody>
      </p:sp>
      <p:sp>
        <p:nvSpPr>
          <p:cNvPr id="23" name="Rounded Rectangle 22"/>
          <p:cNvSpPr/>
          <p:nvPr/>
        </p:nvSpPr>
        <p:spPr>
          <a:xfrm>
            <a:off x="685800" y="5349240"/>
            <a:ext cx="10771632" cy="65836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Worked Artifact · Prompt Iteration and Variation</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39</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Converging from a broad direction to a defensible final candidate.</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98500"/>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Baseline · single-variable change · seed/variation · comparison notes</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Changing model, prompt, style and composition simultaneously.</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B8D9"/>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A contact sheet shows at least three labelled iterations and the selection reason.</a:t>
            </a:r>
          </a:p>
        </p:txBody>
      </p:sp>
      <p:sp>
        <p:nvSpPr>
          <p:cNvPr id="30" name="Rounded Rectangle 29"/>
          <p:cNvSpPr/>
          <p:nvPr/>
        </p:nvSpPr>
        <p:spPr>
          <a:xfrm>
            <a:off x="804672" y="5532120"/>
            <a:ext cx="10561320" cy="530352"/>
          </a:xfrm>
          <a:prstGeom prst="roundRect">
            <a:avLst/>
          </a:prstGeom>
          <a:solidFill>
            <a:srgbClr val="FFFFFF"/>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009A78"/>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98500"/>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Annotated Decision Model · Prompt Iteration and Variation</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40</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Baseline</a:t>
            </a:r>
          </a:p>
        </p:txBody>
      </p:sp>
      <p:sp>
        <p:nvSpPr>
          <p:cNvPr id="16" name="Rounded Rectangle 15"/>
          <p:cNvSpPr/>
          <p:nvPr/>
        </p:nvSpPr>
        <p:spPr>
          <a:xfrm>
            <a:off x="896112" y="3099816"/>
            <a:ext cx="384048" cy="38404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single-variable change</a:t>
            </a:r>
          </a:p>
        </p:txBody>
      </p:sp>
      <p:sp>
        <p:nvSpPr>
          <p:cNvPr id="19" name="Rounded Rectangle 18"/>
          <p:cNvSpPr/>
          <p:nvPr/>
        </p:nvSpPr>
        <p:spPr>
          <a:xfrm>
            <a:off x="896112" y="3685032"/>
            <a:ext cx="384048" cy="38404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seed/variation</a:t>
            </a:r>
          </a:p>
        </p:txBody>
      </p:sp>
      <p:sp>
        <p:nvSpPr>
          <p:cNvPr id="22" name="Rounded Rectangle 21"/>
          <p:cNvSpPr/>
          <p:nvPr/>
        </p:nvSpPr>
        <p:spPr>
          <a:xfrm>
            <a:off x="896112" y="4270248"/>
            <a:ext cx="384048" cy="38404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comparison notes</a:t>
            </a:r>
          </a:p>
        </p:txBody>
      </p:sp>
      <p:sp>
        <p:nvSpPr>
          <p:cNvPr id="25" name="Rounded Rectangle 24"/>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E98500"/>
                </a:solidFill>
                <a:latin typeface="Arial"/>
              </a:rPr>
              <a:t>EDITABLE CANVAS / OUTPUT STATE</a:t>
            </a:r>
          </a:p>
        </p:txBody>
      </p:sp>
      <p:sp>
        <p:nvSpPr>
          <p:cNvPr id="28" name="TextBox 27"/>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Changing one prompt factor at a time makes cause and effect observable.</a:t>
            </a:r>
          </a:p>
        </p:txBody>
      </p:sp>
      <p:sp>
        <p:nvSpPr>
          <p:cNvPr id="29" name="Rounded Rectangle 28"/>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1" name="Rounded Rectangle 30"/>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E98500"/>
                </a:solidFill>
                <a:latin typeface="Arial"/>
              </a:rPr>
              <a:t>PROOF PANEL</a:t>
            </a:r>
          </a:p>
        </p:txBody>
      </p:sp>
      <p:sp>
        <p:nvSpPr>
          <p:cNvPr id="33" name="TextBox 32"/>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A contact sheet shows at least three labelled iterations and the selection reason.</a:t>
            </a:r>
          </a:p>
        </p:txBody>
      </p:sp>
      <p:sp>
        <p:nvSpPr>
          <p:cNvPr id="34" name="TextBox 33"/>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Diagnostic · Prompt Iteration and Variation</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41</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Changing model, prompt, style and composition simultaneously.</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Baseline · single-variable change · seed/variation · comparison notes.</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A contact sheet shows at least three labelled iterations and the selection reason.</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224AF4"/>
                </a:solidFill>
                <a:latin typeface="Arial"/>
              </a:rPr>
              <a:t>Accept only when the defect is reduced and protected content remains intact.</a:t>
            </a:r>
          </a:p>
        </p:txBody>
      </p:sp>
    </p:spTree>
  </p:cSld>
  <p:transition spd="med" advClick="1">
    <p:fade/>
  </p:transition>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98500"/>
                </a:solidFill>
                <a:latin typeface="Arial"/>
              </a:rPr>
              <a:t>CONCEPT 05 · AUTHENTIC ASSET + EDITABLE ANNOTATIONS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Visual Hierarchy and Emphasis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42</a:t>
            </a:r>
          </a:p>
        </p:txBody>
      </p:sp>
      <p:sp>
        <p:nvSpPr>
          <p:cNvPr id="11" name="Rounded Rectangle 10"/>
          <p:cNvSpPr/>
          <p:nvPr/>
        </p:nvSpPr>
        <p:spPr>
          <a:xfrm>
            <a:off x="685800" y="1755648"/>
            <a:ext cx="4828032" cy="4443984"/>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refly_a robot dancing at a party 830052.jpg"/>
          <p:cNvPicPr>
            <a:picLocks noChangeAspect="1"/>
          </p:cNvPicPr>
          <p:nvPr/>
        </p:nvPicPr>
        <p:blipFill>
          <a:blip r:embed="rId2"/>
          <a:srcRect l="7636" r="7636"/>
          <a:stretch>
            <a:fillRect/>
          </a:stretch>
        </p:blipFill>
        <p:spPr>
          <a:xfrm>
            <a:off x="758952" y="1828800"/>
            <a:ext cx="4681728" cy="4297680"/>
          </a:xfrm>
          <a:prstGeom prst="rect">
            <a:avLst/>
          </a:prstGeom>
        </p:spPr>
      </p:pic>
      <p:sp>
        <p:nvSpPr>
          <p:cNvPr id="13" name="Rounded Rectangle 12"/>
          <p:cNvSpPr/>
          <p:nvPr/>
        </p:nvSpPr>
        <p:spPr>
          <a:xfrm>
            <a:off x="5742432" y="178308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888736" y="1956816"/>
            <a:ext cx="475488" cy="47548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88736" y="201168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1</a:t>
            </a:r>
          </a:p>
        </p:txBody>
      </p:sp>
      <p:sp>
        <p:nvSpPr>
          <p:cNvPr id="16" name="TextBox 15"/>
          <p:cNvSpPr txBox="1"/>
          <p:nvPr/>
        </p:nvSpPr>
        <p:spPr>
          <a:xfrm>
            <a:off x="6510528" y="192938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How it works</a:t>
            </a:r>
          </a:p>
        </p:txBody>
      </p:sp>
      <p:sp>
        <p:nvSpPr>
          <p:cNvPr id="17" name="TextBox 16"/>
          <p:cNvSpPr txBox="1"/>
          <p:nvPr/>
        </p:nvSpPr>
        <p:spPr>
          <a:xfrm>
            <a:off x="6510528" y="222199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Scale, contrast, position, isolation and detail establish what viewers notice first.</a:t>
            </a:r>
          </a:p>
        </p:txBody>
      </p:sp>
      <p:sp>
        <p:nvSpPr>
          <p:cNvPr id="18" name="Rounded Rectangle 17"/>
          <p:cNvSpPr/>
          <p:nvPr/>
        </p:nvSpPr>
        <p:spPr>
          <a:xfrm>
            <a:off x="5742432" y="288036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888736" y="3054096"/>
            <a:ext cx="475488" cy="47548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88736" y="310896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2</a:t>
            </a:r>
          </a:p>
        </p:txBody>
      </p:sp>
      <p:sp>
        <p:nvSpPr>
          <p:cNvPr id="21" name="TextBox 20"/>
          <p:cNvSpPr txBox="1"/>
          <p:nvPr/>
        </p:nvSpPr>
        <p:spPr>
          <a:xfrm>
            <a:off x="6510528" y="302666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Best used for</a:t>
            </a:r>
          </a:p>
        </p:txBody>
      </p:sp>
      <p:sp>
        <p:nvSpPr>
          <p:cNvPr id="22" name="TextBox 21"/>
          <p:cNvSpPr txBox="1"/>
          <p:nvPr/>
        </p:nvSpPr>
        <p:spPr>
          <a:xfrm>
            <a:off x="6510528" y="331927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Campaign visuals that need a clear focal point and reading order.</a:t>
            </a:r>
          </a:p>
        </p:txBody>
      </p:sp>
      <p:sp>
        <p:nvSpPr>
          <p:cNvPr id="23" name="Rounded Rectangle 22"/>
          <p:cNvSpPr/>
          <p:nvPr/>
        </p:nvSpPr>
        <p:spPr>
          <a:xfrm>
            <a:off x="5742432" y="3977639"/>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888736" y="4151376"/>
            <a:ext cx="475488" cy="47548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88736" y="420624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3</a:t>
            </a:r>
          </a:p>
        </p:txBody>
      </p:sp>
      <p:sp>
        <p:nvSpPr>
          <p:cNvPr id="26" name="TextBox 25"/>
          <p:cNvSpPr txBox="1"/>
          <p:nvPr/>
        </p:nvSpPr>
        <p:spPr>
          <a:xfrm>
            <a:off x="6510528" y="412394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Professional decision</a:t>
            </a:r>
          </a:p>
        </p:txBody>
      </p:sp>
      <p:sp>
        <p:nvSpPr>
          <p:cNvPr id="27" name="TextBox 26"/>
          <p:cNvSpPr txBox="1"/>
          <p:nvPr/>
        </p:nvSpPr>
        <p:spPr>
          <a:xfrm>
            <a:off x="6510528" y="441655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Choose this method when its content model and edge behaviour fit the brief.</a:t>
            </a:r>
          </a:p>
        </p:txBody>
      </p:sp>
      <p:sp>
        <p:nvSpPr>
          <p:cNvPr id="28" name="Rounded Rectangle 27"/>
          <p:cNvSpPr/>
          <p:nvPr/>
        </p:nvSpPr>
        <p:spPr>
          <a:xfrm>
            <a:off x="5742432" y="507492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888736" y="5248656"/>
            <a:ext cx="475488" cy="47548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88736" y="530352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4</a:t>
            </a:r>
          </a:p>
        </p:txBody>
      </p:sp>
      <p:sp>
        <p:nvSpPr>
          <p:cNvPr id="31" name="TextBox 30"/>
          <p:cNvSpPr txBox="1"/>
          <p:nvPr/>
        </p:nvSpPr>
        <p:spPr>
          <a:xfrm>
            <a:off x="6510528" y="522122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Quality signal</a:t>
            </a:r>
          </a:p>
        </p:txBody>
      </p:sp>
      <p:sp>
        <p:nvSpPr>
          <p:cNvPr id="32" name="TextBox 31"/>
          <p:cNvSpPr txBox="1"/>
          <p:nvPr/>
        </p:nvSpPr>
        <p:spPr>
          <a:xfrm>
            <a:off x="6510528" y="551383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A squint test and thumbnail view preserve the intended reading order.</a:t>
            </a:r>
          </a:p>
        </p:txBody>
      </p:sp>
    </p:spTree>
  </p:cSld>
  <p:transition spd="med" advClick="1">
    <p:fade/>
  </p:transition>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Visual Hierarchy and Emphasis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43</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Primary focal point · secondary cue · supporting detail · CTA space</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Competing focal points or an empty area that cannot hold useful copy.</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A squint test and thumbnail view preserve the intended reading order.</a:t>
            </a:r>
          </a:p>
        </p:txBody>
      </p:sp>
      <p:sp>
        <p:nvSpPr>
          <p:cNvPr id="23" name="Rounded Rectangle 22"/>
          <p:cNvSpPr/>
          <p:nvPr/>
        </p:nvSpPr>
        <p:spPr>
          <a:xfrm>
            <a:off x="685800" y="5349240"/>
            <a:ext cx="10771632" cy="65836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98500"/>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Worked Artifact · Visual Hierarchy and Emphasis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44</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98500"/>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Campaign visuals that need a clear focal point and reading order.</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Primary focal point · secondary cue · supporting detail · CTA space</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B8D9"/>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Competing focal points or an empty area that cannot hold useful copy.</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A squint test and thumbnail view preserve the intended reading order.</a:t>
            </a:r>
          </a:p>
        </p:txBody>
      </p:sp>
      <p:sp>
        <p:nvSpPr>
          <p:cNvPr id="30" name="Rounded Rectangle 29"/>
          <p:cNvSpPr/>
          <p:nvPr/>
        </p:nvSpPr>
        <p:spPr>
          <a:xfrm>
            <a:off x="804672" y="5532120"/>
            <a:ext cx="10561320" cy="530352"/>
          </a:xfrm>
          <a:prstGeom prst="roundRect">
            <a:avLst/>
          </a:prstGeom>
          <a:solidFill>
            <a:srgbClr val="FFFFFF"/>
          </a:solidFill>
          <a:ln>
            <a:solidFill>
              <a:srgbClr val="E98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E98500"/>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Annotated Decision Model · Visual Hierarchy and Emphasis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45</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Primary focal point</a:t>
            </a:r>
          </a:p>
        </p:txBody>
      </p:sp>
      <p:sp>
        <p:nvSpPr>
          <p:cNvPr id="16" name="Rounded Rectangle 15"/>
          <p:cNvSpPr/>
          <p:nvPr/>
        </p:nvSpPr>
        <p:spPr>
          <a:xfrm>
            <a:off x="896112" y="3099816"/>
            <a:ext cx="384048" cy="38404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secondary cue</a:t>
            </a:r>
          </a:p>
        </p:txBody>
      </p:sp>
      <p:sp>
        <p:nvSpPr>
          <p:cNvPr id="19" name="Rounded Rectangle 18"/>
          <p:cNvSpPr/>
          <p:nvPr/>
        </p:nvSpPr>
        <p:spPr>
          <a:xfrm>
            <a:off x="896112" y="3685032"/>
            <a:ext cx="384048" cy="38404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supporting detail</a:t>
            </a:r>
          </a:p>
        </p:txBody>
      </p:sp>
      <p:sp>
        <p:nvSpPr>
          <p:cNvPr id="22" name="Rounded Rectangle 21"/>
          <p:cNvSpPr/>
          <p:nvPr/>
        </p:nvSpPr>
        <p:spPr>
          <a:xfrm>
            <a:off x="896112" y="4270248"/>
            <a:ext cx="384048" cy="38404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CTA space</a:t>
            </a:r>
          </a:p>
        </p:txBody>
      </p:sp>
      <p:sp>
        <p:nvSpPr>
          <p:cNvPr id="25" name="Rounded Rectangle 24"/>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224AF4"/>
                </a:solidFill>
                <a:latin typeface="Arial"/>
              </a:rPr>
              <a:t>EDITABLE CANVAS / OUTPUT STATE</a:t>
            </a:r>
          </a:p>
        </p:txBody>
      </p:sp>
      <p:sp>
        <p:nvSpPr>
          <p:cNvPr id="28" name="TextBox 27"/>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Scale, contrast, position, isolation and detail establish what viewers notice first.</a:t>
            </a:r>
          </a:p>
        </p:txBody>
      </p:sp>
      <p:sp>
        <p:nvSpPr>
          <p:cNvPr id="29" name="Rounded Rectangle 28"/>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1" name="Rounded Rectangle 30"/>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224AF4"/>
                </a:solidFill>
                <a:latin typeface="Arial"/>
              </a:rPr>
              <a:t>PROOF PANEL</a:t>
            </a:r>
          </a:p>
        </p:txBody>
      </p:sp>
      <p:sp>
        <p:nvSpPr>
          <p:cNvPr id="33" name="TextBox 32"/>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A squint test and thumbnail view preserve the intended reading order.</a:t>
            </a:r>
          </a:p>
        </p:txBody>
      </p:sp>
      <p:sp>
        <p:nvSpPr>
          <p:cNvPr id="34" name="TextBox 33"/>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Diagnostic · Visual Hierarchy and Emphasis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46</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Competing focal points or an empty area that cannot hold useful copy.</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Primary focal point · secondary cue · supporting detail · CTA space.</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A squint test and thumbnail view preserve the intended reading order.</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00B8D9"/>
                </a:solidFill>
                <a:latin typeface="Arial"/>
              </a:rPr>
              <a:t>Accept only when the defect is reduced and protected content remains intact.</a:t>
            </a:r>
          </a:p>
        </p:txBody>
      </p:sp>
    </p:spTree>
  </p:cSld>
  <p:transition spd="med" advClick="1">
    <p:fade/>
  </p:transition>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CONCEPT 06 · AUTHENTIC ASSET + EDITABLE ANNOTATIONS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Scale, Balance and Alignment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47</a:t>
            </a:r>
          </a:p>
        </p:txBody>
      </p:sp>
      <p:sp>
        <p:nvSpPr>
          <p:cNvPr id="11" name="Rounded Rectangle 10"/>
          <p:cNvSpPr/>
          <p:nvPr/>
        </p:nvSpPr>
        <p:spPr>
          <a:xfrm>
            <a:off x="6675120" y="1755648"/>
            <a:ext cx="4828032" cy="4443984"/>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ark bench.jpg"/>
          <p:cNvPicPr>
            <a:picLocks noChangeAspect="1"/>
          </p:cNvPicPr>
          <p:nvPr/>
        </p:nvPicPr>
        <p:blipFill>
          <a:blip r:embed="rId2"/>
          <a:srcRect t="12985" b="12985"/>
          <a:stretch>
            <a:fillRect/>
          </a:stretch>
        </p:blipFill>
        <p:spPr>
          <a:xfrm>
            <a:off x="6748272" y="1828800"/>
            <a:ext cx="4681728" cy="4297680"/>
          </a:xfrm>
          <a:prstGeom prst="rect">
            <a:avLst/>
          </a:prstGeom>
        </p:spPr>
      </p:pic>
      <p:sp>
        <p:nvSpPr>
          <p:cNvPr id="13" name="Rounded Rectangle 12"/>
          <p:cNvSpPr/>
          <p:nvPr/>
        </p:nvSpPr>
        <p:spPr>
          <a:xfrm>
            <a:off x="685800" y="178308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32104" y="1956816"/>
            <a:ext cx="475488" cy="47548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 y="201168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1</a:t>
            </a:r>
          </a:p>
        </p:txBody>
      </p:sp>
      <p:sp>
        <p:nvSpPr>
          <p:cNvPr id="16" name="TextBox 15"/>
          <p:cNvSpPr txBox="1"/>
          <p:nvPr/>
        </p:nvSpPr>
        <p:spPr>
          <a:xfrm>
            <a:off x="1453895" y="192938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How it works</a:t>
            </a:r>
          </a:p>
        </p:txBody>
      </p:sp>
      <p:sp>
        <p:nvSpPr>
          <p:cNvPr id="17" name="TextBox 16"/>
          <p:cNvSpPr txBox="1"/>
          <p:nvPr/>
        </p:nvSpPr>
        <p:spPr>
          <a:xfrm>
            <a:off x="1453895" y="222199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Relative size signals importance; visual mass and common edges stabilise the composition.</a:t>
            </a:r>
          </a:p>
        </p:txBody>
      </p:sp>
      <p:sp>
        <p:nvSpPr>
          <p:cNvPr id="18" name="Rounded Rectangle 17"/>
          <p:cNvSpPr/>
          <p:nvPr/>
        </p:nvSpPr>
        <p:spPr>
          <a:xfrm>
            <a:off x="685800" y="288036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32104" y="3054096"/>
            <a:ext cx="475488" cy="47548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 y="310896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2</a:t>
            </a:r>
          </a:p>
        </p:txBody>
      </p:sp>
      <p:sp>
        <p:nvSpPr>
          <p:cNvPr id="21" name="TextBox 20"/>
          <p:cNvSpPr txBox="1"/>
          <p:nvPr/>
        </p:nvSpPr>
        <p:spPr>
          <a:xfrm>
            <a:off x="1453895" y="302666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Best used for</a:t>
            </a:r>
          </a:p>
        </p:txBody>
      </p:sp>
      <p:sp>
        <p:nvSpPr>
          <p:cNvPr id="22" name="TextBox 21"/>
          <p:cNvSpPr txBox="1"/>
          <p:nvPr/>
        </p:nvSpPr>
        <p:spPr>
          <a:xfrm>
            <a:off x="1453895" y="331927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Combining generated imagery with typography or brand elements.</a:t>
            </a:r>
          </a:p>
        </p:txBody>
      </p:sp>
      <p:sp>
        <p:nvSpPr>
          <p:cNvPr id="23" name="Rounded Rectangle 22"/>
          <p:cNvSpPr/>
          <p:nvPr/>
        </p:nvSpPr>
        <p:spPr>
          <a:xfrm>
            <a:off x="685800" y="3977639"/>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32104" y="4151376"/>
            <a:ext cx="475488" cy="47548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2104" y="420624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3</a:t>
            </a:r>
          </a:p>
        </p:txBody>
      </p:sp>
      <p:sp>
        <p:nvSpPr>
          <p:cNvPr id="26" name="TextBox 25"/>
          <p:cNvSpPr txBox="1"/>
          <p:nvPr/>
        </p:nvSpPr>
        <p:spPr>
          <a:xfrm>
            <a:off x="1453895" y="412394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Professional decision</a:t>
            </a:r>
          </a:p>
        </p:txBody>
      </p:sp>
      <p:sp>
        <p:nvSpPr>
          <p:cNvPr id="27" name="TextBox 26"/>
          <p:cNvSpPr txBox="1"/>
          <p:nvPr/>
        </p:nvSpPr>
        <p:spPr>
          <a:xfrm>
            <a:off x="1453895" y="441655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Choose this method when its content model and edge behaviour fit the brief.</a:t>
            </a:r>
          </a:p>
        </p:txBody>
      </p:sp>
      <p:sp>
        <p:nvSpPr>
          <p:cNvPr id="28" name="Rounded Rectangle 27"/>
          <p:cNvSpPr/>
          <p:nvPr/>
        </p:nvSpPr>
        <p:spPr>
          <a:xfrm>
            <a:off x="685800" y="507492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32104" y="5248656"/>
            <a:ext cx="475488" cy="47548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2104" y="530352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4</a:t>
            </a:r>
          </a:p>
        </p:txBody>
      </p:sp>
      <p:sp>
        <p:nvSpPr>
          <p:cNvPr id="31" name="TextBox 30"/>
          <p:cNvSpPr txBox="1"/>
          <p:nvPr/>
        </p:nvSpPr>
        <p:spPr>
          <a:xfrm>
            <a:off x="1453895" y="522122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Quality signal</a:t>
            </a:r>
          </a:p>
        </p:txBody>
      </p:sp>
      <p:sp>
        <p:nvSpPr>
          <p:cNvPr id="32" name="TextBox 31"/>
          <p:cNvSpPr txBox="1"/>
          <p:nvPr/>
        </p:nvSpPr>
        <p:spPr>
          <a:xfrm>
            <a:off x="1453895" y="551383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Guides and a reduced-size review confirm balance across the frame.</a:t>
            </a:r>
          </a:p>
        </p:txBody>
      </p:sp>
    </p:spTree>
  </p:cSld>
  <p:transition spd="med" advClick="1">
    <p:fade/>
  </p:transition>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Scale, Balance and Alignment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48</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Scale ratio · visual weight · grid · edge alignment · safe area</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Centred-by-default layouts or tangencies that feel accidental.</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Guides and a reduced-size review confirm balance across the frame.</a:t>
            </a:r>
          </a:p>
        </p:txBody>
      </p:sp>
      <p:sp>
        <p:nvSpPr>
          <p:cNvPr id="23" name="Rounded Rectangle 22"/>
          <p:cNvSpPr/>
          <p:nvPr/>
        </p:nvSpPr>
        <p:spPr>
          <a:xfrm>
            <a:off x="685800" y="5349240"/>
            <a:ext cx="10771632" cy="65836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Worked Artifact · Scale, Balance and Alignment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49</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Combining generated imagery with typography or brand elements.</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B8D9"/>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Scale ratio · visual weight · grid · edge alignment · safe area</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Centred-by-default layouts or tangencies that feel accidental.</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7C3AED"/>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Guides and a reduced-size review confirm balance across the frame.</a:t>
            </a:r>
          </a:p>
        </p:txBody>
      </p:sp>
      <p:sp>
        <p:nvSpPr>
          <p:cNvPr id="30" name="Rounded Rectangle 29"/>
          <p:cNvSpPr/>
          <p:nvPr/>
        </p:nvSpPr>
        <p:spPr>
          <a:xfrm>
            <a:off x="804672" y="5532120"/>
            <a:ext cx="10561320" cy="530352"/>
          </a:xfrm>
          <a:prstGeom prst="roundRect">
            <a:avLst/>
          </a:prstGeom>
          <a:solidFill>
            <a:srgbClr val="FFFFFF"/>
          </a:solidFill>
          <a:ln>
            <a:solidFill>
              <a:srgbClr val="224AF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224AF4"/>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Annotated Decision Model · Scale, Balance and Alignment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50</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Scale ratio</a:t>
            </a:r>
          </a:p>
        </p:txBody>
      </p:sp>
      <p:sp>
        <p:nvSpPr>
          <p:cNvPr id="16" name="Rounded Rectangle 15"/>
          <p:cNvSpPr/>
          <p:nvPr/>
        </p:nvSpPr>
        <p:spPr>
          <a:xfrm>
            <a:off x="896112" y="3099816"/>
            <a:ext cx="384048" cy="38404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visual weight</a:t>
            </a:r>
          </a:p>
        </p:txBody>
      </p:sp>
      <p:sp>
        <p:nvSpPr>
          <p:cNvPr id="19" name="Rounded Rectangle 18"/>
          <p:cNvSpPr/>
          <p:nvPr/>
        </p:nvSpPr>
        <p:spPr>
          <a:xfrm>
            <a:off x="896112" y="3685032"/>
            <a:ext cx="384048" cy="38404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grid</a:t>
            </a:r>
          </a:p>
        </p:txBody>
      </p:sp>
      <p:sp>
        <p:nvSpPr>
          <p:cNvPr id="22" name="Rounded Rectangle 21"/>
          <p:cNvSpPr/>
          <p:nvPr/>
        </p:nvSpPr>
        <p:spPr>
          <a:xfrm>
            <a:off x="896112" y="4270248"/>
            <a:ext cx="384048"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edge alignment</a:t>
            </a:r>
          </a:p>
        </p:txBody>
      </p:sp>
      <p:sp>
        <p:nvSpPr>
          <p:cNvPr id="25" name="Rounded Rectangle 24"/>
          <p:cNvSpPr/>
          <p:nvPr/>
        </p:nvSpPr>
        <p:spPr>
          <a:xfrm>
            <a:off x="896112" y="4855464"/>
            <a:ext cx="384048" cy="38404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19472"/>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5</a:t>
            </a:r>
          </a:p>
        </p:txBody>
      </p:sp>
      <p:sp>
        <p:nvSpPr>
          <p:cNvPr id="27" name="TextBox 26"/>
          <p:cNvSpPr txBox="1"/>
          <p:nvPr/>
        </p:nvSpPr>
        <p:spPr>
          <a:xfrm>
            <a:off x="1408176" y="4873752"/>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safe area</a:t>
            </a:r>
          </a:p>
        </p:txBody>
      </p:sp>
      <p:sp>
        <p:nvSpPr>
          <p:cNvPr id="28" name="Rounded Rectangle 27"/>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00B8D9"/>
                </a:solidFill>
                <a:latin typeface="Arial"/>
              </a:rPr>
              <a:t>EDITABLE CANVAS / OUTPUT STATE</a:t>
            </a:r>
          </a:p>
        </p:txBody>
      </p:sp>
      <p:sp>
        <p:nvSpPr>
          <p:cNvPr id="31" name="TextBox 30"/>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Relative size signals importance; visual mass and common edges stabilise the composition.</a:t>
            </a:r>
          </a:p>
        </p:txBody>
      </p:sp>
      <p:sp>
        <p:nvSpPr>
          <p:cNvPr id="32" name="Rounded Rectangle 31"/>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4" name="Rounded Rectangle 33"/>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00B8D9"/>
                </a:solidFill>
                <a:latin typeface="Arial"/>
              </a:rPr>
              <a:t>PROOF PANEL</a:t>
            </a:r>
          </a:p>
        </p:txBody>
      </p:sp>
      <p:sp>
        <p:nvSpPr>
          <p:cNvPr id="36" name="TextBox 35"/>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Guides and a reduced-size review confirm balance across the frame.</a:t>
            </a:r>
          </a:p>
        </p:txBody>
      </p:sp>
      <p:sp>
        <p:nvSpPr>
          <p:cNvPr id="37" name="TextBox 36"/>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Diagnostic · Scale, Balance and Alignment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51</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Centred-by-default layouts or tangencies that feel accidental.</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Scale ratio · visual weight · grid · edge alignment · safe area.</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Guides and a reduced-size review confirm balance across the frame.</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E11D74"/>
                </a:solidFill>
                <a:latin typeface="Arial"/>
              </a:rPr>
              <a:t>Accept only when the defect is reduced and protected content remains intact.</a:t>
            </a:r>
          </a:p>
        </p:txBody>
      </p:sp>
    </p:spTree>
  </p:cSld>
  <p:transition spd="med" advClick="1">
    <p:fade/>
  </p:transition>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CONCEPT 07 · AUTHENTIC ASSET + EDITABLE ANNOTATIONS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Contrast, Repetition and Negative Space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52</a:t>
            </a:r>
          </a:p>
        </p:txBody>
      </p:sp>
      <p:sp>
        <p:nvSpPr>
          <p:cNvPr id="11" name="Rounded Rectangle 10"/>
          <p:cNvSpPr/>
          <p:nvPr/>
        </p:nvSpPr>
        <p:spPr>
          <a:xfrm>
            <a:off x="685800" y="1755648"/>
            <a:ext cx="4828032" cy="4443984"/>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andscape-start.jpeg"/>
          <p:cNvPicPr>
            <a:picLocks noChangeAspect="1"/>
          </p:cNvPicPr>
          <p:nvPr/>
        </p:nvPicPr>
        <p:blipFill>
          <a:blip r:embed="rId2"/>
          <a:srcRect l="19474" r="19474"/>
          <a:stretch>
            <a:fillRect/>
          </a:stretch>
        </p:blipFill>
        <p:spPr>
          <a:xfrm>
            <a:off x="758952" y="1828800"/>
            <a:ext cx="4681728" cy="4297680"/>
          </a:xfrm>
          <a:prstGeom prst="rect">
            <a:avLst/>
          </a:prstGeom>
        </p:spPr>
      </p:pic>
      <p:sp>
        <p:nvSpPr>
          <p:cNvPr id="13" name="Rounded Rectangle 12"/>
          <p:cNvSpPr/>
          <p:nvPr/>
        </p:nvSpPr>
        <p:spPr>
          <a:xfrm>
            <a:off x="5742432" y="178308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888736" y="1956816"/>
            <a:ext cx="475488" cy="47548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88736" y="201168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1</a:t>
            </a:r>
          </a:p>
        </p:txBody>
      </p:sp>
      <p:sp>
        <p:nvSpPr>
          <p:cNvPr id="16" name="TextBox 15"/>
          <p:cNvSpPr txBox="1"/>
          <p:nvPr/>
        </p:nvSpPr>
        <p:spPr>
          <a:xfrm>
            <a:off x="6510528" y="192938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How it works</a:t>
            </a:r>
          </a:p>
        </p:txBody>
      </p:sp>
      <p:sp>
        <p:nvSpPr>
          <p:cNvPr id="17" name="TextBox 16"/>
          <p:cNvSpPr txBox="1"/>
          <p:nvPr/>
        </p:nvSpPr>
        <p:spPr>
          <a:xfrm>
            <a:off x="6510528" y="222199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Contrast separates roles, repetition creates coherence and negative space gives the message room to breathe.</a:t>
            </a:r>
          </a:p>
        </p:txBody>
      </p:sp>
      <p:sp>
        <p:nvSpPr>
          <p:cNvPr id="18" name="Rounded Rectangle 17"/>
          <p:cNvSpPr/>
          <p:nvPr/>
        </p:nvSpPr>
        <p:spPr>
          <a:xfrm>
            <a:off x="5742432" y="288036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888736" y="3054096"/>
            <a:ext cx="475488" cy="47548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88736" y="310896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2</a:t>
            </a:r>
          </a:p>
        </p:txBody>
      </p:sp>
      <p:sp>
        <p:nvSpPr>
          <p:cNvPr id="21" name="TextBox 20"/>
          <p:cNvSpPr txBox="1"/>
          <p:nvPr/>
        </p:nvSpPr>
        <p:spPr>
          <a:xfrm>
            <a:off x="6510528" y="302666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Best used for</a:t>
            </a:r>
          </a:p>
        </p:txBody>
      </p:sp>
      <p:sp>
        <p:nvSpPr>
          <p:cNvPr id="22" name="TextBox 21"/>
          <p:cNvSpPr txBox="1"/>
          <p:nvPr/>
        </p:nvSpPr>
        <p:spPr>
          <a:xfrm>
            <a:off x="6510528" y="331927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Social tiles, posters and storyboard frames that must scan quickly.</a:t>
            </a:r>
          </a:p>
        </p:txBody>
      </p:sp>
      <p:sp>
        <p:nvSpPr>
          <p:cNvPr id="23" name="Rounded Rectangle 22"/>
          <p:cNvSpPr/>
          <p:nvPr/>
        </p:nvSpPr>
        <p:spPr>
          <a:xfrm>
            <a:off x="5742432" y="3977639"/>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888736" y="4151376"/>
            <a:ext cx="475488" cy="47548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88736" y="420624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3</a:t>
            </a:r>
          </a:p>
        </p:txBody>
      </p:sp>
      <p:sp>
        <p:nvSpPr>
          <p:cNvPr id="26" name="TextBox 25"/>
          <p:cNvSpPr txBox="1"/>
          <p:nvPr/>
        </p:nvSpPr>
        <p:spPr>
          <a:xfrm>
            <a:off x="6510528" y="412394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Professional decision</a:t>
            </a:r>
          </a:p>
        </p:txBody>
      </p:sp>
      <p:sp>
        <p:nvSpPr>
          <p:cNvPr id="27" name="TextBox 26"/>
          <p:cNvSpPr txBox="1"/>
          <p:nvPr/>
        </p:nvSpPr>
        <p:spPr>
          <a:xfrm>
            <a:off x="6510528" y="441655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Choose this method when its content model and edge behaviour fit the brief.</a:t>
            </a:r>
          </a:p>
        </p:txBody>
      </p:sp>
      <p:sp>
        <p:nvSpPr>
          <p:cNvPr id="28" name="Rounded Rectangle 27"/>
          <p:cNvSpPr/>
          <p:nvPr/>
        </p:nvSpPr>
        <p:spPr>
          <a:xfrm>
            <a:off x="5742432" y="507492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888736" y="5248656"/>
            <a:ext cx="475488" cy="47548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88736" y="530352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4</a:t>
            </a:r>
          </a:p>
        </p:txBody>
      </p:sp>
      <p:sp>
        <p:nvSpPr>
          <p:cNvPr id="31" name="TextBox 30"/>
          <p:cNvSpPr txBox="1"/>
          <p:nvPr/>
        </p:nvSpPr>
        <p:spPr>
          <a:xfrm>
            <a:off x="6510528" y="522122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Quality signal</a:t>
            </a:r>
          </a:p>
        </p:txBody>
      </p:sp>
      <p:sp>
        <p:nvSpPr>
          <p:cNvPr id="32" name="TextBox 31"/>
          <p:cNvSpPr txBox="1"/>
          <p:nvPr/>
        </p:nvSpPr>
        <p:spPr>
          <a:xfrm>
            <a:off x="6510528" y="551383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Grayscale and thumbnail checks confirm separation and rhythm.</a:t>
            </a:r>
          </a:p>
        </p:txBody>
      </p:sp>
    </p:spTree>
  </p:cSld>
  <p:transition spd="med" advClick="1">
    <p:fade/>
  </p:transition>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Contrast, Repetition and Negative Space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53</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Value contrast · colour contrast · repeated motif · breathing room</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Decorative repetition that overwhelms the subject.</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Grayscale and thumbnail checks confirm separation and rhythm.</a:t>
            </a:r>
          </a:p>
        </p:txBody>
      </p:sp>
      <p:sp>
        <p:nvSpPr>
          <p:cNvPr id="23" name="Rounded Rectangle 22"/>
          <p:cNvSpPr/>
          <p:nvPr/>
        </p:nvSpPr>
        <p:spPr>
          <a:xfrm>
            <a:off x="685800" y="5349240"/>
            <a:ext cx="10771632" cy="65836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Worked Artifact · Contrast, Repetition and Negative Space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54</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B8D9"/>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Social tiles, posters and storyboard frames that must scan quickly.</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Value contrast · colour contrast · repeated motif · breathing room</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7C3AED"/>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Decorative repetition that overwhelms the subject.</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Grayscale and thumbnail checks confirm separation and rhythm.</a:t>
            </a:r>
          </a:p>
        </p:txBody>
      </p:sp>
      <p:sp>
        <p:nvSpPr>
          <p:cNvPr id="30" name="Rounded Rectangle 29"/>
          <p:cNvSpPr/>
          <p:nvPr/>
        </p:nvSpPr>
        <p:spPr>
          <a:xfrm>
            <a:off x="804672" y="5532120"/>
            <a:ext cx="10561320" cy="530352"/>
          </a:xfrm>
          <a:prstGeom prst="roundRect">
            <a:avLst/>
          </a:prstGeom>
          <a:solidFill>
            <a:srgbClr val="FFFFFF"/>
          </a:solidFill>
          <a:ln>
            <a:solidFill>
              <a:srgbClr val="00B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00B8D9"/>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Annotated Decision Model · Contrast, Repetition and Negative Space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55</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Value contrast</a:t>
            </a:r>
          </a:p>
        </p:txBody>
      </p:sp>
      <p:sp>
        <p:nvSpPr>
          <p:cNvPr id="16" name="Rounded Rectangle 15"/>
          <p:cNvSpPr/>
          <p:nvPr/>
        </p:nvSpPr>
        <p:spPr>
          <a:xfrm>
            <a:off x="896112" y="3099816"/>
            <a:ext cx="384048" cy="38404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colour contrast</a:t>
            </a:r>
          </a:p>
        </p:txBody>
      </p:sp>
      <p:sp>
        <p:nvSpPr>
          <p:cNvPr id="19" name="Rounded Rectangle 18"/>
          <p:cNvSpPr/>
          <p:nvPr/>
        </p:nvSpPr>
        <p:spPr>
          <a:xfrm>
            <a:off x="896112" y="3685032"/>
            <a:ext cx="384048"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repeated motif</a:t>
            </a:r>
          </a:p>
        </p:txBody>
      </p:sp>
      <p:sp>
        <p:nvSpPr>
          <p:cNvPr id="22" name="Rounded Rectangle 21"/>
          <p:cNvSpPr/>
          <p:nvPr/>
        </p:nvSpPr>
        <p:spPr>
          <a:xfrm>
            <a:off x="896112" y="4270248"/>
            <a:ext cx="384048" cy="38404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breathing room</a:t>
            </a:r>
          </a:p>
        </p:txBody>
      </p:sp>
      <p:sp>
        <p:nvSpPr>
          <p:cNvPr id="25" name="Rounded Rectangle 24"/>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E11D74"/>
                </a:solidFill>
                <a:latin typeface="Arial"/>
              </a:rPr>
              <a:t>EDITABLE CANVAS / OUTPUT STATE</a:t>
            </a:r>
          </a:p>
        </p:txBody>
      </p:sp>
      <p:sp>
        <p:nvSpPr>
          <p:cNvPr id="28" name="TextBox 27"/>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Contrast separates roles, repetition creates coherence and negative space gives the message room to breathe.</a:t>
            </a:r>
          </a:p>
        </p:txBody>
      </p:sp>
      <p:sp>
        <p:nvSpPr>
          <p:cNvPr id="29" name="Rounded Rectangle 28"/>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1" name="Rounded Rectangle 30"/>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E11D74"/>
                </a:solidFill>
                <a:latin typeface="Arial"/>
              </a:rPr>
              <a:t>PROOF PANEL</a:t>
            </a:r>
          </a:p>
        </p:txBody>
      </p:sp>
      <p:sp>
        <p:nvSpPr>
          <p:cNvPr id="33" name="TextBox 32"/>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Grayscale and thumbnail checks confirm separation and rhythm.</a:t>
            </a:r>
          </a:p>
        </p:txBody>
      </p:sp>
      <p:sp>
        <p:nvSpPr>
          <p:cNvPr id="34" name="TextBox 33"/>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Diagnostic · Contrast, Repetition and Negative Space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56</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Decorative repetition that overwhelms the subject.</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Value contrast · colour contrast · repeated motif · breathing room.</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Grayscale and thumbnail checks confirm separation and rhythm.</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7C3AED"/>
                </a:solidFill>
                <a:latin typeface="Arial"/>
              </a:rPr>
              <a:t>Accept only when the defect is reduced and protected content remains intact.</a:t>
            </a:r>
          </a:p>
        </p:txBody>
      </p:sp>
    </p:spTree>
  </p:cSld>
  <p:transition spd="med" advClick="1">
    <p:fade/>
  </p:transition>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CONCEPT 08 · AUTHENTIC ASSET + EDITABLE ANNOTATIONS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Audience, Story and Responsible Provenance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Content Credentials</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57</a:t>
            </a:r>
          </a:p>
        </p:txBody>
      </p:sp>
      <p:sp>
        <p:nvSpPr>
          <p:cNvPr id="11" name="Rounded Rectangle 10"/>
          <p:cNvSpPr/>
          <p:nvPr/>
        </p:nvSpPr>
        <p:spPr>
          <a:xfrm>
            <a:off x="6675120" y="1755648"/>
            <a:ext cx="4828032" cy="4443984"/>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erence.jpeg"/>
          <p:cNvPicPr>
            <a:picLocks noChangeAspect="1"/>
          </p:cNvPicPr>
          <p:nvPr/>
        </p:nvPicPr>
        <p:blipFill>
          <a:blip r:embed="rId2"/>
          <a:srcRect l="6639" r="6639"/>
          <a:stretch>
            <a:fillRect/>
          </a:stretch>
        </p:blipFill>
        <p:spPr>
          <a:xfrm>
            <a:off x="6748272" y="1828800"/>
            <a:ext cx="4681728" cy="4297680"/>
          </a:xfrm>
          <a:prstGeom prst="rect">
            <a:avLst/>
          </a:prstGeom>
        </p:spPr>
      </p:pic>
      <p:sp>
        <p:nvSpPr>
          <p:cNvPr id="13" name="Rounded Rectangle 12"/>
          <p:cNvSpPr/>
          <p:nvPr/>
        </p:nvSpPr>
        <p:spPr>
          <a:xfrm>
            <a:off x="685800" y="178308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32104" y="1956816"/>
            <a:ext cx="475488" cy="47548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 y="201168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1</a:t>
            </a:r>
          </a:p>
        </p:txBody>
      </p:sp>
      <p:sp>
        <p:nvSpPr>
          <p:cNvPr id="16" name="TextBox 15"/>
          <p:cNvSpPr txBox="1"/>
          <p:nvPr/>
        </p:nvSpPr>
        <p:spPr>
          <a:xfrm>
            <a:off x="1453895" y="192938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How it works</a:t>
            </a:r>
          </a:p>
        </p:txBody>
      </p:sp>
      <p:sp>
        <p:nvSpPr>
          <p:cNvPr id="17" name="TextBox 16"/>
          <p:cNvSpPr txBox="1"/>
          <p:nvPr/>
        </p:nvSpPr>
        <p:spPr>
          <a:xfrm>
            <a:off x="1453895" y="222199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A visual is credible when its message fits the audience and its source, prompts and edits remain explainable.</a:t>
            </a:r>
          </a:p>
        </p:txBody>
      </p:sp>
      <p:sp>
        <p:nvSpPr>
          <p:cNvPr id="18" name="Rounded Rectangle 17"/>
          <p:cNvSpPr/>
          <p:nvPr/>
        </p:nvSpPr>
        <p:spPr>
          <a:xfrm>
            <a:off x="685800" y="288036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32104" y="3054096"/>
            <a:ext cx="475488" cy="47548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 y="310896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2</a:t>
            </a:r>
          </a:p>
        </p:txBody>
      </p:sp>
      <p:sp>
        <p:nvSpPr>
          <p:cNvPr id="21" name="TextBox 20"/>
          <p:cNvSpPr txBox="1"/>
          <p:nvPr/>
        </p:nvSpPr>
        <p:spPr>
          <a:xfrm>
            <a:off x="1453895" y="302666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Best used for</a:t>
            </a:r>
          </a:p>
        </p:txBody>
      </p:sp>
      <p:sp>
        <p:nvSpPr>
          <p:cNvPr id="22" name="TextBox 21"/>
          <p:cNvSpPr txBox="1"/>
          <p:nvPr/>
        </p:nvSpPr>
        <p:spPr>
          <a:xfrm>
            <a:off x="1453895" y="331927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Commercial, organisational and public-facing visual communication.</a:t>
            </a:r>
          </a:p>
        </p:txBody>
      </p:sp>
      <p:sp>
        <p:nvSpPr>
          <p:cNvPr id="23" name="Rounded Rectangle 22"/>
          <p:cNvSpPr/>
          <p:nvPr/>
        </p:nvSpPr>
        <p:spPr>
          <a:xfrm>
            <a:off x="685800" y="3977639"/>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32104" y="4151376"/>
            <a:ext cx="475488" cy="47548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2104" y="420624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3</a:t>
            </a:r>
          </a:p>
        </p:txBody>
      </p:sp>
      <p:sp>
        <p:nvSpPr>
          <p:cNvPr id="26" name="TextBox 25"/>
          <p:cNvSpPr txBox="1"/>
          <p:nvPr/>
        </p:nvSpPr>
        <p:spPr>
          <a:xfrm>
            <a:off x="1453895" y="412394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Professional decision</a:t>
            </a:r>
          </a:p>
        </p:txBody>
      </p:sp>
      <p:sp>
        <p:nvSpPr>
          <p:cNvPr id="27" name="TextBox 26"/>
          <p:cNvSpPr txBox="1"/>
          <p:nvPr/>
        </p:nvSpPr>
        <p:spPr>
          <a:xfrm>
            <a:off x="1453895" y="441655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Choose this method when its content model and edge behaviour fit the brief.</a:t>
            </a:r>
          </a:p>
        </p:txBody>
      </p:sp>
      <p:sp>
        <p:nvSpPr>
          <p:cNvPr id="28" name="Rounded Rectangle 27"/>
          <p:cNvSpPr/>
          <p:nvPr/>
        </p:nvSpPr>
        <p:spPr>
          <a:xfrm>
            <a:off x="685800" y="507492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32104" y="5248656"/>
            <a:ext cx="475488" cy="47548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2104" y="530352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4</a:t>
            </a:r>
          </a:p>
        </p:txBody>
      </p:sp>
      <p:sp>
        <p:nvSpPr>
          <p:cNvPr id="31" name="TextBox 30"/>
          <p:cNvSpPr txBox="1"/>
          <p:nvPr/>
        </p:nvSpPr>
        <p:spPr>
          <a:xfrm>
            <a:off x="1453895" y="522122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Quality signal</a:t>
            </a:r>
          </a:p>
        </p:txBody>
      </p:sp>
      <p:sp>
        <p:nvSpPr>
          <p:cNvPr id="32" name="TextBox 31"/>
          <p:cNvSpPr txBox="1"/>
          <p:nvPr/>
        </p:nvSpPr>
        <p:spPr>
          <a:xfrm>
            <a:off x="1453895" y="551383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A provenance note accompanies the editable master and export.</a:t>
            </a:r>
          </a:p>
        </p:txBody>
      </p:sp>
    </p:spTree>
  </p:cSld>
  <p:transition spd="med" advClick="1">
    <p:fade/>
  </p:transition>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Audience, Story and Responsible Provenance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Content Credentials</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58</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Audience need · claim risk · asset rights · prompt log · Content Credentials</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Misleading realism, unlicensed references or unsupported claims.</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A provenance note accompanies the editable master and export.</a:t>
            </a:r>
          </a:p>
        </p:txBody>
      </p:sp>
      <p:sp>
        <p:nvSpPr>
          <p:cNvPr id="23" name="Rounded Rectangle 22"/>
          <p:cNvSpPr/>
          <p:nvPr/>
        </p:nvSpPr>
        <p:spPr>
          <a:xfrm>
            <a:off x="685800" y="5349240"/>
            <a:ext cx="10771632" cy="65836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Worked Artifact · Audience, Story and Responsible Provenance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Content Credentials</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59</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Commercial, organisational and public-facing visual communication.</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7C3AED"/>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Audience need · claim risk · asset rights · prompt log · Content Credentials</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Misleading realism, unlicensed references or unsupported claims.</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98500"/>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A provenance note accompanies the editable master and export.</a:t>
            </a:r>
          </a:p>
        </p:txBody>
      </p:sp>
      <p:sp>
        <p:nvSpPr>
          <p:cNvPr id="30" name="Rounded Rectangle 29"/>
          <p:cNvSpPr/>
          <p:nvPr/>
        </p:nvSpPr>
        <p:spPr>
          <a:xfrm>
            <a:off x="804672" y="5532120"/>
            <a:ext cx="10561320" cy="530352"/>
          </a:xfrm>
          <a:prstGeom prst="roundRect">
            <a:avLst/>
          </a:prstGeom>
          <a:solidFill>
            <a:srgbClr val="FFFFFF"/>
          </a:solidFill>
          <a:ln>
            <a:solidFill>
              <a:srgbClr val="E11D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E11D74"/>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Annotated Decision Model · Audience, Story and Responsible Provenance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Content Credentials</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60</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Audience need</a:t>
            </a:r>
          </a:p>
        </p:txBody>
      </p:sp>
      <p:sp>
        <p:nvSpPr>
          <p:cNvPr id="16" name="Rounded Rectangle 15"/>
          <p:cNvSpPr/>
          <p:nvPr/>
        </p:nvSpPr>
        <p:spPr>
          <a:xfrm>
            <a:off x="896112" y="3099816"/>
            <a:ext cx="384048"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claim risk</a:t>
            </a:r>
          </a:p>
        </p:txBody>
      </p:sp>
      <p:sp>
        <p:nvSpPr>
          <p:cNvPr id="19" name="Rounded Rectangle 18"/>
          <p:cNvSpPr/>
          <p:nvPr/>
        </p:nvSpPr>
        <p:spPr>
          <a:xfrm>
            <a:off x="896112" y="3685032"/>
            <a:ext cx="384048" cy="38404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asset rights</a:t>
            </a:r>
          </a:p>
        </p:txBody>
      </p:sp>
      <p:sp>
        <p:nvSpPr>
          <p:cNvPr id="22" name="Rounded Rectangle 21"/>
          <p:cNvSpPr/>
          <p:nvPr/>
        </p:nvSpPr>
        <p:spPr>
          <a:xfrm>
            <a:off x="896112" y="4270248"/>
            <a:ext cx="384048" cy="38404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prompt log</a:t>
            </a:r>
          </a:p>
        </p:txBody>
      </p:sp>
      <p:sp>
        <p:nvSpPr>
          <p:cNvPr id="25" name="Rounded Rectangle 24"/>
          <p:cNvSpPr/>
          <p:nvPr/>
        </p:nvSpPr>
        <p:spPr>
          <a:xfrm>
            <a:off x="896112" y="4855464"/>
            <a:ext cx="384048" cy="38404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19472"/>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5</a:t>
            </a:r>
          </a:p>
        </p:txBody>
      </p:sp>
      <p:sp>
        <p:nvSpPr>
          <p:cNvPr id="27" name="TextBox 26"/>
          <p:cNvSpPr txBox="1"/>
          <p:nvPr/>
        </p:nvSpPr>
        <p:spPr>
          <a:xfrm>
            <a:off x="1408176" y="4873752"/>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Content Credentials</a:t>
            </a:r>
          </a:p>
        </p:txBody>
      </p:sp>
      <p:sp>
        <p:nvSpPr>
          <p:cNvPr id="28" name="Rounded Rectangle 27"/>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7C3AED"/>
                </a:solidFill>
                <a:latin typeface="Arial"/>
              </a:rPr>
              <a:t>EDITABLE CANVAS / OUTPUT STATE</a:t>
            </a:r>
          </a:p>
        </p:txBody>
      </p:sp>
      <p:sp>
        <p:nvSpPr>
          <p:cNvPr id="31" name="TextBox 30"/>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A visual is credible when its message fits the audience and its source, prompts and edits remain explainable.</a:t>
            </a:r>
          </a:p>
        </p:txBody>
      </p:sp>
      <p:sp>
        <p:nvSpPr>
          <p:cNvPr id="32" name="Rounded Rectangle 31"/>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4" name="Rounded Rectangle 33"/>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7C3AED"/>
                </a:solidFill>
                <a:latin typeface="Arial"/>
              </a:rPr>
              <a:t>PROOF PANEL</a:t>
            </a:r>
          </a:p>
        </p:txBody>
      </p:sp>
      <p:sp>
        <p:nvSpPr>
          <p:cNvPr id="36" name="TextBox 35"/>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A provenance note accompanies the editable master and export.</a:t>
            </a:r>
          </a:p>
        </p:txBody>
      </p:sp>
      <p:sp>
        <p:nvSpPr>
          <p:cNvPr id="37" name="TextBox 36"/>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Diagnostic · Audience, Story and Responsible Provenance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Content Credentials</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61</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Misleading realism, unlicensed references or unsupported claims.</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Audience need · claim risk · asset rights · prompt log · Content Credentials.</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A provenance note accompanies the editable master and export.</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Accept only when the defect is reduced and protected content remains intact.</a:t>
            </a:r>
          </a:p>
        </p:txBody>
      </p:sp>
    </p:spTree>
  </p:cSld>
  <p:transition spd="med" advClick="1">
    <p:fade/>
  </p:transition>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HANDS-ON APPLICATION · TOPIC 1</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Lab 01 · Prompt-to-Image Visual Brief</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62</a:t>
            </a:r>
          </a:p>
        </p:txBody>
      </p:sp>
      <p:sp>
        <p:nvSpPr>
          <p:cNvPr id="10" name="Rounded Rectangle 9"/>
          <p:cNvSpPr/>
          <p:nvPr/>
        </p:nvSpPr>
        <p:spPr>
          <a:xfrm>
            <a:off x="685800" y="1755648"/>
            <a:ext cx="3749039" cy="4462272"/>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irefly_a dog reading a book while sitting at a desk by candle light, while wearing glasses,  120801.jpg"/>
          <p:cNvPicPr>
            <a:picLocks noChangeAspect="1"/>
          </p:cNvPicPr>
          <p:nvPr/>
        </p:nvPicPr>
        <p:blipFill>
          <a:blip r:embed="rId2"/>
          <a:srcRect t="19402" b="19402"/>
          <a:stretch>
            <a:fillRect/>
          </a:stretch>
        </p:blipFill>
        <p:spPr>
          <a:xfrm>
            <a:off x="758952" y="1828800"/>
            <a:ext cx="3602736" cy="2834640"/>
          </a:xfrm>
          <a:prstGeom prst="rect">
            <a:avLst/>
          </a:prstGeom>
        </p:spPr>
      </p:pic>
      <p:sp>
        <p:nvSpPr>
          <p:cNvPr id="12" name="TextBox 11"/>
          <p:cNvSpPr txBox="1"/>
          <p:nvPr/>
        </p:nvSpPr>
        <p:spPr>
          <a:xfrm>
            <a:off x="914400" y="4892040"/>
            <a:ext cx="3246120" cy="1024128"/>
          </a:xfrm>
          <a:prstGeom prst="rect">
            <a:avLst/>
          </a:prstGeom>
          <a:noFill/>
        </p:spPr>
        <p:txBody>
          <a:bodyPr wrap="square" anchor="t" lIns="54864" rIns="54864" tIns="54864" bIns="54864">
            <a:spAutoFit/>
          </a:bodyPr>
          <a:lstStyle/>
          <a:p>
            <a:pPr algn="l">
              <a:spcAft>
                <a:spcPts val="0"/>
              </a:spcAft>
            </a:pPr>
            <a:r>
              <a:rPr sz="1220" b="0">
                <a:solidFill>
                  <a:srgbClr val="5B6372"/>
                </a:solidFill>
                <a:latin typeface="Arial"/>
              </a:rPr>
              <a:t>A reading campaign needs an imaginative hero image with clear copy space for a social tile.</a:t>
            </a:r>
          </a:p>
        </p:txBody>
      </p:sp>
      <p:sp>
        <p:nvSpPr>
          <p:cNvPr id="13" name="TextBox 12"/>
          <p:cNvSpPr txBox="1"/>
          <p:nvPr/>
        </p:nvSpPr>
        <p:spPr>
          <a:xfrm>
            <a:off x="4709160" y="1783080"/>
            <a:ext cx="6537960" cy="658368"/>
          </a:xfrm>
          <a:prstGeom prst="rect">
            <a:avLst/>
          </a:prstGeom>
          <a:noFill/>
        </p:spPr>
        <p:txBody>
          <a:bodyPr wrap="square" anchor="t" lIns="54864" rIns="54864" tIns="54864" bIns="54864">
            <a:spAutoFit/>
          </a:bodyPr>
          <a:lstStyle/>
          <a:p>
            <a:pPr algn="l">
              <a:spcAft>
                <a:spcPts val="0"/>
              </a:spcAft>
            </a:pPr>
            <a:r>
              <a:rPr sz="1500" b="1">
                <a:solidFill>
                  <a:srgbClr val="161920"/>
                </a:solidFill>
                <a:latin typeface="Arial"/>
              </a:rPr>
              <a:t>Translate an audience brief into a controlled Firefly prompt set and selected visual direction.</a:t>
            </a:r>
          </a:p>
        </p:txBody>
      </p:sp>
      <p:sp>
        <p:nvSpPr>
          <p:cNvPr id="14" name="Rounded Rectangle 13"/>
          <p:cNvSpPr/>
          <p:nvPr/>
        </p:nvSpPr>
        <p:spPr>
          <a:xfrm>
            <a:off x="470916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818888" y="2816352"/>
            <a:ext cx="402336" cy="402336"/>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888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1</a:t>
            </a:r>
          </a:p>
        </p:txBody>
      </p:sp>
      <p:sp>
        <p:nvSpPr>
          <p:cNvPr id="17" name="TextBox 16"/>
          <p:cNvSpPr txBox="1"/>
          <p:nvPr/>
        </p:nvSpPr>
        <p:spPr>
          <a:xfrm>
            <a:off x="4800600"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Analyse</a:t>
            </a:r>
          </a:p>
        </p:txBody>
      </p:sp>
      <p:sp>
        <p:nvSpPr>
          <p:cNvPr id="18" name="Rounded Rectangle 17"/>
          <p:cNvSpPr/>
          <p:nvPr/>
        </p:nvSpPr>
        <p:spPr>
          <a:xfrm>
            <a:off x="603504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144768" y="2816352"/>
            <a:ext cx="402336" cy="402336"/>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4476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2</a:t>
            </a:r>
          </a:p>
        </p:txBody>
      </p:sp>
      <p:sp>
        <p:nvSpPr>
          <p:cNvPr id="21" name="TextBox 20"/>
          <p:cNvSpPr txBox="1"/>
          <p:nvPr/>
        </p:nvSpPr>
        <p:spPr>
          <a:xfrm>
            <a:off x="6126479"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Choose</a:t>
            </a:r>
          </a:p>
        </p:txBody>
      </p:sp>
      <p:sp>
        <p:nvSpPr>
          <p:cNvPr id="22" name="Rounded Rectangle 21"/>
          <p:cNvSpPr/>
          <p:nvPr/>
        </p:nvSpPr>
        <p:spPr>
          <a:xfrm>
            <a:off x="736092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470648" y="2816352"/>
            <a:ext cx="402336" cy="402336"/>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7064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3</a:t>
            </a:r>
          </a:p>
        </p:txBody>
      </p:sp>
      <p:sp>
        <p:nvSpPr>
          <p:cNvPr id="25" name="TextBox 24"/>
          <p:cNvSpPr txBox="1"/>
          <p:nvPr/>
        </p:nvSpPr>
        <p:spPr>
          <a:xfrm>
            <a:off x="7452360"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Apply</a:t>
            </a:r>
          </a:p>
        </p:txBody>
      </p:sp>
      <p:sp>
        <p:nvSpPr>
          <p:cNvPr id="26" name="Rounded Rectangle 25"/>
          <p:cNvSpPr/>
          <p:nvPr/>
        </p:nvSpPr>
        <p:spPr>
          <a:xfrm>
            <a:off x="868680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796528" y="2816352"/>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9652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4</a:t>
            </a:r>
          </a:p>
        </p:txBody>
      </p:sp>
      <p:sp>
        <p:nvSpPr>
          <p:cNvPr id="29" name="TextBox 28"/>
          <p:cNvSpPr txBox="1"/>
          <p:nvPr/>
        </p:nvSpPr>
        <p:spPr>
          <a:xfrm>
            <a:off x="8778240"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Inspect</a:t>
            </a:r>
          </a:p>
        </p:txBody>
      </p:sp>
      <p:sp>
        <p:nvSpPr>
          <p:cNvPr id="30" name="Rounded Rectangle 29"/>
          <p:cNvSpPr/>
          <p:nvPr/>
        </p:nvSpPr>
        <p:spPr>
          <a:xfrm>
            <a:off x="1001268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22407" y="2816352"/>
            <a:ext cx="402336" cy="402336"/>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122407"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5</a:t>
            </a:r>
          </a:p>
        </p:txBody>
      </p:sp>
      <p:sp>
        <p:nvSpPr>
          <p:cNvPr id="33" name="TextBox 32"/>
          <p:cNvSpPr txBox="1"/>
          <p:nvPr/>
        </p:nvSpPr>
        <p:spPr>
          <a:xfrm>
            <a:off x="10104119"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Evidence</a:t>
            </a:r>
          </a:p>
        </p:txBody>
      </p:sp>
      <p:sp>
        <p:nvSpPr>
          <p:cNvPr id="34" name="Rounded Rectangle 33"/>
          <p:cNvSpPr/>
          <p:nvPr/>
        </p:nvSpPr>
        <p:spPr>
          <a:xfrm>
            <a:off x="4709160" y="4443984"/>
            <a:ext cx="6510528" cy="1216152"/>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0" y="4636008"/>
            <a:ext cx="1325880" cy="256032"/>
          </a:xfrm>
          <a:prstGeom prst="rect">
            <a:avLst/>
          </a:prstGeom>
          <a:noFill/>
        </p:spPr>
        <p:txBody>
          <a:bodyPr wrap="square" anchor="t" lIns="54864" rIns="54864" tIns="54864" bIns="54864">
            <a:spAutoFit/>
          </a:bodyPr>
          <a:lstStyle/>
          <a:p>
            <a:pPr algn="l">
              <a:spcAft>
                <a:spcPts val="0"/>
              </a:spcAft>
            </a:pPr>
            <a:r>
              <a:rPr sz="1050" b="1">
                <a:solidFill>
                  <a:srgbClr val="FFFFFF"/>
                </a:solidFill>
                <a:latin typeface="Arial"/>
              </a:rPr>
              <a:t>EVIDENCE</a:t>
            </a:r>
          </a:p>
        </p:txBody>
      </p:sp>
      <p:sp>
        <p:nvSpPr>
          <p:cNvPr id="36" name="TextBox 35"/>
          <p:cNvSpPr txBox="1"/>
          <p:nvPr/>
        </p:nvSpPr>
        <p:spPr>
          <a:xfrm>
            <a:off x="6144768" y="4572000"/>
            <a:ext cx="4828032" cy="731520"/>
          </a:xfrm>
          <a:prstGeom prst="rect">
            <a:avLst/>
          </a:prstGeom>
          <a:noFill/>
        </p:spPr>
        <p:txBody>
          <a:bodyPr wrap="square" anchor="t" lIns="54864" rIns="54864" tIns="54864" bIns="54864">
            <a:spAutoFit/>
          </a:bodyPr>
          <a:lstStyle/>
          <a:p>
            <a:pPr algn="l">
              <a:spcAft>
                <a:spcPts val="0"/>
              </a:spcAft>
            </a:pPr>
            <a:r>
              <a:rPr sz="1220" b="1">
                <a:solidFill>
                  <a:srgbClr val="FFFFFF"/>
                </a:solidFill>
                <a:latin typeface="Arial"/>
              </a:rPr>
              <a:t>Three prompt/result records, selected JPEG and decision log identifying A1 exploration and A2 integration decisions.</a:t>
            </a:r>
          </a:p>
        </p:txBody>
      </p:sp>
      <p:sp>
        <p:nvSpPr>
          <p:cNvPr id="37" name="TextBox 36"/>
          <p:cNvSpPr txBox="1"/>
          <p:nvPr/>
        </p:nvSpPr>
        <p:spPr>
          <a:xfrm>
            <a:off x="4800600" y="5833872"/>
            <a:ext cx="6309360" cy="274320"/>
          </a:xfrm>
          <a:prstGeom prst="rect">
            <a:avLst/>
          </a:prstGeom>
          <a:noFill/>
        </p:spPr>
        <p:txBody>
          <a:bodyPr wrap="square" anchor="t" lIns="54864" rIns="54864" tIns="54864" bIns="54864">
            <a:spAutoFit/>
          </a:bodyPr>
          <a:lstStyle/>
          <a:p>
            <a:pPr algn="l">
              <a:spcAft>
                <a:spcPts val="0"/>
              </a:spcAft>
            </a:pPr>
            <a:r>
              <a:rPr sz="1100" b="1">
                <a:solidFill>
                  <a:srgbClr val="161920"/>
                </a:solidFill>
                <a:latin typeface="Arial"/>
              </a:rPr>
              <a:t>Full procedure · Learner Guide / Lab 01</a:t>
            </a:r>
          </a:p>
        </p:txBody>
      </p:sp>
    </p:spTree>
  </p:cSld>
  <p:transition spd="med" advClick="1">
    <p:fade/>
  </p:transition>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HANDS-ON APPLICATION · TOPIC 1</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Lab 02 · Design Principles and Prompt Refinement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63</a:t>
            </a:r>
          </a:p>
        </p:txBody>
      </p:sp>
      <p:sp>
        <p:nvSpPr>
          <p:cNvPr id="10" name="Rounded Rectangle 9"/>
          <p:cNvSpPr/>
          <p:nvPr/>
        </p:nvSpPr>
        <p:spPr>
          <a:xfrm>
            <a:off x="685800" y="1755648"/>
            <a:ext cx="3749039" cy="4462272"/>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erence.jpg"/>
          <p:cNvPicPr>
            <a:picLocks noChangeAspect="1"/>
          </p:cNvPicPr>
          <p:nvPr/>
        </p:nvPicPr>
        <p:blipFill>
          <a:blip r:embed="rId2"/>
          <a:srcRect t="10660" b="10660"/>
          <a:stretch>
            <a:fillRect/>
          </a:stretch>
        </p:blipFill>
        <p:spPr>
          <a:xfrm>
            <a:off x="758952" y="1828800"/>
            <a:ext cx="3602736" cy="2834640"/>
          </a:xfrm>
          <a:prstGeom prst="rect">
            <a:avLst/>
          </a:prstGeom>
        </p:spPr>
      </p:pic>
      <p:sp>
        <p:nvSpPr>
          <p:cNvPr id="12" name="TextBox 11"/>
          <p:cNvSpPr txBox="1"/>
          <p:nvPr/>
        </p:nvSpPr>
        <p:spPr>
          <a:xfrm>
            <a:off x="914400" y="4892040"/>
            <a:ext cx="3246120" cy="1024128"/>
          </a:xfrm>
          <a:prstGeom prst="rect">
            <a:avLst/>
          </a:prstGeom>
          <a:noFill/>
        </p:spPr>
        <p:txBody>
          <a:bodyPr wrap="square" anchor="t" lIns="54864" rIns="54864" tIns="54864" bIns="54864">
            <a:spAutoFit/>
          </a:bodyPr>
          <a:lstStyle/>
          <a:p>
            <a:pPr algn="l">
              <a:spcAft>
                <a:spcPts val="0"/>
              </a:spcAft>
            </a:pPr>
            <a:r>
              <a:rPr sz="1220" b="0">
                <a:solidFill>
                  <a:srgbClr val="5B6372"/>
                </a:solidFill>
                <a:latin typeface="Arial"/>
              </a:rPr>
              <a:t>A creative studio wants a poster-ready yarn-art visual with one strong headline zone.</a:t>
            </a:r>
          </a:p>
        </p:txBody>
      </p:sp>
      <p:sp>
        <p:nvSpPr>
          <p:cNvPr id="13" name="TextBox 12"/>
          <p:cNvSpPr txBox="1"/>
          <p:nvPr/>
        </p:nvSpPr>
        <p:spPr>
          <a:xfrm>
            <a:off x="4709160" y="1783080"/>
            <a:ext cx="6537960" cy="658368"/>
          </a:xfrm>
          <a:prstGeom prst="rect">
            <a:avLst/>
          </a:prstGeom>
          <a:noFill/>
        </p:spPr>
        <p:txBody>
          <a:bodyPr wrap="square" anchor="t" lIns="54864" rIns="54864" tIns="54864" bIns="54864">
            <a:spAutoFit/>
          </a:bodyPr>
          <a:lstStyle/>
          <a:p>
            <a:pPr algn="l">
              <a:spcAft>
                <a:spcPts val="0"/>
              </a:spcAft>
            </a:pPr>
            <a:r>
              <a:rPr sz="1500" b="1">
                <a:solidFill>
                  <a:srgbClr val="161920"/>
                </a:solidFill>
                <a:latin typeface="Arial"/>
              </a:rPr>
              <a:t>Use Photoshop layout evidence to refine a generated visual against hierarchy, balance and contrast criteria.</a:t>
            </a:r>
          </a:p>
        </p:txBody>
      </p:sp>
      <p:sp>
        <p:nvSpPr>
          <p:cNvPr id="14" name="Rounded Rectangle 13"/>
          <p:cNvSpPr/>
          <p:nvPr/>
        </p:nvSpPr>
        <p:spPr>
          <a:xfrm>
            <a:off x="470916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818888" y="2816352"/>
            <a:ext cx="402336" cy="402336"/>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888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1</a:t>
            </a:r>
          </a:p>
        </p:txBody>
      </p:sp>
      <p:sp>
        <p:nvSpPr>
          <p:cNvPr id="17" name="TextBox 16"/>
          <p:cNvSpPr txBox="1"/>
          <p:nvPr/>
        </p:nvSpPr>
        <p:spPr>
          <a:xfrm>
            <a:off x="4800600"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Analyse</a:t>
            </a:r>
          </a:p>
        </p:txBody>
      </p:sp>
      <p:sp>
        <p:nvSpPr>
          <p:cNvPr id="18" name="Rounded Rectangle 17"/>
          <p:cNvSpPr/>
          <p:nvPr/>
        </p:nvSpPr>
        <p:spPr>
          <a:xfrm>
            <a:off x="603504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144768" y="2816352"/>
            <a:ext cx="402336" cy="402336"/>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4476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2</a:t>
            </a:r>
          </a:p>
        </p:txBody>
      </p:sp>
      <p:sp>
        <p:nvSpPr>
          <p:cNvPr id="21" name="TextBox 20"/>
          <p:cNvSpPr txBox="1"/>
          <p:nvPr/>
        </p:nvSpPr>
        <p:spPr>
          <a:xfrm>
            <a:off x="6126479"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Choose</a:t>
            </a:r>
          </a:p>
        </p:txBody>
      </p:sp>
      <p:sp>
        <p:nvSpPr>
          <p:cNvPr id="22" name="Rounded Rectangle 21"/>
          <p:cNvSpPr/>
          <p:nvPr/>
        </p:nvSpPr>
        <p:spPr>
          <a:xfrm>
            <a:off x="736092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470648" y="2816352"/>
            <a:ext cx="402336" cy="402336"/>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7064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3</a:t>
            </a:r>
          </a:p>
        </p:txBody>
      </p:sp>
      <p:sp>
        <p:nvSpPr>
          <p:cNvPr id="25" name="TextBox 24"/>
          <p:cNvSpPr txBox="1"/>
          <p:nvPr/>
        </p:nvSpPr>
        <p:spPr>
          <a:xfrm>
            <a:off x="7452360"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Apply</a:t>
            </a:r>
          </a:p>
        </p:txBody>
      </p:sp>
      <p:sp>
        <p:nvSpPr>
          <p:cNvPr id="26" name="Rounded Rectangle 25"/>
          <p:cNvSpPr/>
          <p:nvPr/>
        </p:nvSpPr>
        <p:spPr>
          <a:xfrm>
            <a:off x="868680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796528" y="2816352"/>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9652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4</a:t>
            </a:r>
          </a:p>
        </p:txBody>
      </p:sp>
      <p:sp>
        <p:nvSpPr>
          <p:cNvPr id="29" name="TextBox 28"/>
          <p:cNvSpPr txBox="1"/>
          <p:nvPr/>
        </p:nvSpPr>
        <p:spPr>
          <a:xfrm>
            <a:off x="8778240"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Inspect</a:t>
            </a:r>
          </a:p>
        </p:txBody>
      </p:sp>
      <p:sp>
        <p:nvSpPr>
          <p:cNvPr id="30" name="Rounded Rectangle 29"/>
          <p:cNvSpPr/>
          <p:nvPr/>
        </p:nvSpPr>
        <p:spPr>
          <a:xfrm>
            <a:off x="1001268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22407" y="2816352"/>
            <a:ext cx="402336" cy="402336"/>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122407"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5</a:t>
            </a:r>
          </a:p>
        </p:txBody>
      </p:sp>
      <p:sp>
        <p:nvSpPr>
          <p:cNvPr id="33" name="TextBox 32"/>
          <p:cNvSpPr txBox="1"/>
          <p:nvPr/>
        </p:nvSpPr>
        <p:spPr>
          <a:xfrm>
            <a:off x="10104119"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Evidence</a:t>
            </a:r>
          </a:p>
        </p:txBody>
      </p:sp>
      <p:sp>
        <p:nvSpPr>
          <p:cNvPr id="34" name="Rounded Rectangle 33"/>
          <p:cNvSpPr/>
          <p:nvPr/>
        </p:nvSpPr>
        <p:spPr>
          <a:xfrm>
            <a:off x="4709160" y="4443984"/>
            <a:ext cx="6510528" cy="1216152"/>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0" y="4636008"/>
            <a:ext cx="1325880" cy="256032"/>
          </a:xfrm>
          <a:prstGeom prst="rect">
            <a:avLst/>
          </a:prstGeom>
          <a:noFill/>
        </p:spPr>
        <p:txBody>
          <a:bodyPr wrap="square" anchor="t" lIns="54864" rIns="54864" tIns="54864" bIns="54864">
            <a:spAutoFit/>
          </a:bodyPr>
          <a:lstStyle/>
          <a:p>
            <a:pPr algn="l">
              <a:spcAft>
                <a:spcPts val="0"/>
              </a:spcAft>
            </a:pPr>
            <a:r>
              <a:rPr sz="1050" b="1">
                <a:solidFill>
                  <a:srgbClr val="FFFFFF"/>
                </a:solidFill>
                <a:latin typeface="Arial"/>
              </a:rPr>
              <a:t>EVIDENCE</a:t>
            </a:r>
          </a:p>
        </p:txBody>
      </p:sp>
      <p:sp>
        <p:nvSpPr>
          <p:cNvPr id="36" name="TextBox 35"/>
          <p:cNvSpPr txBox="1"/>
          <p:nvPr/>
        </p:nvSpPr>
        <p:spPr>
          <a:xfrm>
            <a:off x="6144768" y="4572000"/>
            <a:ext cx="4828032" cy="731520"/>
          </a:xfrm>
          <a:prstGeom prst="rect">
            <a:avLst/>
          </a:prstGeom>
          <a:noFill/>
        </p:spPr>
        <p:txBody>
          <a:bodyPr wrap="square" anchor="t" lIns="54864" rIns="54864" tIns="54864" bIns="54864">
            <a:spAutoFit/>
          </a:bodyPr>
          <a:lstStyle/>
          <a:p>
            <a:pPr algn="l">
              <a:spcAft>
                <a:spcPts val="0"/>
              </a:spcAft>
            </a:pPr>
            <a:r>
              <a:rPr sz="1220" b="1">
                <a:solidFill>
                  <a:srgbClr val="FFFFFF"/>
                </a:solidFill>
                <a:latin typeface="Arial"/>
              </a:rPr>
              <a:t>Layered PSD, exported JPEG and a short comparison note covering K1/K2 design principles.</a:t>
            </a:r>
          </a:p>
        </p:txBody>
      </p:sp>
      <p:sp>
        <p:nvSpPr>
          <p:cNvPr id="37" name="TextBox 36"/>
          <p:cNvSpPr txBox="1"/>
          <p:nvPr/>
        </p:nvSpPr>
        <p:spPr>
          <a:xfrm>
            <a:off x="4800600" y="5833872"/>
            <a:ext cx="6309360" cy="274320"/>
          </a:xfrm>
          <a:prstGeom prst="rect">
            <a:avLst/>
          </a:prstGeom>
          <a:noFill/>
        </p:spPr>
        <p:txBody>
          <a:bodyPr wrap="square" anchor="t" lIns="54864" rIns="54864" tIns="54864" bIns="54864">
            <a:spAutoFit/>
          </a:bodyPr>
          <a:lstStyle/>
          <a:p>
            <a:pPr algn="l">
              <a:spcAft>
                <a:spcPts val="0"/>
              </a:spcAft>
            </a:pPr>
            <a:r>
              <a:rPr sz="1100" b="1">
                <a:solidFill>
                  <a:srgbClr val="161920"/>
                </a:solidFill>
                <a:latin typeface="Arial"/>
              </a:rPr>
              <a:t>Full procedure · Learner Guide / Lab 02</a:t>
            </a:r>
          </a:p>
        </p:txBody>
      </p:sp>
    </p:spTree>
  </p:cSld>
  <p:transition spd="med" advClick="1">
    <p:fade/>
  </p:transition>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EXPLAIN THE DECISION</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Topic 1 Checkpoint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64</a:t>
            </a:r>
          </a:p>
        </p:txBody>
      </p:sp>
      <p:sp>
        <p:nvSpPr>
          <p:cNvPr id="10" name="Rounded Rectangle 9"/>
          <p:cNvSpPr/>
          <p:nvPr/>
        </p:nvSpPr>
        <p:spPr>
          <a:xfrm>
            <a:off x="685800"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755648"/>
            <a:ext cx="73152" cy="212140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Purpose</a:t>
            </a:r>
          </a:p>
        </p:txBody>
      </p:sp>
      <p:sp>
        <p:nvSpPr>
          <p:cNvPr id="13" name="TextBox 12"/>
          <p:cNvSpPr txBox="1"/>
          <p:nvPr/>
        </p:nvSpPr>
        <p:spPr>
          <a:xfrm>
            <a:off x="905256"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What does the audience need to notice?</a:t>
            </a:r>
          </a:p>
        </p:txBody>
      </p:sp>
      <p:sp>
        <p:nvSpPr>
          <p:cNvPr id="14" name="Rounded Rectangle 13"/>
          <p:cNvSpPr/>
          <p:nvPr/>
        </p:nvSpPr>
        <p:spPr>
          <a:xfrm>
            <a:off x="4349496"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9496" y="1755648"/>
            <a:ext cx="73152" cy="212140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68952"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Method</a:t>
            </a:r>
          </a:p>
        </p:txBody>
      </p:sp>
      <p:sp>
        <p:nvSpPr>
          <p:cNvPr id="17" name="TextBox 16"/>
          <p:cNvSpPr txBox="1"/>
          <p:nvPr/>
        </p:nvSpPr>
        <p:spPr>
          <a:xfrm>
            <a:off x="4568952"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Why does this technique fit the content and edge?</a:t>
            </a:r>
          </a:p>
        </p:txBody>
      </p:sp>
      <p:sp>
        <p:nvSpPr>
          <p:cNvPr id="18" name="Rounded Rectangle 17"/>
          <p:cNvSpPr/>
          <p:nvPr/>
        </p:nvSpPr>
        <p:spPr>
          <a:xfrm>
            <a:off x="8013192"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3192" y="1755648"/>
            <a:ext cx="73152" cy="212140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32648"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Control</a:t>
            </a:r>
          </a:p>
        </p:txBody>
      </p:sp>
      <p:sp>
        <p:nvSpPr>
          <p:cNvPr id="21" name="TextBox 20"/>
          <p:cNvSpPr txBox="1"/>
          <p:nvPr/>
        </p:nvSpPr>
        <p:spPr>
          <a:xfrm>
            <a:off x="8232648"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Which setting most changes the outcome?</a:t>
            </a:r>
          </a:p>
        </p:txBody>
      </p:sp>
      <p:sp>
        <p:nvSpPr>
          <p:cNvPr id="22" name="Rounded Rectangle 21"/>
          <p:cNvSpPr/>
          <p:nvPr/>
        </p:nvSpPr>
        <p:spPr>
          <a:xfrm>
            <a:off x="685800"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5800" y="4078224"/>
            <a:ext cx="73152" cy="21214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Failure</a:t>
            </a:r>
          </a:p>
        </p:txBody>
      </p:sp>
      <p:sp>
        <p:nvSpPr>
          <p:cNvPr id="25" name="TextBox 24"/>
          <p:cNvSpPr txBox="1"/>
          <p:nvPr/>
        </p:nvSpPr>
        <p:spPr>
          <a:xfrm>
            <a:off x="905256"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What defect would make the result unacceptable?</a:t>
            </a:r>
          </a:p>
        </p:txBody>
      </p:sp>
      <p:sp>
        <p:nvSpPr>
          <p:cNvPr id="26" name="Rounded Rectangle 25"/>
          <p:cNvSpPr/>
          <p:nvPr/>
        </p:nvSpPr>
        <p:spPr>
          <a:xfrm>
            <a:off x="4349496"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49496" y="4078224"/>
            <a:ext cx="73152" cy="212140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68952"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009A78"/>
                </a:solidFill>
                <a:latin typeface="Arial"/>
              </a:rPr>
              <a:t>Proof</a:t>
            </a:r>
          </a:p>
        </p:txBody>
      </p:sp>
      <p:sp>
        <p:nvSpPr>
          <p:cNvPr id="29" name="TextBox 28"/>
          <p:cNvSpPr txBox="1"/>
          <p:nvPr/>
        </p:nvSpPr>
        <p:spPr>
          <a:xfrm>
            <a:off x="4568952"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Which view and evidence demonstrate quality?</a:t>
            </a:r>
          </a:p>
        </p:txBody>
      </p:sp>
      <p:sp>
        <p:nvSpPr>
          <p:cNvPr id="30" name="Rounded Rectangle 29"/>
          <p:cNvSpPr/>
          <p:nvPr/>
        </p:nvSpPr>
        <p:spPr>
          <a:xfrm>
            <a:off x="8013192"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13192" y="4078224"/>
            <a:ext cx="73152" cy="212140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32648"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E98500"/>
                </a:solidFill>
                <a:latin typeface="Arial"/>
              </a:rPr>
              <a:t>Next</a:t>
            </a:r>
          </a:p>
        </p:txBody>
      </p:sp>
      <p:sp>
        <p:nvSpPr>
          <p:cNvPr id="33" name="TextBox 32"/>
          <p:cNvSpPr txBox="1"/>
          <p:nvPr/>
        </p:nvSpPr>
        <p:spPr>
          <a:xfrm>
            <a:off x="8232648"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What controlled variation would improve the result?</a:t>
            </a:r>
          </a:p>
        </p:txBody>
      </p:sp>
    </p:spTree>
  </p:cSld>
  <p:transition spd="med" advClick="1">
    <p:fade/>
  </p:transition>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94360" y="502920"/>
            <a:ext cx="1143000" cy="1143000"/>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804672"/>
            <a:ext cx="1143000" cy="320040"/>
          </a:xfrm>
          <a:prstGeom prst="rect">
            <a:avLst/>
          </a:prstGeom>
          <a:noFill/>
        </p:spPr>
        <p:txBody>
          <a:bodyPr wrap="square" anchor="t" lIns="54864" rIns="54864" tIns="54864" bIns="54864">
            <a:spAutoFit/>
          </a:bodyPr>
          <a:lstStyle/>
          <a:p>
            <a:pPr algn="ctr">
              <a:spcAft>
                <a:spcPts val="0"/>
              </a:spcAft>
            </a:pPr>
            <a:r>
              <a:rPr sz="2200" b="1">
                <a:solidFill>
                  <a:srgbClr val="FFFFFF"/>
                </a:solidFill>
                <a:latin typeface="Arial"/>
              </a:rPr>
              <a:t>02</a:t>
            </a:r>
          </a:p>
        </p:txBody>
      </p:sp>
      <p:sp>
        <p:nvSpPr>
          <p:cNvPr id="5" name="TextBox 4"/>
          <p:cNvSpPr txBox="1"/>
          <p:nvPr/>
        </p:nvSpPr>
        <p:spPr>
          <a:xfrm>
            <a:off x="685800" y="1920240"/>
            <a:ext cx="10881360" cy="1097280"/>
          </a:xfrm>
          <a:prstGeom prst="rect">
            <a:avLst/>
          </a:prstGeom>
          <a:noFill/>
        </p:spPr>
        <p:txBody>
          <a:bodyPr wrap="square" anchor="t" lIns="54864" rIns="54864" tIns="54864" bIns="54864">
            <a:spAutoFit/>
          </a:bodyPr>
          <a:lstStyle/>
          <a:p>
            <a:pPr algn="l">
              <a:spcAft>
                <a:spcPts val="0"/>
              </a:spcAft>
            </a:pPr>
            <a:r>
              <a:rPr sz="3800" b="1">
                <a:solidFill>
                  <a:srgbClr val="FFFFFF"/>
                </a:solidFill>
                <a:latin typeface="Arial"/>
              </a:rPr>
              <a:t>Firefly Storyboards and Reference Control</a:t>
            </a:r>
          </a:p>
        </p:txBody>
      </p:sp>
      <p:sp>
        <p:nvSpPr>
          <p:cNvPr id="6" name="TextBox 5"/>
          <p:cNvSpPr txBox="1"/>
          <p:nvPr/>
        </p:nvSpPr>
        <p:spPr>
          <a:xfrm>
            <a:off x="713232" y="3246120"/>
            <a:ext cx="10241280" cy="777240"/>
          </a:xfrm>
          <a:prstGeom prst="rect">
            <a:avLst/>
          </a:prstGeom>
          <a:noFill/>
        </p:spPr>
        <p:txBody>
          <a:bodyPr wrap="square" anchor="t" lIns="54864" rIns="54864" tIns="54864" bIns="54864">
            <a:spAutoFit/>
          </a:bodyPr>
          <a:lstStyle/>
          <a:p>
            <a:pPr algn="l">
              <a:spcAft>
                <a:spcPts val="0"/>
              </a:spcAft>
            </a:pPr>
            <a:r>
              <a:rPr sz="1800" b="0">
                <a:solidFill>
                  <a:srgbClr val="C8CFDA"/>
                </a:solidFill>
                <a:latin typeface="Arial"/>
              </a:rPr>
              <a:t>Control composition and style, then organise variations into a communicable flow.</a:t>
            </a:r>
          </a:p>
        </p:txBody>
      </p:sp>
      <p:sp>
        <p:nvSpPr>
          <p:cNvPr id="7" name="TextBox 6"/>
          <p:cNvSpPr txBox="1"/>
          <p:nvPr/>
        </p:nvSpPr>
        <p:spPr>
          <a:xfrm>
            <a:off x="713232" y="5349240"/>
            <a:ext cx="5943600" cy="320040"/>
          </a:xfrm>
          <a:prstGeom prst="rect">
            <a:avLst/>
          </a:prstGeom>
          <a:noFill/>
        </p:spPr>
        <p:txBody>
          <a:bodyPr wrap="square" anchor="t" lIns="54864" rIns="54864" tIns="54864" bIns="54864">
            <a:spAutoFit/>
          </a:bodyPr>
          <a:lstStyle/>
          <a:p>
            <a:pPr algn="l">
              <a:spcAft>
                <a:spcPts val="0"/>
              </a:spcAft>
            </a:pPr>
            <a:r>
              <a:rPr sz="1400" b="1">
                <a:solidFill>
                  <a:srgbClr val="00B8D9"/>
                </a:solidFill>
                <a:latin typeface="Arial"/>
              </a:rPr>
              <a:t>LO2 · K3 · A3</a:t>
            </a:r>
          </a:p>
        </p:txBody>
      </p:sp>
      <p:sp>
        <p:nvSpPr>
          <p:cNvPr id="8" name="TextBox 7"/>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D7DEE9"/>
                </a:solidFill>
                <a:latin typeface="Arial"/>
              </a:rPr>
              <a:t>Generative-AI-Visuals-in-Photoshop-and-Firefly  ·  TGS-2024045220</a:t>
            </a:r>
          </a:p>
        </p:txBody>
      </p:sp>
      <p:sp>
        <p:nvSpPr>
          <p:cNvPr id="9" name="TextBox 8"/>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D7DEE9"/>
                </a:solidFill>
                <a:latin typeface="Arial"/>
              </a:rPr>
              <a:t>© 2026 Tertiary Infotech Academy Pte Ltd</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D7DEE9"/>
                </a:solidFill>
                <a:latin typeface="Arial"/>
              </a:rPr>
              <a:t>65</a:t>
            </a:r>
          </a:p>
        </p:txBody>
      </p:sp>
    </p:spTree>
  </p:cSld>
  <p:transition spd="med" advClick="1">
    <p:fade/>
  </p:transition>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ILLUSTRATIVE DECISION RATINGS · 1–5</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Reference-control Decision</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66</a:t>
            </a:r>
          </a:p>
        </p:txBody>
      </p:sp>
      <p:graphicFrame>
        <p:nvGraphicFramePr>
          <p:cNvPr id="11" name="Chart 10"/>
          <p:cNvGraphicFramePr>
            <a:graphicFrameLocks noGrp="1"/>
          </p:cNvGraphicFramePr>
          <p:nvPr/>
        </p:nvGraphicFramePr>
        <p:xfrm>
          <a:off x="749808" y="1783080"/>
          <a:ext cx="7360920" cy="4343400"/>
        </p:xfrm>
        <a:graphic>
          <a:graphicData uri="http://schemas.openxmlformats.org/drawingml/2006/chart">
            <c:chart xmlns:c="http://schemas.openxmlformats.org/drawingml/2006/chart" r:id="rId2"/>
          </a:graphicData>
        </a:graphic>
      </p:graphicFrame>
      <p:sp>
        <p:nvSpPr>
          <p:cNvPr id="12" name="Rounded Rectangle 11"/>
          <p:cNvSpPr/>
          <p:nvPr/>
        </p:nvSpPr>
        <p:spPr>
          <a:xfrm>
            <a:off x="8394192" y="1874519"/>
            <a:ext cx="2971800" cy="361188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68512" y="2148840"/>
            <a:ext cx="2423160" cy="41148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READ THE CHART</a:t>
            </a:r>
          </a:p>
        </p:txBody>
      </p:sp>
      <p:sp>
        <p:nvSpPr>
          <p:cNvPr id="14" name="TextBox 13"/>
          <p:cNvSpPr txBox="1"/>
          <p:nvPr/>
        </p:nvSpPr>
        <p:spPr>
          <a:xfrm>
            <a:off x="8668512" y="2770632"/>
            <a:ext cx="2423160" cy="2057400"/>
          </a:xfrm>
          <a:prstGeom prst="rect">
            <a:avLst/>
          </a:prstGeom>
          <a:noFill/>
        </p:spPr>
        <p:txBody>
          <a:bodyPr wrap="square" anchor="t" lIns="54864" rIns="54864" tIns="54864" bIns="54864">
            <a:spAutoFit/>
          </a:bodyPr>
          <a:lstStyle/>
          <a:p>
            <a:pPr algn="l">
              <a:spcAft>
                <a:spcPts val="0"/>
              </a:spcAft>
            </a:pPr>
            <a:r>
              <a:rPr sz="1500" b="1">
                <a:solidFill>
                  <a:srgbClr val="161920"/>
                </a:solidFill>
                <a:latin typeface="Arial"/>
              </a:rPr>
              <a:t>Illustrative decision ratings (1–5): composition and style references solve different control problems. Combine them only after isolating each influence.</a:t>
            </a:r>
          </a:p>
        </p:txBody>
      </p:sp>
      <p:sp>
        <p:nvSpPr>
          <p:cNvPr id="15" name="TextBox 14"/>
          <p:cNvSpPr txBox="1"/>
          <p:nvPr/>
        </p:nvSpPr>
        <p:spPr>
          <a:xfrm>
            <a:off x="8668512" y="5074920"/>
            <a:ext cx="2423160" cy="256032"/>
          </a:xfrm>
          <a:prstGeom prst="rect">
            <a:avLst/>
          </a:prstGeom>
          <a:noFill/>
        </p:spPr>
        <p:txBody>
          <a:bodyPr wrap="square" anchor="t" lIns="54864" rIns="54864" tIns="54864" bIns="54864">
            <a:spAutoFit/>
          </a:bodyPr>
          <a:lstStyle/>
          <a:p>
            <a:pPr algn="l">
              <a:spcAft>
                <a:spcPts val="0"/>
              </a:spcAft>
            </a:pPr>
            <a:r>
              <a:rPr sz="900" b="0">
                <a:solidFill>
                  <a:srgbClr val="5B6372"/>
                </a:solidFill>
                <a:latin typeface="Arial"/>
              </a:rPr>
              <a:t>Editable native PowerPoint chart</a:t>
            </a:r>
          </a:p>
        </p:txBody>
      </p:sp>
    </p:spTree>
  </p:cSld>
  <p:transition spd="med" advClick="1">
    <p:fade/>
  </p:transition>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CONCEPT 09 · AUTHENTIC ASSET + EDITABLE ANNOTATIONS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Choosing a Firefly Image Model</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67</a:t>
            </a:r>
          </a:p>
        </p:txBody>
      </p:sp>
      <p:sp>
        <p:nvSpPr>
          <p:cNvPr id="11" name="Rounded Rectangle 10"/>
          <p:cNvSpPr/>
          <p:nvPr/>
        </p:nvSpPr>
        <p:spPr>
          <a:xfrm>
            <a:off x="685800" y="1755648"/>
            <a:ext cx="4828032" cy="4443984"/>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model.jpeg"/>
          <p:cNvPicPr>
            <a:picLocks noChangeAspect="1"/>
          </p:cNvPicPr>
          <p:nvPr/>
        </p:nvPicPr>
        <p:blipFill>
          <a:blip r:embed="rId2"/>
          <a:srcRect l="13640" r="13640"/>
          <a:stretch>
            <a:fillRect/>
          </a:stretch>
        </p:blipFill>
        <p:spPr>
          <a:xfrm>
            <a:off x="758952" y="1828800"/>
            <a:ext cx="4681728" cy="4297680"/>
          </a:xfrm>
          <a:prstGeom prst="rect">
            <a:avLst/>
          </a:prstGeom>
        </p:spPr>
      </p:pic>
      <p:sp>
        <p:nvSpPr>
          <p:cNvPr id="13" name="Rounded Rectangle 12"/>
          <p:cNvSpPr/>
          <p:nvPr/>
        </p:nvSpPr>
        <p:spPr>
          <a:xfrm>
            <a:off x="5742432" y="178308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888736" y="1956816"/>
            <a:ext cx="475488" cy="47548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88736" y="201168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1</a:t>
            </a:r>
          </a:p>
        </p:txBody>
      </p:sp>
      <p:sp>
        <p:nvSpPr>
          <p:cNvPr id="16" name="TextBox 15"/>
          <p:cNvSpPr txBox="1"/>
          <p:nvPr/>
        </p:nvSpPr>
        <p:spPr>
          <a:xfrm>
            <a:off x="6510528" y="192938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How it works</a:t>
            </a:r>
          </a:p>
        </p:txBody>
      </p:sp>
      <p:sp>
        <p:nvSpPr>
          <p:cNvPr id="17" name="TextBox 16"/>
          <p:cNvSpPr txBox="1"/>
          <p:nvPr/>
        </p:nvSpPr>
        <p:spPr>
          <a:xfrm>
            <a:off x="6510528" y="222199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Firefly models offer different balances of speed, realism, prompt interpretation and control.</a:t>
            </a:r>
          </a:p>
        </p:txBody>
      </p:sp>
      <p:sp>
        <p:nvSpPr>
          <p:cNvPr id="18" name="Rounded Rectangle 17"/>
          <p:cNvSpPr/>
          <p:nvPr/>
        </p:nvSpPr>
        <p:spPr>
          <a:xfrm>
            <a:off x="5742432" y="288036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888736" y="3054096"/>
            <a:ext cx="475488" cy="47548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88736" y="310896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2</a:t>
            </a:r>
          </a:p>
        </p:txBody>
      </p:sp>
      <p:sp>
        <p:nvSpPr>
          <p:cNvPr id="21" name="TextBox 20"/>
          <p:cNvSpPr txBox="1"/>
          <p:nvPr/>
        </p:nvSpPr>
        <p:spPr>
          <a:xfrm>
            <a:off x="6510528" y="302666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Best used for</a:t>
            </a:r>
          </a:p>
        </p:txBody>
      </p:sp>
      <p:sp>
        <p:nvSpPr>
          <p:cNvPr id="22" name="TextBox 21"/>
          <p:cNvSpPr txBox="1"/>
          <p:nvPr/>
        </p:nvSpPr>
        <p:spPr>
          <a:xfrm>
            <a:off x="6510528" y="331927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Matching generation quality and latency to the storyboard purpose.</a:t>
            </a:r>
          </a:p>
        </p:txBody>
      </p:sp>
      <p:sp>
        <p:nvSpPr>
          <p:cNvPr id="23" name="Rounded Rectangle 22"/>
          <p:cNvSpPr/>
          <p:nvPr/>
        </p:nvSpPr>
        <p:spPr>
          <a:xfrm>
            <a:off x="5742432" y="3977639"/>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888736" y="4151376"/>
            <a:ext cx="475488" cy="47548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88736" y="420624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3</a:t>
            </a:r>
          </a:p>
        </p:txBody>
      </p:sp>
      <p:sp>
        <p:nvSpPr>
          <p:cNvPr id="26" name="TextBox 25"/>
          <p:cNvSpPr txBox="1"/>
          <p:nvPr/>
        </p:nvSpPr>
        <p:spPr>
          <a:xfrm>
            <a:off x="6510528" y="412394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Professional decision</a:t>
            </a:r>
          </a:p>
        </p:txBody>
      </p:sp>
      <p:sp>
        <p:nvSpPr>
          <p:cNvPr id="27" name="TextBox 26"/>
          <p:cNvSpPr txBox="1"/>
          <p:nvPr/>
        </p:nvSpPr>
        <p:spPr>
          <a:xfrm>
            <a:off x="6510528" y="441655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Choose this method when its content model and edge behaviour fit the brief.</a:t>
            </a:r>
          </a:p>
        </p:txBody>
      </p:sp>
      <p:sp>
        <p:nvSpPr>
          <p:cNvPr id="28" name="Rounded Rectangle 27"/>
          <p:cNvSpPr/>
          <p:nvPr/>
        </p:nvSpPr>
        <p:spPr>
          <a:xfrm>
            <a:off x="5742432" y="507492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888736" y="5248656"/>
            <a:ext cx="475488" cy="47548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88736" y="530352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4</a:t>
            </a:r>
          </a:p>
        </p:txBody>
      </p:sp>
      <p:sp>
        <p:nvSpPr>
          <p:cNvPr id="31" name="TextBox 30"/>
          <p:cNvSpPr txBox="1"/>
          <p:nvPr/>
        </p:nvSpPr>
        <p:spPr>
          <a:xfrm>
            <a:off x="6510528" y="522122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Quality signal</a:t>
            </a:r>
          </a:p>
        </p:txBody>
      </p:sp>
      <p:sp>
        <p:nvSpPr>
          <p:cNvPr id="32" name="TextBox 31"/>
          <p:cNvSpPr txBox="1"/>
          <p:nvPr/>
        </p:nvSpPr>
        <p:spPr>
          <a:xfrm>
            <a:off x="6510528" y="551383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The selected model is recorded with a visible comparison or reason.</a:t>
            </a:r>
          </a:p>
        </p:txBody>
      </p:sp>
    </p:spTree>
  </p:cSld>
  <p:transition spd="med" advClick="1">
    <p:fade/>
  </p:transition>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98500"/>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Choosing a Firefly Image Model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68</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Current model · output intent · speed · detail · available controls</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Assuming the newest model behaves identically to an older one.</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The selected model is recorded with a visible comparison or reason.</a:t>
            </a:r>
          </a:p>
        </p:txBody>
      </p:sp>
      <p:sp>
        <p:nvSpPr>
          <p:cNvPr id="23" name="Rounded Rectangle 22"/>
          <p:cNvSpPr/>
          <p:nvPr/>
        </p:nvSpPr>
        <p:spPr>
          <a:xfrm>
            <a:off x="685800" y="5349240"/>
            <a:ext cx="10771632" cy="65836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Worked Artifact · Choosing a Firefly Image Model</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69</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7C3AED"/>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Matching generation quality and latency to the storyboard purpose.</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Current model · output intent · speed · detail · available controls</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98500"/>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Assuming the newest model behaves identically to an older one.</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The selected model is recorded with a visible comparison or reason.</a:t>
            </a:r>
          </a:p>
        </p:txBody>
      </p:sp>
      <p:sp>
        <p:nvSpPr>
          <p:cNvPr id="30" name="Rounded Rectangle 29"/>
          <p:cNvSpPr/>
          <p:nvPr/>
        </p:nvSpPr>
        <p:spPr>
          <a:xfrm>
            <a:off x="804672" y="5532120"/>
            <a:ext cx="10561320" cy="530352"/>
          </a:xfrm>
          <a:prstGeom prst="roundRect">
            <a:avLst/>
          </a:prstGeom>
          <a:solidFill>
            <a:srgbClr val="FFFFFF"/>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7C3AED"/>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Annotated Decision Model · Choosing a Firefly Image Model</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70</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Current model</a:t>
            </a:r>
          </a:p>
        </p:txBody>
      </p:sp>
      <p:sp>
        <p:nvSpPr>
          <p:cNvPr id="16" name="Rounded Rectangle 15"/>
          <p:cNvSpPr/>
          <p:nvPr/>
        </p:nvSpPr>
        <p:spPr>
          <a:xfrm>
            <a:off x="896112" y="3099816"/>
            <a:ext cx="384048" cy="38404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output intent</a:t>
            </a:r>
          </a:p>
        </p:txBody>
      </p:sp>
      <p:sp>
        <p:nvSpPr>
          <p:cNvPr id="19" name="Rounded Rectangle 18"/>
          <p:cNvSpPr/>
          <p:nvPr/>
        </p:nvSpPr>
        <p:spPr>
          <a:xfrm>
            <a:off x="896112" y="3685032"/>
            <a:ext cx="384048" cy="38404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speed</a:t>
            </a:r>
          </a:p>
        </p:txBody>
      </p:sp>
      <p:sp>
        <p:nvSpPr>
          <p:cNvPr id="22" name="Rounded Rectangle 21"/>
          <p:cNvSpPr/>
          <p:nvPr/>
        </p:nvSpPr>
        <p:spPr>
          <a:xfrm>
            <a:off x="896112" y="4270248"/>
            <a:ext cx="384048" cy="38404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detail</a:t>
            </a:r>
          </a:p>
        </p:txBody>
      </p:sp>
      <p:sp>
        <p:nvSpPr>
          <p:cNvPr id="25" name="Rounded Rectangle 24"/>
          <p:cNvSpPr/>
          <p:nvPr/>
        </p:nvSpPr>
        <p:spPr>
          <a:xfrm>
            <a:off x="896112" y="4855464"/>
            <a:ext cx="384048" cy="38404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19472"/>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5</a:t>
            </a:r>
          </a:p>
        </p:txBody>
      </p:sp>
      <p:sp>
        <p:nvSpPr>
          <p:cNvPr id="27" name="TextBox 26"/>
          <p:cNvSpPr txBox="1"/>
          <p:nvPr/>
        </p:nvSpPr>
        <p:spPr>
          <a:xfrm>
            <a:off x="1408176" y="4873752"/>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available controls</a:t>
            </a:r>
          </a:p>
        </p:txBody>
      </p:sp>
      <p:sp>
        <p:nvSpPr>
          <p:cNvPr id="28" name="Rounded Rectangle 27"/>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009A78"/>
                </a:solidFill>
                <a:latin typeface="Arial"/>
              </a:rPr>
              <a:t>EDITABLE CANVAS / OUTPUT STATE</a:t>
            </a:r>
          </a:p>
        </p:txBody>
      </p:sp>
      <p:sp>
        <p:nvSpPr>
          <p:cNvPr id="31" name="TextBox 30"/>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Firefly models offer different balances of speed, realism, prompt interpretation and control.</a:t>
            </a:r>
          </a:p>
        </p:txBody>
      </p:sp>
      <p:sp>
        <p:nvSpPr>
          <p:cNvPr id="32" name="Rounded Rectangle 31"/>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4" name="Rounded Rectangle 33"/>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009A78"/>
                </a:solidFill>
                <a:latin typeface="Arial"/>
              </a:rPr>
              <a:t>PROOF PANEL</a:t>
            </a:r>
          </a:p>
        </p:txBody>
      </p:sp>
      <p:sp>
        <p:nvSpPr>
          <p:cNvPr id="36" name="TextBox 35"/>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The selected model is recorded with a visible comparison or reason.</a:t>
            </a:r>
          </a:p>
        </p:txBody>
      </p:sp>
      <p:sp>
        <p:nvSpPr>
          <p:cNvPr id="37" name="TextBox 36"/>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98500"/>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Diagnostic · Choosing a Firefly Image Model</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71</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Assuming the newest model behaves identically to an older one.</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Current model · output intent · speed · detail · available controls.</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The selected model is recorded with a visible comparison or reason.</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E98500"/>
                </a:solidFill>
                <a:latin typeface="Arial"/>
              </a:rPr>
              <a:t>Accept only when the defect is reduced and protected content remains intact.</a:t>
            </a:r>
          </a:p>
        </p:txBody>
      </p:sp>
    </p:spTree>
  </p:cSld>
  <p:transition spd="med" advClick="1">
    <p:fade/>
  </p:transition>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CONCEPT 10 · AUTHENTIC ASSET + EDITABLE ANNOTATIONS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Content Type and Visual Intensity</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72</a:t>
            </a:r>
          </a:p>
        </p:txBody>
      </p:sp>
      <p:sp>
        <p:nvSpPr>
          <p:cNvPr id="11" name="Rounded Rectangle 10"/>
          <p:cNvSpPr/>
          <p:nvPr/>
        </p:nvSpPr>
        <p:spPr>
          <a:xfrm>
            <a:off x="6675120" y="1755648"/>
            <a:ext cx="4828032" cy="4443984"/>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P - Generative AI (GenAI).jpg"/>
          <p:cNvPicPr>
            <a:picLocks noChangeAspect="1"/>
          </p:cNvPicPr>
          <p:nvPr/>
        </p:nvPicPr>
        <p:blipFill>
          <a:blip r:embed="rId2"/>
          <a:srcRect l="6426" r="6426"/>
          <a:stretch>
            <a:fillRect/>
          </a:stretch>
        </p:blipFill>
        <p:spPr>
          <a:xfrm>
            <a:off x="6748272" y="1828800"/>
            <a:ext cx="4681728" cy="4297680"/>
          </a:xfrm>
          <a:prstGeom prst="rect">
            <a:avLst/>
          </a:prstGeom>
        </p:spPr>
      </p:pic>
      <p:sp>
        <p:nvSpPr>
          <p:cNvPr id="13" name="Rounded Rectangle 12"/>
          <p:cNvSpPr/>
          <p:nvPr/>
        </p:nvSpPr>
        <p:spPr>
          <a:xfrm>
            <a:off x="685800" y="178308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32104" y="1956816"/>
            <a:ext cx="475488" cy="47548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 y="201168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1</a:t>
            </a:r>
          </a:p>
        </p:txBody>
      </p:sp>
      <p:sp>
        <p:nvSpPr>
          <p:cNvPr id="16" name="TextBox 15"/>
          <p:cNvSpPr txBox="1"/>
          <p:nvPr/>
        </p:nvSpPr>
        <p:spPr>
          <a:xfrm>
            <a:off x="1453895" y="192938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How it works</a:t>
            </a:r>
          </a:p>
        </p:txBody>
      </p:sp>
      <p:sp>
        <p:nvSpPr>
          <p:cNvPr id="17" name="TextBox 16"/>
          <p:cNvSpPr txBox="1"/>
          <p:nvPr/>
        </p:nvSpPr>
        <p:spPr>
          <a:xfrm>
            <a:off x="1453895" y="222199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Content type steers photo/illustration behaviour while visual intensity adjusts how strongly styling affects the result.</a:t>
            </a:r>
          </a:p>
        </p:txBody>
      </p:sp>
      <p:sp>
        <p:nvSpPr>
          <p:cNvPr id="18" name="Rounded Rectangle 17"/>
          <p:cNvSpPr/>
          <p:nvPr/>
        </p:nvSpPr>
        <p:spPr>
          <a:xfrm>
            <a:off x="685800" y="288036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32104" y="3054096"/>
            <a:ext cx="475488" cy="47548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 y="310896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2</a:t>
            </a:r>
          </a:p>
        </p:txBody>
      </p:sp>
      <p:sp>
        <p:nvSpPr>
          <p:cNvPr id="21" name="TextBox 20"/>
          <p:cNvSpPr txBox="1"/>
          <p:nvPr/>
        </p:nvSpPr>
        <p:spPr>
          <a:xfrm>
            <a:off x="1453895" y="302666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Best used for</a:t>
            </a:r>
          </a:p>
        </p:txBody>
      </p:sp>
      <p:sp>
        <p:nvSpPr>
          <p:cNvPr id="22" name="TextBox 21"/>
          <p:cNvSpPr txBox="1"/>
          <p:nvPr/>
        </p:nvSpPr>
        <p:spPr>
          <a:xfrm>
            <a:off x="1453895" y="331927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Moving between documentary-looking and illustrative storyboard frames.</a:t>
            </a:r>
          </a:p>
        </p:txBody>
      </p:sp>
      <p:sp>
        <p:nvSpPr>
          <p:cNvPr id="23" name="Rounded Rectangle 22"/>
          <p:cNvSpPr/>
          <p:nvPr/>
        </p:nvSpPr>
        <p:spPr>
          <a:xfrm>
            <a:off x="685800" y="3977639"/>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32104" y="4151376"/>
            <a:ext cx="475488" cy="47548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2104" y="420624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3</a:t>
            </a:r>
          </a:p>
        </p:txBody>
      </p:sp>
      <p:sp>
        <p:nvSpPr>
          <p:cNvPr id="26" name="TextBox 25"/>
          <p:cNvSpPr txBox="1"/>
          <p:nvPr/>
        </p:nvSpPr>
        <p:spPr>
          <a:xfrm>
            <a:off x="1453895" y="412394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Professional decision</a:t>
            </a:r>
          </a:p>
        </p:txBody>
      </p:sp>
      <p:sp>
        <p:nvSpPr>
          <p:cNvPr id="27" name="TextBox 26"/>
          <p:cNvSpPr txBox="1"/>
          <p:nvPr/>
        </p:nvSpPr>
        <p:spPr>
          <a:xfrm>
            <a:off x="1453895" y="441655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Choose this method when its content model and edge behaviour fit the brief.</a:t>
            </a:r>
          </a:p>
        </p:txBody>
      </p:sp>
      <p:sp>
        <p:nvSpPr>
          <p:cNvPr id="28" name="Rounded Rectangle 27"/>
          <p:cNvSpPr/>
          <p:nvPr/>
        </p:nvSpPr>
        <p:spPr>
          <a:xfrm>
            <a:off x="685800" y="507492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32104" y="5248656"/>
            <a:ext cx="475488" cy="47548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2104" y="530352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4</a:t>
            </a:r>
          </a:p>
        </p:txBody>
      </p:sp>
      <p:sp>
        <p:nvSpPr>
          <p:cNvPr id="31" name="TextBox 30"/>
          <p:cNvSpPr txBox="1"/>
          <p:nvPr/>
        </p:nvSpPr>
        <p:spPr>
          <a:xfrm>
            <a:off x="1453895" y="522122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Quality signal</a:t>
            </a:r>
          </a:p>
        </p:txBody>
      </p:sp>
      <p:sp>
        <p:nvSpPr>
          <p:cNvPr id="32" name="TextBox 31"/>
          <p:cNvSpPr txBox="1"/>
          <p:nvPr/>
        </p:nvSpPr>
        <p:spPr>
          <a:xfrm>
            <a:off x="1453895" y="551383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Two controlled variants demonstrate the effect of the setting.</a:t>
            </a:r>
          </a:p>
        </p:txBody>
      </p:sp>
    </p:spTree>
  </p:cSld>
  <p:transition spd="med" advClick="1">
    <p:fade/>
  </p:transition>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Content Type and Visual Intensity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73</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Photo/art · auto mode · visual intensity · effects</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Treating intensity as a substitute for a clear prompt.</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Two controlled variants demonstrate the effect of the setting.</a:t>
            </a:r>
          </a:p>
        </p:txBody>
      </p:sp>
      <p:sp>
        <p:nvSpPr>
          <p:cNvPr id="23" name="Rounded Rectangle 22"/>
          <p:cNvSpPr/>
          <p:nvPr/>
        </p:nvSpPr>
        <p:spPr>
          <a:xfrm>
            <a:off x="685800" y="5349240"/>
            <a:ext cx="10771632" cy="65836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Worked Artifact · Content Type and Visual Intensity</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74</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Moving between documentary-looking and illustrative storyboard frames.</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98500"/>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Photo/art · auto mode · visual intensity · effects</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Treating intensity as a substitute for a clear prompt.</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B8D9"/>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Two controlled variants demonstrate the effect of the setting.</a:t>
            </a:r>
          </a:p>
        </p:txBody>
      </p:sp>
      <p:sp>
        <p:nvSpPr>
          <p:cNvPr id="30" name="Rounded Rectangle 29"/>
          <p:cNvSpPr/>
          <p:nvPr/>
        </p:nvSpPr>
        <p:spPr>
          <a:xfrm>
            <a:off x="804672" y="5532120"/>
            <a:ext cx="10561320" cy="530352"/>
          </a:xfrm>
          <a:prstGeom prst="roundRect">
            <a:avLst/>
          </a:prstGeom>
          <a:solidFill>
            <a:srgbClr val="FFFFFF"/>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009A78"/>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98500"/>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Annotated Decision Model · Content Type and Visual Intensity</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75</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Photo/art</a:t>
            </a:r>
          </a:p>
        </p:txBody>
      </p:sp>
      <p:sp>
        <p:nvSpPr>
          <p:cNvPr id="16" name="Rounded Rectangle 15"/>
          <p:cNvSpPr/>
          <p:nvPr/>
        </p:nvSpPr>
        <p:spPr>
          <a:xfrm>
            <a:off x="896112" y="3099816"/>
            <a:ext cx="384048" cy="38404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auto mode</a:t>
            </a:r>
          </a:p>
        </p:txBody>
      </p:sp>
      <p:sp>
        <p:nvSpPr>
          <p:cNvPr id="19" name="Rounded Rectangle 18"/>
          <p:cNvSpPr/>
          <p:nvPr/>
        </p:nvSpPr>
        <p:spPr>
          <a:xfrm>
            <a:off x="896112" y="3685032"/>
            <a:ext cx="384048" cy="38404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visual intensity</a:t>
            </a:r>
          </a:p>
        </p:txBody>
      </p:sp>
      <p:sp>
        <p:nvSpPr>
          <p:cNvPr id="22" name="Rounded Rectangle 21"/>
          <p:cNvSpPr/>
          <p:nvPr/>
        </p:nvSpPr>
        <p:spPr>
          <a:xfrm>
            <a:off x="896112" y="4270248"/>
            <a:ext cx="384048" cy="38404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effects</a:t>
            </a:r>
          </a:p>
        </p:txBody>
      </p:sp>
      <p:sp>
        <p:nvSpPr>
          <p:cNvPr id="25" name="Rounded Rectangle 24"/>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E98500"/>
                </a:solidFill>
                <a:latin typeface="Arial"/>
              </a:rPr>
              <a:t>EDITABLE CANVAS / OUTPUT STATE</a:t>
            </a:r>
          </a:p>
        </p:txBody>
      </p:sp>
      <p:sp>
        <p:nvSpPr>
          <p:cNvPr id="28" name="TextBox 27"/>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Content type steers photo/illustration behaviour while visual intensity adjusts how strongly styling affects the result.</a:t>
            </a:r>
          </a:p>
        </p:txBody>
      </p:sp>
      <p:sp>
        <p:nvSpPr>
          <p:cNvPr id="29" name="Rounded Rectangle 28"/>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1" name="Rounded Rectangle 30"/>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E98500"/>
                </a:solidFill>
                <a:latin typeface="Arial"/>
              </a:rPr>
              <a:t>PROOF PANEL</a:t>
            </a:r>
          </a:p>
        </p:txBody>
      </p:sp>
      <p:sp>
        <p:nvSpPr>
          <p:cNvPr id="33" name="TextBox 32"/>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Two controlled variants demonstrate the effect of the setting.</a:t>
            </a:r>
          </a:p>
        </p:txBody>
      </p:sp>
      <p:sp>
        <p:nvSpPr>
          <p:cNvPr id="34" name="TextBox 33"/>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Diagnostic · Content Type and Visual Intensity</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76</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Treating intensity as a substitute for a clear prompt.</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Photo/art · auto mode · visual intensity · effects.</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Two controlled variants demonstrate the effect of the setting.</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224AF4"/>
                </a:solidFill>
                <a:latin typeface="Arial"/>
              </a:rPr>
              <a:t>Accept only when the defect is reduced and protected content remains intact.</a:t>
            </a:r>
          </a:p>
        </p:txBody>
      </p:sp>
    </p:spTree>
  </p:cSld>
  <p:transition spd="med" advClick="1">
    <p:fade/>
  </p:transition>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98500"/>
                </a:solidFill>
                <a:latin typeface="Arial"/>
              </a:rPr>
              <a:t>CONCEPT 11 · AUTHENTIC ASSET + EDITABLE ANNOTATIONS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Colour, Lighting and Camera Controls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77</a:t>
            </a:r>
          </a:p>
        </p:txBody>
      </p:sp>
      <p:sp>
        <p:nvSpPr>
          <p:cNvPr id="11" name="Rounded Rectangle 10"/>
          <p:cNvSpPr/>
          <p:nvPr/>
        </p:nvSpPr>
        <p:spPr>
          <a:xfrm>
            <a:off x="685800" y="1755648"/>
            <a:ext cx="4828032" cy="4443984"/>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refly_a dog reading a book while sitting at a desk by candle light, while wearing glasses,  120801.jpg"/>
          <p:cNvPicPr>
            <a:picLocks noChangeAspect="1"/>
          </p:cNvPicPr>
          <p:nvPr/>
        </p:nvPicPr>
        <p:blipFill>
          <a:blip r:embed="rId2"/>
          <a:srcRect t="14301" b="14301"/>
          <a:stretch>
            <a:fillRect/>
          </a:stretch>
        </p:blipFill>
        <p:spPr>
          <a:xfrm>
            <a:off x="758952" y="1828800"/>
            <a:ext cx="4681728" cy="4297680"/>
          </a:xfrm>
          <a:prstGeom prst="rect">
            <a:avLst/>
          </a:prstGeom>
        </p:spPr>
      </p:pic>
      <p:sp>
        <p:nvSpPr>
          <p:cNvPr id="13" name="Rounded Rectangle 12"/>
          <p:cNvSpPr/>
          <p:nvPr/>
        </p:nvSpPr>
        <p:spPr>
          <a:xfrm>
            <a:off x="5742432" y="178308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888736" y="1956816"/>
            <a:ext cx="475488" cy="47548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88736" y="201168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1</a:t>
            </a:r>
          </a:p>
        </p:txBody>
      </p:sp>
      <p:sp>
        <p:nvSpPr>
          <p:cNvPr id="16" name="TextBox 15"/>
          <p:cNvSpPr txBox="1"/>
          <p:nvPr/>
        </p:nvSpPr>
        <p:spPr>
          <a:xfrm>
            <a:off x="6510528" y="192938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How it works</a:t>
            </a:r>
          </a:p>
        </p:txBody>
      </p:sp>
      <p:sp>
        <p:nvSpPr>
          <p:cNvPr id="17" name="TextBox 16"/>
          <p:cNvSpPr txBox="1"/>
          <p:nvPr/>
        </p:nvSpPr>
        <p:spPr>
          <a:xfrm>
            <a:off x="6510528" y="222199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Secondary controls guide palette, lighting direction, field of view and depth cues.</a:t>
            </a:r>
          </a:p>
        </p:txBody>
      </p:sp>
      <p:sp>
        <p:nvSpPr>
          <p:cNvPr id="18" name="Rounded Rectangle 17"/>
          <p:cNvSpPr/>
          <p:nvPr/>
        </p:nvSpPr>
        <p:spPr>
          <a:xfrm>
            <a:off x="5742432" y="288036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888736" y="3054096"/>
            <a:ext cx="475488" cy="47548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88736" y="310896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2</a:t>
            </a:r>
          </a:p>
        </p:txBody>
      </p:sp>
      <p:sp>
        <p:nvSpPr>
          <p:cNvPr id="21" name="TextBox 20"/>
          <p:cNvSpPr txBox="1"/>
          <p:nvPr/>
        </p:nvSpPr>
        <p:spPr>
          <a:xfrm>
            <a:off x="6510528" y="302666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Best used for</a:t>
            </a:r>
          </a:p>
        </p:txBody>
      </p:sp>
      <p:sp>
        <p:nvSpPr>
          <p:cNvPr id="22" name="TextBox 21"/>
          <p:cNvSpPr txBox="1"/>
          <p:nvPr/>
        </p:nvSpPr>
        <p:spPr>
          <a:xfrm>
            <a:off x="6510528" y="331927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Keeping a sequence visually coherent without copying every frame.</a:t>
            </a:r>
          </a:p>
        </p:txBody>
      </p:sp>
      <p:sp>
        <p:nvSpPr>
          <p:cNvPr id="23" name="Rounded Rectangle 22"/>
          <p:cNvSpPr/>
          <p:nvPr/>
        </p:nvSpPr>
        <p:spPr>
          <a:xfrm>
            <a:off x="5742432" y="3977639"/>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888736" y="4151376"/>
            <a:ext cx="475488" cy="47548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88736" y="420624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3</a:t>
            </a:r>
          </a:p>
        </p:txBody>
      </p:sp>
      <p:sp>
        <p:nvSpPr>
          <p:cNvPr id="26" name="TextBox 25"/>
          <p:cNvSpPr txBox="1"/>
          <p:nvPr/>
        </p:nvSpPr>
        <p:spPr>
          <a:xfrm>
            <a:off x="6510528" y="412394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Professional decision</a:t>
            </a:r>
          </a:p>
        </p:txBody>
      </p:sp>
      <p:sp>
        <p:nvSpPr>
          <p:cNvPr id="27" name="TextBox 26"/>
          <p:cNvSpPr txBox="1"/>
          <p:nvPr/>
        </p:nvSpPr>
        <p:spPr>
          <a:xfrm>
            <a:off x="6510528" y="441655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Choose this method when its content model and edge behaviour fit the brief.</a:t>
            </a:r>
          </a:p>
        </p:txBody>
      </p:sp>
      <p:sp>
        <p:nvSpPr>
          <p:cNvPr id="28" name="Rounded Rectangle 27"/>
          <p:cNvSpPr/>
          <p:nvPr/>
        </p:nvSpPr>
        <p:spPr>
          <a:xfrm>
            <a:off x="5742432" y="507492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888736" y="5248656"/>
            <a:ext cx="475488" cy="47548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88736" y="530352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4</a:t>
            </a:r>
          </a:p>
        </p:txBody>
      </p:sp>
      <p:sp>
        <p:nvSpPr>
          <p:cNvPr id="31" name="TextBox 30"/>
          <p:cNvSpPr txBox="1"/>
          <p:nvPr/>
        </p:nvSpPr>
        <p:spPr>
          <a:xfrm>
            <a:off x="6510528" y="522122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Quality signal</a:t>
            </a:r>
          </a:p>
        </p:txBody>
      </p:sp>
      <p:sp>
        <p:nvSpPr>
          <p:cNvPr id="32" name="TextBox 31"/>
          <p:cNvSpPr txBox="1"/>
          <p:nvPr/>
        </p:nvSpPr>
        <p:spPr>
          <a:xfrm>
            <a:off x="6510528" y="551383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Frames share a documented palette and plausible light direction.</a:t>
            </a:r>
          </a:p>
        </p:txBody>
      </p:sp>
    </p:spTree>
  </p:cSld>
  <p:transition spd="med" advClick="1">
    <p:fade/>
  </p:transition>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Colour, Lighting and Camera Controls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78</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Colour/tone · lighting · camera angle · lens/depth cues</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A lighting instruction that conflicts with the reference composition.</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Frames share a documented palette and plausible light direction.</a:t>
            </a:r>
          </a:p>
        </p:txBody>
      </p:sp>
      <p:sp>
        <p:nvSpPr>
          <p:cNvPr id="23" name="Rounded Rectangle 22"/>
          <p:cNvSpPr/>
          <p:nvPr/>
        </p:nvSpPr>
        <p:spPr>
          <a:xfrm>
            <a:off x="685800" y="5349240"/>
            <a:ext cx="10771632" cy="65836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98500"/>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Worked Artifact · Colour, Lighting and Camera Controls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79</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98500"/>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Keeping a sequence visually coherent without copying every frame.</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Colour/tone · lighting · camera angle · lens/depth cues</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B8D9"/>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A lighting instruction that conflicts with the reference composition.</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Frames share a documented palette and plausible light direction.</a:t>
            </a:r>
          </a:p>
        </p:txBody>
      </p:sp>
      <p:sp>
        <p:nvSpPr>
          <p:cNvPr id="30" name="Rounded Rectangle 29"/>
          <p:cNvSpPr/>
          <p:nvPr/>
        </p:nvSpPr>
        <p:spPr>
          <a:xfrm>
            <a:off x="804672" y="5532120"/>
            <a:ext cx="10561320" cy="530352"/>
          </a:xfrm>
          <a:prstGeom prst="roundRect">
            <a:avLst/>
          </a:prstGeom>
          <a:solidFill>
            <a:srgbClr val="FFFFFF"/>
          </a:solidFill>
          <a:ln>
            <a:solidFill>
              <a:srgbClr val="E98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E98500"/>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Annotated Decision Model · Colour, Lighting and Camera Controls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80</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Colour/tone</a:t>
            </a:r>
          </a:p>
        </p:txBody>
      </p:sp>
      <p:sp>
        <p:nvSpPr>
          <p:cNvPr id="16" name="Rounded Rectangle 15"/>
          <p:cNvSpPr/>
          <p:nvPr/>
        </p:nvSpPr>
        <p:spPr>
          <a:xfrm>
            <a:off x="896112" y="3099816"/>
            <a:ext cx="384048" cy="38404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lighting</a:t>
            </a:r>
          </a:p>
        </p:txBody>
      </p:sp>
      <p:sp>
        <p:nvSpPr>
          <p:cNvPr id="19" name="Rounded Rectangle 18"/>
          <p:cNvSpPr/>
          <p:nvPr/>
        </p:nvSpPr>
        <p:spPr>
          <a:xfrm>
            <a:off x="896112" y="3685032"/>
            <a:ext cx="384048" cy="38404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camera angle</a:t>
            </a:r>
          </a:p>
        </p:txBody>
      </p:sp>
      <p:sp>
        <p:nvSpPr>
          <p:cNvPr id="22" name="Rounded Rectangle 21"/>
          <p:cNvSpPr/>
          <p:nvPr/>
        </p:nvSpPr>
        <p:spPr>
          <a:xfrm>
            <a:off x="896112" y="4270248"/>
            <a:ext cx="384048" cy="38404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lens/depth cues</a:t>
            </a:r>
          </a:p>
        </p:txBody>
      </p:sp>
      <p:sp>
        <p:nvSpPr>
          <p:cNvPr id="25" name="Rounded Rectangle 24"/>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224AF4"/>
                </a:solidFill>
                <a:latin typeface="Arial"/>
              </a:rPr>
              <a:t>EDITABLE CANVAS / OUTPUT STATE</a:t>
            </a:r>
          </a:p>
        </p:txBody>
      </p:sp>
      <p:sp>
        <p:nvSpPr>
          <p:cNvPr id="28" name="TextBox 27"/>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Secondary controls guide palette, lighting direction, field of view and depth cues.</a:t>
            </a:r>
          </a:p>
        </p:txBody>
      </p:sp>
      <p:sp>
        <p:nvSpPr>
          <p:cNvPr id="29" name="Rounded Rectangle 28"/>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1" name="Rounded Rectangle 30"/>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224AF4"/>
                </a:solidFill>
                <a:latin typeface="Arial"/>
              </a:rPr>
              <a:t>PROOF PANEL</a:t>
            </a:r>
          </a:p>
        </p:txBody>
      </p:sp>
      <p:sp>
        <p:nvSpPr>
          <p:cNvPr id="33" name="TextBox 32"/>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Frames share a documented palette and plausible light direction.</a:t>
            </a:r>
          </a:p>
        </p:txBody>
      </p:sp>
      <p:sp>
        <p:nvSpPr>
          <p:cNvPr id="34" name="TextBox 33"/>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Diagnostic · Colour, Lighting and Camera Controls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81</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A lighting instruction that conflicts with the reference composition.</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Colour/tone · lighting · camera angle · lens/depth cues.</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Frames share a documented palette and plausible light direction.</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00B8D9"/>
                </a:solidFill>
                <a:latin typeface="Arial"/>
              </a:rPr>
              <a:t>Accept only when the defect is reduced and protected content remains intact.</a:t>
            </a:r>
          </a:p>
        </p:txBody>
      </p:sp>
    </p:spTree>
  </p:cSld>
  <p:transition spd="med" advClick="1">
    <p:fade/>
  </p:transition>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CONCEPT 12 · AUTHENTIC ASSET + EDITABLE ANNOTATIONS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Composition Reference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Composition Reference</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82</a:t>
            </a:r>
          </a:p>
        </p:txBody>
      </p:sp>
      <p:sp>
        <p:nvSpPr>
          <p:cNvPr id="11" name="Rounded Rectangle 10"/>
          <p:cNvSpPr/>
          <p:nvPr/>
        </p:nvSpPr>
        <p:spPr>
          <a:xfrm>
            <a:off x="6675120" y="1755648"/>
            <a:ext cx="4828032" cy="4443984"/>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erence.jpg"/>
          <p:cNvPicPr>
            <a:picLocks noChangeAspect="1"/>
          </p:cNvPicPr>
          <p:nvPr/>
        </p:nvPicPr>
        <p:blipFill>
          <a:blip r:embed="rId2"/>
          <a:srcRect t="4102" b="4102"/>
          <a:stretch>
            <a:fillRect/>
          </a:stretch>
        </p:blipFill>
        <p:spPr>
          <a:xfrm>
            <a:off x="6748272" y="1828800"/>
            <a:ext cx="4681728" cy="4297680"/>
          </a:xfrm>
          <a:prstGeom prst="rect">
            <a:avLst/>
          </a:prstGeom>
        </p:spPr>
      </p:pic>
      <p:sp>
        <p:nvSpPr>
          <p:cNvPr id="13" name="Rounded Rectangle 12"/>
          <p:cNvSpPr/>
          <p:nvPr/>
        </p:nvSpPr>
        <p:spPr>
          <a:xfrm>
            <a:off x="685800" y="178308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32104" y="1956816"/>
            <a:ext cx="475488" cy="47548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 y="201168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1</a:t>
            </a:r>
          </a:p>
        </p:txBody>
      </p:sp>
      <p:sp>
        <p:nvSpPr>
          <p:cNvPr id="16" name="TextBox 15"/>
          <p:cNvSpPr txBox="1"/>
          <p:nvPr/>
        </p:nvSpPr>
        <p:spPr>
          <a:xfrm>
            <a:off x="1453895" y="192938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How it works</a:t>
            </a:r>
          </a:p>
        </p:txBody>
      </p:sp>
      <p:sp>
        <p:nvSpPr>
          <p:cNvPr id="17" name="TextBox 16"/>
          <p:cNvSpPr txBox="1"/>
          <p:nvPr/>
        </p:nvSpPr>
        <p:spPr>
          <a:xfrm>
            <a:off x="1453895" y="222199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A composition reference transfers spatial arrangement and structural relationships without duplicating the source pixels.</a:t>
            </a:r>
          </a:p>
        </p:txBody>
      </p:sp>
      <p:sp>
        <p:nvSpPr>
          <p:cNvPr id="18" name="Rounded Rectangle 17"/>
          <p:cNvSpPr/>
          <p:nvPr/>
        </p:nvSpPr>
        <p:spPr>
          <a:xfrm>
            <a:off x="685800" y="288036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32104" y="3054096"/>
            <a:ext cx="475488" cy="47548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 y="310896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2</a:t>
            </a:r>
          </a:p>
        </p:txBody>
      </p:sp>
      <p:sp>
        <p:nvSpPr>
          <p:cNvPr id="21" name="TextBox 20"/>
          <p:cNvSpPr txBox="1"/>
          <p:nvPr/>
        </p:nvSpPr>
        <p:spPr>
          <a:xfrm>
            <a:off x="1453895" y="302666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Best used for</a:t>
            </a:r>
          </a:p>
        </p:txBody>
      </p:sp>
      <p:sp>
        <p:nvSpPr>
          <p:cNvPr id="22" name="TextBox 21"/>
          <p:cNvSpPr txBox="1"/>
          <p:nvPr/>
        </p:nvSpPr>
        <p:spPr>
          <a:xfrm>
            <a:off x="1453895" y="331927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Maintaining camera position, pose or layout across storyboard alternatives.</a:t>
            </a:r>
          </a:p>
        </p:txBody>
      </p:sp>
      <p:sp>
        <p:nvSpPr>
          <p:cNvPr id="23" name="Rounded Rectangle 22"/>
          <p:cNvSpPr/>
          <p:nvPr/>
        </p:nvSpPr>
        <p:spPr>
          <a:xfrm>
            <a:off x="685800" y="3977639"/>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32104" y="4151376"/>
            <a:ext cx="475488" cy="47548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2104" y="420624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3</a:t>
            </a:r>
          </a:p>
        </p:txBody>
      </p:sp>
      <p:sp>
        <p:nvSpPr>
          <p:cNvPr id="26" name="TextBox 25"/>
          <p:cNvSpPr txBox="1"/>
          <p:nvPr/>
        </p:nvSpPr>
        <p:spPr>
          <a:xfrm>
            <a:off x="1453895" y="412394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Professional decision</a:t>
            </a:r>
          </a:p>
        </p:txBody>
      </p:sp>
      <p:sp>
        <p:nvSpPr>
          <p:cNvPr id="27" name="TextBox 26"/>
          <p:cNvSpPr txBox="1"/>
          <p:nvPr/>
        </p:nvSpPr>
        <p:spPr>
          <a:xfrm>
            <a:off x="1453895" y="441655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Choose this method when its content model and edge behaviour fit the brief.</a:t>
            </a:r>
          </a:p>
        </p:txBody>
      </p:sp>
      <p:sp>
        <p:nvSpPr>
          <p:cNvPr id="28" name="Rounded Rectangle 27"/>
          <p:cNvSpPr/>
          <p:nvPr/>
        </p:nvSpPr>
        <p:spPr>
          <a:xfrm>
            <a:off x="685800" y="507492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32104" y="5248656"/>
            <a:ext cx="475488" cy="47548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2104" y="530352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4</a:t>
            </a:r>
          </a:p>
        </p:txBody>
      </p:sp>
      <p:sp>
        <p:nvSpPr>
          <p:cNvPr id="31" name="TextBox 30"/>
          <p:cNvSpPr txBox="1"/>
          <p:nvPr/>
        </p:nvSpPr>
        <p:spPr>
          <a:xfrm>
            <a:off x="1453895" y="522122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Quality signal</a:t>
            </a:r>
          </a:p>
        </p:txBody>
      </p:sp>
      <p:sp>
        <p:nvSpPr>
          <p:cNvPr id="32" name="TextBox 31"/>
          <p:cNvSpPr txBox="1"/>
          <p:nvPr/>
        </p:nvSpPr>
        <p:spPr>
          <a:xfrm>
            <a:off x="1453895" y="551383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Overlay or side-by-side evidence confirms structural similarity.</a:t>
            </a:r>
          </a:p>
        </p:txBody>
      </p:sp>
    </p:spTree>
  </p:cSld>
  <p:transition spd="med" advClick="1">
    <p:fade/>
  </p:transition>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Composition Reference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Composition Reference</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83</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Reference strength · crop · silhouette · dominant lines · prompt</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Using a reference without rights or expecting identity fidelity.</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Overlay or side-by-side evidence confirms structural similarity.</a:t>
            </a:r>
          </a:p>
        </p:txBody>
      </p:sp>
      <p:sp>
        <p:nvSpPr>
          <p:cNvPr id="23" name="Rounded Rectangle 22"/>
          <p:cNvSpPr/>
          <p:nvPr/>
        </p:nvSpPr>
        <p:spPr>
          <a:xfrm>
            <a:off x="685800" y="5349240"/>
            <a:ext cx="10771632" cy="65836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Worked Artifact · Composition Reference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Composition Reference</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84</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Maintaining camera position, pose or layout across storyboard alternatives.</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B8D9"/>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Reference strength · crop · silhouette · dominant lines · prompt</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Using a reference without rights or expecting identity fidelity.</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7C3AED"/>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Overlay or side-by-side evidence confirms structural similarity.</a:t>
            </a:r>
          </a:p>
        </p:txBody>
      </p:sp>
      <p:sp>
        <p:nvSpPr>
          <p:cNvPr id="30" name="Rounded Rectangle 29"/>
          <p:cNvSpPr/>
          <p:nvPr/>
        </p:nvSpPr>
        <p:spPr>
          <a:xfrm>
            <a:off x="804672" y="5532120"/>
            <a:ext cx="10561320" cy="530352"/>
          </a:xfrm>
          <a:prstGeom prst="roundRect">
            <a:avLst/>
          </a:prstGeom>
          <a:solidFill>
            <a:srgbClr val="FFFFFF"/>
          </a:solidFill>
          <a:ln>
            <a:solidFill>
              <a:srgbClr val="224AF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224AF4"/>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Annotated Decision Model · Composition Reference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Composition Reference</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85</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Reference strength</a:t>
            </a:r>
          </a:p>
        </p:txBody>
      </p:sp>
      <p:sp>
        <p:nvSpPr>
          <p:cNvPr id="16" name="Rounded Rectangle 15"/>
          <p:cNvSpPr/>
          <p:nvPr/>
        </p:nvSpPr>
        <p:spPr>
          <a:xfrm>
            <a:off x="896112" y="3099816"/>
            <a:ext cx="384048" cy="38404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crop</a:t>
            </a:r>
          </a:p>
        </p:txBody>
      </p:sp>
      <p:sp>
        <p:nvSpPr>
          <p:cNvPr id="19" name="Rounded Rectangle 18"/>
          <p:cNvSpPr/>
          <p:nvPr/>
        </p:nvSpPr>
        <p:spPr>
          <a:xfrm>
            <a:off x="896112" y="3685032"/>
            <a:ext cx="384048" cy="38404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silhouette</a:t>
            </a:r>
          </a:p>
        </p:txBody>
      </p:sp>
      <p:sp>
        <p:nvSpPr>
          <p:cNvPr id="22" name="Rounded Rectangle 21"/>
          <p:cNvSpPr/>
          <p:nvPr/>
        </p:nvSpPr>
        <p:spPr>
          <a:xfrm>
            <a:off x="896112" y="4270248"/>
            <a:ext cx="384048"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dominant lines</a:t>
            </a:r>
          </a:p>
        </p:txBody>
      </p:sp>
      <p:sp>
        <p:nvSpPr>
          <p:cNvPr id="25" name="Rounded Rectangle 24"/>
          <p:cNvSpPr/>
          <p:nvPr/>
        </p:nvSpPr>
        <p:spPr>
          <a:xfrm>
            <a:off x="896112" y="4855464"/>
            <a:ext cx="384048" cy="38404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19472"/>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5</a:t>
            </a:r>
          </a:p>
        </p:txBody>
      </p:sp>
      <p:sp>
        <p:nvSpPr>
          <p:cNvPr id="27" name="TextBox 26"/>
          <p:cNvSpPr txBox="1"/>
          <p:nvPr/>
        </p:nvSpPr>
        <p:spPr>
          <a:xfrm>
            <a:off x="1408176" y="4873752"/>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prompt</a:t>
            </a:r>
          </a:p>
        </p:txBody>
      </p:sp>
      <p:sp>
        <p:nvSpPr>
          <p:cNvPr id="28" name="Rounded Rectangle 27"/>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00B8D9"/>
                </a:solidFill>
                <a:latin typeface="Arial"/>
              </a:rPr>
              <a:t>EDITABLE CANVAS / OUTPUT STATE</a:t>
            </a:r>
          </a:p>
        </p:txBody>
      </p:sp>
      <p:sp>
        <p:nvSpPr>
          <p:cNvPr id="31" name="TextBox 30"/>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A composition reference transfers spatial arrangement and structural relationships without duplicating the source pixels.</a:t>
            </a:r>
          </a:p>
        </p:txBody>
      </p:sp>
      <p:sp>
        <p:nvSpPr>
          <p:cNvPr id="32" name="Rounded Rectangle 31"/>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4" name="Rounded Rectangle 33"/>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00B8D9"/>
                </a:solidFill>
                <a:latin typeface="Arial"/>
              </a:rPr>
              <a:t>PROOF PANEL</a:t>
            </a:r>
          </a:p>
        </p:txBody>
      </p:sp>
      <p:sp>
        <p:nvSpPr>
          <p:cNvPr id="36" name="TextBox 35"/>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Overlay or side-by-side evidence confirms structural similarity.</a:t>
            </a:r>
          </a:p>
        </p:txBody>
      </p:sp>
      <p:sp>
        <p:nvSpPr>
          <p:cNvPr id="37" name="TextBox 36"/>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Diagnostic · Composition Reference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Composition Reference</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86</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Using a reference without rights or expecting identity fidelity.</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Reference strength · crop · silhouette · dominant lines · prompt.</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Overlay or side-by-side evidence confirms structural similarity.</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E11D74"/>
                </a:solidFill>
                <a:latin typeface="Arial"/>
              </a:rPr>
              <a:t>Accept only when the defect is reduced and protected content remains intact.</a:t>
            </a:r>
          </a:p>
        </p:txBody>
      </p:sp>
    </p:spTree>
  </p:cSld>
  <p:transition spd="med" advClick="1">
    <p:fade/>
  </p:transition>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CONCEPT 13 · AUTHENTIC ASSET + EDITABLE ANNOTATIONS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Style Reference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Style Reference</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87</a:t>
            </a:r>
          </a:p>
        </p:txBody>
      </p:sp>
      <p:sp>
        <p:nvSpPr>
          <p:cNvPr id="11" name="Rounded Rectangle 10"/>
          <p:cNvSpPr/>
          <p:nvPr/>
        </p:nvSpPr>
        <p:spPr>
          <a:xfrm>
            <a:off x="685800" y="1755648"/>
            <a:ext cx="4828032" cy="4443984"/>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hummingbird.jpg"/>
          <p:cNvPicPr>
            <a:picLocks noChangeAspect="1"/>
          </p:cNvPicPr>
          <p:nvPr/>
        </p:nvPicPr>
        <p:blipFill>
          <a:blip r:embed="rId2"/>
          <a:srcRect l="19362" r="19362"/>
          <a:stretch>
            <a:fillRect/>
          </a:stretch>
        </p:blipFill>
        <p:spPr>
          <a:xfrm>
            <a:off x="758952" y="1828800"/>
            <a:ext cx="4681728" cy="4297680"/>
          </a:xfrm>
          <a:prstGeom prst="rect">
            <a:avLst/>
          </a:prstGeom>
        </p:spPr>
      </p:pic>
      <p:sp>
        <p:nvSpPr>
          <p:cNvPr id="13" name="Rounded Rectangle 12"/>
          <p:cNvSpPr/>
          <p:nvPr/>
        </p:nvSpPr>
        <p:spPr>
          <a:xfrm>
            <a:off x="5742432" y="178308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888736" y="1956816"/>
            <a:ext cx="475488" cy="47548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88736" y="201168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1</a:t>
            </a:r>
          </a:p>
        </p:txBody>
      </p:sp>
      <p:sp>
        <p:nvSpPr>
          <p:cNvPr id="16" name="TextBox 15"/>
          <p:cNvSpPr txBox="1"/>
          <p:nvPr/>
        </p:nvSpPr>
        <p:spPr>
          <a:xfrm>
            <a:off x="6510528" y="192938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How it works</a:t>
            </a:r>
          </a:p>
        </p:txBody>
      </p:sp>
      <p:sp>
        <p:nvSpPr>
          <p:cNvPr id="17" name="TextBox 16"/>
          <p:cNvSpPr txBox="1"/>
          <p:nvPr/>
        </p:nvSpPr>
        <p:spPr>
          <a:xfrm>
            <a:off x="6510528" y="222199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A style reference guides colour, texture, lighting and rendering character while the prompt controls subject matter.</a:t>
            </a:r>
          </a:p>
        </p:txBody>
      </p:sp>
      <p:sp>
        <p:nvSpPr>
          <p:cNvPr id="18" name="Rounded Rectangle 17"/>
          <p:cNvSpPr/>
          <p:nvPr/>
        </p:nvSpPr>
        <p:spPr>
          <a:xfrm>
            <a:off x="5742432" y="288036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888736" y="3054096"/>
            <a:ext cx="475488" cy="47548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88736" y="310896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2</a:t>
            </a:r>
          </a:p>
        </p:txBody>
      </p:sp>
      <p:sp>
        <p:nvSpPr>
          <p:cNvPr id="21" name="TextBox 20"/>
          <p:cNvSpPr txBox="1"/>
          <p:nvPr/>
        </p:nvSpPr>
        <p:spPr>
          <a:xfrm>
            <a:off x="6510528" y="302666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Best used for</a:t>
            </a:r>
          </a:p>
        </p:txBody>
      </p:sp>
      <p:sp>
        <p:nvSpPr>
          <p:cNvPr id="22" name="TextBox 21"/>
          <p:cNvSpPr txBox="1"/>
          <p:nvPr/>
        </p:nvSpPr>
        <p:spPr>
          <a:xfrm>
            <a:off x="6510528" y="331927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Unifying multiple scenes under one art direction.</a:t>
            </a:r>
          </a:p>
        </p:txBody>
      </p:sp>
      <p:sp>
        <p:nvSpPr>
          <p:cNvPr id="23" name="Rounded Rectangle 22"/>
          <p:cNvSpPr/>
          <p:nvPr/>
        </p:nvSpPr>
        <p:spPr>
          <a:xfrm>
            <a:off x="5742432" y="3977639"/>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888736" y="4151376"/>
            <a:ext cx="475488" cy="47548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88736" y="420624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3</a:t>
            </a:r>
          </a:p>
        </p:txBody>
      </p:sp>
      <p:sp>
        <p:nvSpPr>
          <p:cNvPr id="26" name="TextBox 25"/>
          <p:cNvSpPr txBox="1"/>
          <p:nvPr/>
        </p:nvSpPr>
        <p:spPr>
          <a:xfrm>
            <a:off x="6510528" y="412394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Professional decision</a:t>
            </a:r>
          </a:p>
        </p:txBody>
      </p:sp>
      <p:sp>
        <p:nvSpPr>
          <p:cNvPr id="27" name="TextBox 26"/>
          <p:cNvSpPr txBox="1"/>
          <p:nvPr/>
        </p:nvSpPr>
        <p:spPr>
          <a:xfrm>
            <a:off x="6510528" y="441655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Choose this method when its content model and edge behaviour fit the brief.</a:t>
            </a:r>
          </a:p>
        </p:txBody>
      </p:sp>
      <p:sp>
        <p:nvSpPr>
          <p:cNvPr id="28" name="Rounded Rectangle 27"/>
          <p:cNvSpPr/>
          <p:nvPr/>
        </p:nvSpPr>
        <p:spPr>
          <a:xfrm>
            <a:off x="5742432" y="507492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888736" y="5248656"/>
            <a:ext cx="475488" cy="47548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88736" y="530352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4</a:t>
            </a:r>
          </a:p>
        </p:txBody>
      </p:sp>
      <p:sp>
        <p:nvSpPr>
          <p:cNvPr id="31" name="TextBox 30"/>
          <p:cNvSpPr txBox="1"/>
          <p:nvPr/>
        </p:nvSpPr>
        <p:spPr>
          <a:xfrm>
            <a:off x="6510528" y="522122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Quality signal</a:t>
            </a:r>
          </a:p>
        </p:txBody>
      </p:sp>
      <p:sp>
        <p:nvSpPr>
          <p:cNvPr id="32" name="TextBox 31"/>
          <p:cNvSpPr txBox="1"/>
          <p:nvPr/>
        </p:nvSpPr>
        <p:spPr>
          <a:xfrm>
            <a:off x="6510528" y="551383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A contact sheet shows consistent treatment across different subjects.</a:t>
            </a:r>
          </a:p>
        </p:txBody>
      </p:sp>
    </p:spTree>
  </p:cSld>
  <p:transition spd="med" advClick="1">
    <p:fade/>
  </p:transition>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Style Reference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Style Reference</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88</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Reference strength · visual intensity · effects · prompt specificity</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Combining style and composition changes without a baseline.</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A contact sheet shows consistent treatment across different subjects.</a:t>
            </a:r>
          </a:p>
        </p:txBody>
      </p:sp>
      <p:sp>
        <p:nvSpPr>
          <p:cNvPr id="23" name="Rounded Rectangle 22"/>
          <p:cNvSpPr/>
          <p:nvPr/>
        </p:nvSpPr>
        <p:spPr>
          <a:xfrm>
            <a:off x="685800" y="5349240"/>
            <a:ext cx="10771632" cy="65836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Worked Artifact · Style Reference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Style Reference</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89</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B8D9"/>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Unifying multiple scenes under one art direction.</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Reference strength · visual intensity · effects · prompt specificity</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7C3AED"/>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Combining style and composition changes without a baseline.</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A contact sheet shows consistent treatment across different subjects.</a:t>
            </a:r>
          </a:p>
        </p:txBody>
      </p:sp>
      <p:sp>
        <p:nvSpPr>
          <p:cNvPr id="30" name="Rounded Rectangle 29"/>
          <p:cNvSpPr/>
          <p:nvPr/>
        </p:nvSpPr>
        <p:spPr>
          <a:xfrm>
            <a:off x="804672" y="5532120"/>
            <a:ext cx="10561320" cy="530352"/>
          </a:xfrm>
          <a:prstGeom prst="roundRect">
            <a:avLst/>
          </a:prstGeom>
          <a:solidFill>
            <a:srgbClr val="FFFFFF"/>
          </a:solidFill>
          <a:ln>
            <a:solidFill>
              <a:srgbClr val="00B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00B8D9"/>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Annotated Decision Model · Style Reference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Style Reference</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90</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Reference strength</a:t>
            </a:r>
          </a:p>
        </p:txBody>
      </p:sp>
      <p:sp>
        <p:nvSpPr>
          <p:cNvPr id="16" name="Rounded Rectangle 15"/>
          <p:cNvSpPr/>
          <p:nvPr/>
        </p:nvSpPr>
        <p:spPr>
          <a:xfrm>
            <a:off x="896112" y="3099816"/>
            <a:ext cx="384048" cy="38404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visual intensity</a:t>
            </a:r>
          </a:p>
        </p:txBody>
      </p:sp>
      <p:sp>
        <p:nvSpPr>
          <p:cNvPr id="19" name="Rounded Rectangle 18"/>
          <p:cNvSpPr/>
          <p:nvPr/>
        </p:nvSpPr>
        <p:spPr>
          <a:xfrm>
            <a:off x="896112" y="3685032"/>
            <a:ext cx="384048"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effects</a:t>
            </a:r>
          </a:p>
        </p:txBody>
      </p:sp>
      <p:sp>
        <p:nvSpPr>
          <p:cNvPr id="22" name="Rounded Rectangle 21"/>
          <p:cNvSpPr/>
          <p:nvPr/>
        </p:nvSpPr>
        <p:spPr>
          <a:xfrm>
            <a:off x="896112" y="4270248"/>
            <a:ext cx="384048" cy="38404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prompt specificity</a:t>
            </a:r>
          </a:p>
        </p:txBody>
      </p:sp>
      <p:sp>
        <p:nvSpPr>
          <p:cNvPr id="25" name="Rounded Rectangle 24"/>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E11D74"/>
                </a:solidFill>
                <a:latin typeface="Arial"/>
              </a:rPr>
              <a:t>EDITABLE CANVAS / OUTPUT STATE</a:t>
            </a:r>
          </a:p>
        </p:txBody>
      </p:sp>
      <p:sp>
        <p:nvSpPr>
          <p:cNvPr id="28" name="TextBox 27"/>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A style reference guides colour, texture, lighting and rendering character while the prompt controls subject matter.</a:t>
            </a:r>
          </a:p>
        </p:txBody>
      </p:sp>
      <p:sp>
        <p:nvSpPr>
          <p:cNvPr id="29" name="Rounded Rectangle 28"/>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1" name="Rounded Rectangle 30"/>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E11D74"/>
                </a:solidFill>
                <a:latin typeface="Arial"/>
              </a:rPr>
              <a:t>PROOF PANEL</a:t>
            </a:r>
          </a:p>
        </p:txBody>
      </p:sp>
      <p:sp>
        <p:nvSpPr>
          <p:cNvPr id="33" name="TextBox 32"/>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A contact sheet shows consistent treatment across different subjects.</a:t>
            </a:r>
          </a:p>
        </p:txBody>
      </p:sp>
      <p:sp>
        <p:nvSpPr>
          <p:cNvPr id="34" name="TextBox 33"/>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Diagnostic · Style Reference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Style Reference</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91</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Combining style and composition changes without a baseline.</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Reference strength · visual intensity · effects · prompt specificity.</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A contact sheet shows consistent treatment across different subjects.</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7C3AED"/>
                </a:solidFill>
                <a:latin typeface="Arial"/>
              </a:rPr>
              <a:t>Accept only when the defect is reduced and protected content remains intact.</a:t>
            </a:r>
          </a:p>
        </p:txBody>
      </p:sp>
    </p:spTree>
  </p:cSld>
  <p:transition spd="med" advClick="1">
    <p:fade/>
  </p:transition>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CONCEPT 14 · AUTHENTIC ASSET + EDITABLE ANNOTATIONS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Storyboard Architecture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92</a:t>
            </a:r>
          </a:p>
        </p:txBody>
      </p:sp>
      <p:sp>
        <p:nvSpPr>
          <p:cNvPr id="11" name="Rounded Rectangle 10"/>
          <p:cNvSpPr/>
          <p:nvPr/>
        </p:nvSpPr>
        <p:spPr>
          <a:xfrm>
            <a:off x="6675120" y="1755648"/>
            <a:ext cx="4828032" cy="4443984"/>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dventure.jpg"/>
          <p:cNvPicPr>
            <a:picLocks noChangeAspect="1"/>
          </p:cNvPicPr>
          <p:nvPr/>
        </p:nvPicPr>
        <p:blipFill>
          <a:blip r:embed="rId2"/>
          <a:srcRect l="21824" r="21824"/>
          <a:stretch>
            <a:fillRect/>
          </a:stretch>
        </p:blipFill>
        <p:spPr>
          <a:xfrm>
            <a:off x="6748272" y="1828800"/>
            <a:ext cx="4681728" cy="4297680"/>
          </a:xfrm>
          <a:prstGeom prst="rect">
            <a:avLst/>
          </a:prstGeom>
        </p:spPr>
      </p:pic>
      <p:sp>
        <p:nvSpPr>
          <p:cNvPr id="13" name="Rounded Rectangle 12"/>
          <p:cNvSpPr/>
          <p:nvPr/>
        </p:nvSpPr>
        <p:spPr>
          <a:xfrm>
            <a:off x="685800" y="178308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32104" y="1956816"/>
            <a:ext cx="475488" cy="47548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 y="201168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1</a:t>
            </a:r>
          </a:p>
        </p:txBody>
      </p:sp>
      <p:sp>
        <p:nvSpPr>
          <p:cNvPr id="16" name="TextBox 15"/>
          <p:cNvSpPr txBox="1"/>
          <p:nvPr/>
        </p:nvSpPr>
        <p:spPr>
          <a:xfrm>
            <a:off x="1453895" y="192938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How it works</a:t>
            </a:r>
          </a:p>
        </p:txBody>
      </p:sp>
      <p:sp>
        <p:nvSpPr>
          <p:cNvPr id="17" name="TextBox 16"/>
          <p:cNvSpPr txBox="1"/>
          <p:nvPr/>
        </p:nvSpPr>
        <p:spPr>
          <a:xfrm>
            <a:off x="1453895" y="222199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A storyboard converts a narrative into beats with a purpose, frame, transition and evidence for each beat.</a:t>
            </a:r>
          </a:p>
        </p:txBody>
      </p:sp>
      <p:sp>
        <p:nvSpPr>
          <p:cNvPr id="18" name="Rounded Rectangle 17"/>
          <p:cNvSpPr/>
          <p:nvPr/>
        </p:nvSpPr>
        <p:spPr>
          <a:xfrm>
            <a:off x="685800" y="288036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32104" y="3054096"/>
            <a:ext cx="475488" cy="47548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 y="310896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2</a:t>
            </a:r>
          </a:p>
        </p:txBody>
      </p:sp>
      <p:sp>
        <p:nvSpPr>
          <p:cNvPr id="21" name="TextBox 20"/>
          <p:cNvSpPr txBox="1"/>
          <p:nvPr/>
        </p:nvSpPr>
        <p:spPr>
          <a:xfrm>
            <a:off x="1453895" y="302666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Best used for</a:t>
            </a:r>
          </a:p>
        </p:txBody>
      </p:sp>
      <p:sp>
        <p:nvSpPr>
          <p:cNvPr id="22" name="TextBox 21"/>
          <p:cNvSpPr txBox="1"/>
          <p:nvPr/>
        </p:nvSpPr>
        <p:spPr>
          <a:xfrm>
            <a:off x="1453895" y="331927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Explaining an experience, campaign sequence or task journey.</a:t>
            </a:r>
          </a:p>
        </p:txBody>
      </p:sp>
      <p:sp>
        <p:nvSpPr>
          <p:cNvPr id="23" name="Rounded Rectangle 22"/>
          <p:cNvSpPr/>
          <p:nvPr/>
        </p:nvSpPr>
        <p:spPr>
          <a:xfrm>
            <a:off x="685800" y="3977639"/>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32104" y="4151376"/>
            <a:ext cx="475488" cy="47548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2104" y="420624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3</a:t>
            </a:r>
          </a:p>
        </p:txBody>
      </p:sp>
      <p:sp>
        <p:nvSpPr>
          <p:cNvPr id="26" name="TextBox 25"/>
          <p:cNvSpPr txBox="1"/>
          <p:nvPr/>
        </p:nvSpPr>
        <p:spPr>
          <a:xfrm>
            <a:off x="1453895" y="412394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Professional decision</a:t>
            </a:r>
          </a:p>
        </p:txBody>
      </p:sp>
      <p:sp>
        <p:nvSpPr>
          <p:cNvPr id="27" name="TextBox 26"/>
          <p:cNvSpPr txBox="1"/>
          <p:nvPr/>
        </p:nvSpPr>
        <p:spPr>
          <a:xfrm>
            <a:off x="1453895" y="441655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Choose this method when its content model and edge behaviour fit the brief.</a:t>
            </a:r>
          </a:p>
        </p:txBody>
      </p:sp>
      <p:sp>
        <p:nvSpPr>
          <p:cNvPr id="28" name="Rounded Rectangle 27"/>
          <p:cNvSpPr/>
          <p:nvPr/>
        </p:nvSpPr>
        <p:spPr>
          <a:xfrm>
            <a:off x="685800" y="507492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32104" y="5248656"/>
            <a:ext cx="475488" cy="47548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2104" y="530352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4</a:t>
            </a:r>
          </a:p>
        </p:txBody>
      </p:sp>
      <p:sp>
        <p:nvSpPr>
          <p:cNvPr id="31" name="TextBox 30"/>
          <p:cNvSpPr txBox="1"/>
          <p:nvPr/>
        </p:nvSpPr>
        <p:spPr>
          <a:xfrm>
            <a:off x="1453895" y="522122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Quality signal</a:t>
            </a:r>
          </a:p>
        </p:txBody>
      </p:sp>
      <p:sp>
        <p:nvSpPr>
          <p:cNvPr id="32" name="TextBox 31"/>
          <p:cNvSpPr txBox="1"/>
          <p:nvPr/>
        </p:nvSpPr>
        <p:spPr>
          <a:xfrm>
            <a:off x="1453895" y="551383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Every frame has a caption, purpose and transition note.</a:t>
            </a:r>
          </a:p>
        </p:txBody>
      </p:sp>
    </p:spTree>
  </p:cSld>
  <p:transition spd="med" advClick="1">
    <p:fade/>
  </p:transition>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Storyboard Architecture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93</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Opening · context · action · transformation · outcome · CTA</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A gallery of attractive images with no causal sequence.</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Every frame has a caption, purpose and transition note.</a:t>
            </a:r>
          </a:p>
        </p:txBody>
      </p:sp>
      <p:sp>
        <p:nvSpPr>
          <p:cNvPr id="23" name="Rounded Rectangle 22"/>
          <p:cNvSpPr/>
          <p:nvPr/>
        </p:nvSpPr>
        <p:spPr>
          <a:xfrm>
            <a:off x="685800" y="5349240"/>
            <a:ext cx="10771632" cy="65836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Worked Artifact · Storyboard Architecture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94</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Explaining an experience, campaign sequence or task journey.</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7C3AED"/>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Opening · context · action · transformation · outcome · CTA</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A gallery of attractive images with no causal sequence.</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98500"/>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Every frame has a caption, purpose and transition note.</a:t>
            </a:r>
          </a:p>
        </p:txBody>
      </p:sp>
      <p:sp>
        <p:nvSpPr>
          <p:cNvPr id="30" name="Rounded Rectangle 29"/>
          <p:cNvSpPr/>
          <p:nvPr/>
        </p:nvSpPr>
        <p:spPr>
          <a:xfrm>
            <a:off x="804672" y="5532120"/>
            <a:ext cx="10561320" cy="530352"/>
          </a:xfrm>
          <a:prstGeom prst="roundRect">
            <a:avLst/>
          </a:prstGeom>
          <a:solidFill>
            <a:srgbClr val="FFFFFF"/>
          </a:solidFill>
          <a:ln>
            <a:solidFill>
              <a:srgbClr val="E11D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E11D74"/>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Annotated Decision Model · Storyboard Architecture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95</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Opening</a:t>
            </a:r>
          </a:p>
        </p:txBody>
      </p:sp>
      <p:sp>
        <p:nvSpPr>
          <p:cNvPr id="16" name="Rounded Rectangle 15"/>
          <p:cNvSpPr/>
          <p:nvPr/>
        </p:nvSpPr>
        <p:spPr>
          <a:xfrm>
            <a:off x="896112" y="3099816"/>
            <a:ext cx="384048"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context</a:t>
            </a:r>
          </a:p>
        </p:txBody>
      </p:sp>
      <p:sp>
        <p:nvSpPr>
          <p:cNvPr id="19" name="Rounded Rectangle 18"/>
          <p:cNvSpPr/>
          <p:nvPr/>
        </p:nvSpPr>
        <p:spPr>
          <a:xfrm>
            <a:off x="896112" y="3685032"/>
            <a:ext cx="384048" cy="38404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action</a:t>
            </a:r>
          </a:p>
        </p:txBody>
      </p:sp>
      <p:sp>
        <p:nvSpPr>
          <p:cNvPr id="22" name="Rounded Rectangle 21"/>
          <p:cNvSpPr/>
          <p:nvPr/>
        </p:nvSpPr>
        <p:spPr>
          <a:xfrm>
            <a:off x="896112" y="4270248"/>
            <a:ext cx="384048" cy="38404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transformation</a:t>
            </a:r>
          </a:p>
        </p:txBody>
      </p:sp>
      <p:sp>
        <p:nvSpPr>
          <p:cNvPr id="25" name="Rounded Rectangle 24"/>
          <p:cNvSpPr/>
          <p:nvPr/>
        </p:nvSpPr>
        <p:spPr>
          <a:xfrm>
            <a:off x="896112" y="4855464"/>
            <a:ext cx="384048" cy="38404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19472"/>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5</a:t>
            </a:r>
          </a:p>
        </p:txBody>
      </p:sp>
      <p:sp>
        <p:nvSpPr>
          <p:cNvPr id="27" name="TextBox 26"/>
          <p:cNvSpPr txBox="1"/>
          <p:nvPr/>
        </p:nvSpPr>
        <p:spPr>
          <a:xfrm>
            <a:off x="1408176" y="4873752"/>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outcome</a:t>
            </a:r>
          </a:p>
        </p:txBody>
      </p:sp>
      <p:sp>
        <p:nvSpPr>
          <p:cNvPr id="28" name="Rounded Rectangle 27"/>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7C3AED"/>
                </a:solidFill>
                <a:latin typeface="Arial"/>
              </a:rPr>
              <a:t>EDITABLE CANVAS / OUTPUT STATE</a:t>
            </a:r>
          </a:p>
        </p:txBody>
      </p:sp>
      <p:sp>
        <p:nvSpPr>
          <p:cNvPr id="31" name="TextBox 30"/>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A storyboard converts a narrative into beats with a purpose, frame, transition and evidence for each beat.</a:t>
            </a:r>
          </a:p>
        </p:txBody>
      </p:sp>
      <p:sp>
        <p:nvSpPr>
          <p:cNvPr id="32" name="Rounded Rectangle 31"/>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4" name="Rounded Rectangle 33"/>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7C3AED"/>
                </a:solidFill>
                <a:latin typeface="Arial"/>
              </a:rPr>
              <a:t>PROOF PANEL</a:t>
            </a:r>
          </a:p>
        </p:txBody>
      </p:sp>
      <p:sp>
        <p:nvSpPr>
          <p:cNvPr id="36" name="TextBox 35"/>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Every frame has a caption, purpose and transition note.</a:t>
            </a:r>
          </a:p>
        </p:txBody>
      </p:sp>
      <p:sp>
        <p:nvSpPr>
          <p:cNvPr id="37" name="TextBox 36"/>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Diagnostic · Storyboard Architecture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96</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A gallery of attractive images with no causal sequence.</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Opening · context · action · transformation · outcome · CTA.</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Every frame has a caption, purpose and transition note.</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Accept only when the defect is reduced and protected content remains intact.</a:t>
            </a:r>
          </a:p>
        </p:txBody>
      </p:sp>
    </p:spTree>
  </p:cSld>
  <p:transition spd="med" advClick="1">
    <p:fade/>
  </p:transition>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CONCEPT 15 · AUTHENTIC ASSET + EDITABLE ANNOTATIONS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Task Flow for Team Collaboration</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97</a:t>
            </a:r>
          </a:p>
        </p:txBody>
      </p:sp>
      <p:sp>
        <p:nvSpPr>
          <p:cNvPr id="11" name="Rounded Rectangle 10"/>
          <p:cNvSpPr/>
          <p:nvPr/>
        </p:nvSpPr>
        <p:spPr>
          <a:xfrm>
            <a:off x="685800" y="1755648"/>
            <a:ext cx="4828032" cy="4443984"/>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refly_a robot dancing at a party 830052.jpg"/>
          <p:cNvPicPr>
            <a:picLocks noChangeAspect="1"/>
          </p:cNvPicPr>
          <p:nvPr/>
        </p:nvPicPr>
        <p:blipFill>
          <a:blip r:embed="rId2"/>
          <a:srcRect l="7636" r="7636"/>
          <a:stretch>
            <a:fillRect/>
          </a:stretch>
        </p:blipFill>
        <p:spPr>
          <a:xfrm>
            <a:off x="758952" y="1828800"/>
            <a:ext cx="4681728" cy="4297680"/>
          </a:xfrm>
          <a:prstGeom prst="rect">
            <a:avLst/>
          </a:prstGeom>
        </p:spPr>
      </p:pic>
      <p:sp>
        <p:nvSpPr>
          <p:cNvPr id="13" name="Rounded Rectangle 12"/>
          <p:cNvSpPr/>
          <p:nvPr/>
        </p:nvSpPr>
        <p:spPr>
          <a:xfrm>
            <a:off x="5742432" y="178308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888736" y="1956816"/>
            <a:ext cx="475488" cy="47548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88736" y="201168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1</a:t>
            </a:r>
          </a:p>
        </p:txBody>
      </p:sp>
      <p:sp>
        <p:nvSpPr>
          <p:cNvPr id="16" name="TextBox 15"/>
          <p:cNvSpPr txBox="1"/>
          <p:nvPr/>
        </p:nvSpPr>
        <p:spPr>
          <a:xfrm>
            <a:off x="6510528" y="192938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How it works</a:t>
            </a:r>
          </a:p>
        </p:txBody>
      </p:sp>
      <p:sp>
        <p:nvSpPr>
          <p:cNvPr id="17" name="TextBox 16"/>
          <p:cNvSpPr txBox="1"/>
          <p:nvPr/>
        </p:nvSpPr>
        <p:spPr>
          <a:xfrm>
            <a:off x="6510528" y="222199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A task flow assigns inputs, decisions, hand-offs and review gates so visual work can be repeated by a team.</a:t>
            </a:r>
          </a:p>
        </p:txBody>
      </p:sp>
      <p:sp>
        <p:nvSpPr>
          <p:cNvPr id="18" name="Rounded Rectangle 17"/>
          <p:cNvSpPr/>
          <p:nvPr/>
        </p:nvSpPr>
        <p:spPr>
          <a:xfrm>
            <a:off x="5742432" y="288036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888736" y="3054096"/>
            <a:ext cx="475488" cy="47548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88736" y="310896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2</a:t>
            </a:r>
          </a:p>
        </p:txBody>
      </p:sp>
      <p:sp>
        <p:nvSpPr>
          <p:cNvPr id="21" name="TextBox 20"/>
          <p:cNvSpPr txBox="1"/>
          <p:nvPr/>
        </p:nvSpPr>
        <p:spPr>
          <a:xfrm>
            <a:off x="6510528" y="302666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Best used for</a:t>
            </a:r>
          </a:p>
        </p:txBody>
      </p:sp>
      <p:sp>
        <p:nvSpPr>
          <p:cNvPr id="22" name="TextBox 21"/>
          <p:cNvSpPr txBox="1"/>
          <p:nvPr/>
        </p:nvSpPr>
        <p:spPr>
          <a:xfrm>
            <a:off x="6510528" y="331927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Moving from ideation to approved, editable and channel-ready output.</a:t>
            </a:r>
          </a:p>
        </p:txBody>
      </p:sp>
      <p:sp>
        <p:nvSpPr>
          <p:cNvPr id="23" name="Rounded Rectangle 22"/>
          <p:cNvSpPr/>
          <p:nvPr/>
        </p:nvSpPr>
        <p:spPr>
          <a:xfrm>
            <a:off x="5742432" y="3977639"/>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888736" y="4151376"/>
            <a:ext cx="475488" cy="47548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88736" y="420624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3</a:t>
            </a:r>
          </a:p>
        </p:txBody>
      </p:sp>
      <p:sp>
        <p:nvSpPr>
          <p:cNvPr id="26" name="TextBox 25"/>
          <p:cNvSpPr txBox="1"/>
          <p:nvPr/>
        </p:nvSpPr>
        <p:spPr>
          <a:xfrm>
            <a:off x="6510528" y="412394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Professional decision</a:t>
            </a:r>
          </a:p>
        </p:txBody>
      </p:sp>
      <p:sp>
        <p:nvSpPr>
          <p:cNvPr id="27" name="TextBox 26"/>
          <p:cNvSpPr txBox="1"/>
          <p:nvPr/>
        </p:nvSpPr>
        <p:spPr>
          <a:xfrm>
            <a:off x="6510528" y="441655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Choose this method when its content model and edge behaviour fit the brief.</a:t>
            </a:r>
          </a:p>
        </p:txBody>
      </p:sp>
      <p:sp>
        <p:nvSpPr>
          <p:cNvPr id="28" name="Rounded Rectangle 27"/>
          <p:cNvSpPr/>
          <p:nvPr/>
        </p:nvSpPr>
        <p:spPr>
          <a:xfrm>
            <a:off x="5742432" y="507492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888736" y="5248656"/>
            <a:ext cx="475488" cy="47548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88736" y="530352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4</a:t>
            </a:r>
          </a:p>
        </p:txBody>
      </p:sp>
      <p:sp>
        <p:nvSpPr>
          <p:cNvPr id="31" name="TextBox 30"/>
          <p:cNvSpPr txBox="1"/>
          <p:nvPr/>
        </p:nvSpPr>
        <p:spPr>
          <a:xfrm>
            <a:off x="6510528" y="522122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Quality signal</a:t>
            </a:r>
          </a:p>
        </p:txBody>
      </p:sp>
      <p:sp>
        <p:nvSpPr>
          <p:cNvPr id="32" name="TextBox 31"/>
          <p:cNvSpPr txBox="1"/>
          <p:nvPr/>
        </p:nvSpPr>
        <p:spPr>
          <a:xfrm>
            <a:off x="6510528" y="551383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A flow diagram identifies ownership and acceptance at each gate.</a:t>
            </a:r>
          </a:p>
        </p:txBody>
      </p:sp>
    </p:spTree>
  </p:cSld>
  <p:transition spd="med" advClick="1">
    <p:fade/>
  </p:transition>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98500"/>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Task Flow for Team Collaboration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98</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Owner · input · action · decision · output · reviewer</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Unowned approval steps or ambiguous version names.</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A flow diagram identifies ownership and acceptance at each gate.</a:t>
            </a:r>
          </a:p>
        </p:txBody>
      </p:sp>
      <p:sp>
        <p:nvSpPr>
          <p:cNvPr id="23" name="Rounded Rectangle 22"/>
          <p:cNvSpPr/>
          <p:nvPr/>
        </p:nvSpPr>
        <p:spPr>
          <a:xfrm>
            <a:off x="685800" y="5349240"/>
            <a:ext cx="10771632" cy="65836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Worked Artifact · Task Flow for Team Collaboration</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99</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7C3AED"/>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Moving from ideation to approved, editable and channel-ready output.</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Owner · input · action · decision · output · reviewer</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98500"/>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Unowned approval steps or ambiguous version names.</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A flow diagram identifies ownership and acceptance at each gate.</a:t>
            </a:r>
          </a:p>
        </p:txBody>
      </p:sp>
      <p:sp>
        <p:nvSpPr>
          <p:cNvPr id="30" name="Rounded Rectangle 29"/>
          <p:cNvSpPr/>
          <p:nvPr/>
        </p:nvSpPr>
        <p:spPr>
          <a:xfrm>
            <a:off x="804672" y="5532120"/>
            <a:ext cx="10561320" cy="530352"/>
          </a:xfrm>
          <a:prstGeom prst="roundRect">
            <a:avLst/>
          </a:prstGeom>
          <a:solidFill>
            <a:srgbClr val="FFFFFF"/>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7C3AED"/>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Annotated Decision Model · Task Flow for Team Collaboration</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100</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Owner</a:t>
            </a:r>
          </a:p>
        </p:txBody>
      </p:sp>
      <p:sp>
        <p:nvSpPr>
          <p:cNvPr id="16" name="Rounded Rectangle 15"/>
          <p:cNvSpPr/>
          <p:nvPr/>
        </p:nvSpPr>
        <p:spPr>
          <a:xfrm>
            <a:off x="896112" y="3099816"/>
            <a:ext cx="384048" cy="38404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input</a:t>
            </a:r>
          </a:p>
        </p:txBody>
      </p:sp>
      <p:sp>
        <p:nvSpPr>
          <p:cNvPr id="19" name="Rounded Rectangle 18"/>
          <p:cNvSpPr/>
          <p:nvPr/>
        </p:nvSpPr>
        <p:spPr>
          <a:xfrm>
            <a:off x="896112" y="3685032"/>
            <a:ext cx="384048" cy="38404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action</a:t>
            </a:r>
          </a:p>
        </p:txBody>
      </p:sp>
      <p:sp>
        <p:nvSpPr>
          <p:cNvPr id="22" name="Rounded Rectangle 21"/>
          <p:cNvSpPr/>
          <p:nvPr/>
        </p:nvSpPr>
        <p:spPr>
          <a:xfrm>
            <a:off x="896112" y="4270248"/>
            <a:ext cx="384048" cy="38404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decision</a:t>
            </a:r>
          </a:p>
        </p:txBody>
      </p:sp>
      <p:sp>
        <p:nvSpPr>
          <p:cNvPr id="25" name="Rounded Rectangle 24"/>
          <p:cNvSpPr/>
          <p:nvPr/>
        </p:nvSpPr>
        <p:spPr>
          <a:xfrm>
            <a:off x="896112" y="4855464"/>
            <a:ext cx="384048" cy="38404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19472"/>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5</a:t>
            </a:r>
          </a:p>
        </p:txBody>
      </p:sp>
      <p:sp>
        <p:nvSpPr>
          <p:cNvPr id="27" name="TextBox 26"/>
          <p:cNvSpPr txBox="1"/>
          <p:nvPr/>
        </p:nvSpPr>
        <p:spPr>
          <a:xfrm>
            <a:off x="1408176" y="4873752"/>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output</a:t>
            </a:r>
          </a:p>
        </p:txBody>
      </p:sp>
      <p:sp>
        <p:nvSpPr>
          <p:cNvPr id="28" name="Rounded Rectangle 27"/>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009A78"/>
                </a:solidFill>
                <a:latin typeface="Arial"/>
              </a:rPr>
              <a:t>EDITABLE CANVAS / OUTPUT STATE</a:t>
            </a:r>
          </a:p>
        </p:txBody>
      </p:sp>
      <p:sp>
        <p:nvSpPr>
          <p:cNvPr id="31" name="TextBox 30"/>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A task flow assigns inputs, decisions, hand-offs and review gates so visual work can be repeated by a team.</a:t>
            </a:r>
          </a:p>
        </p:txBody>
      </p:sp>
      <p:sp>
        <p:nvSpPr>
          <p:cNvPr id="32" name="Rounded Rectangle 31"/>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4" name="Rounded Rectangle 33"/>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009A78"/>
                </a:solidFill>
                <a:latin typeface="Arial"/>
              </a:rPr>
              <a:t>PROOF PANEL</a:t>
            </a:r>
          </a:p>
        </p:txBody>
      </p:sp>
      <p:sp>
        <p:nvSpPr>
          <p:cNvPr id="36" name="TextBox 35"/>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A flow diagram identifies ownership and acceptance at each gate.</a:t>
            </a:r>
          </a:p>
        </p:txBody>
      </p:sp>
      <p:sp>
        <p:nvSpPr>
          <p:cNvPr id="37" name="TextBox 36"/>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98500"/>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Diagnostic · Task Flow for Team Collaboration</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101</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Unowned approval steps or ambiguous version names.</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Owner · input · action · decision · output · reviewer.</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A flow diagram identifies ownership and acceptance at each gate.</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E98500"/>
                </a:solidFill>
                <a:latin typeface="Arial"/>
              </a:rPr>
              <a:t>Accept only when the defect is reduced and protected content remains intact.</a:t>
            </a:r>
          </a:p>
        </p:txBody>
      </p:sp>
    </p:spTree>
  </p:cSld>
  <p:transition spd="med" advClick="1">
    <p:fade/>
  </p:transition>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CONCEPT 16 · AUTHENTIC ASSET + EDITABLE ANNOTATIONS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Generated Texture with Editable Photoshop Type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 — Create type; Create and manage clipping masks</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102</a:t>
            </a:r>
          </a:p>
        </p:txBody>
      </p:sp>
      <p:sp>
        <p:nvSpPr>
          <p:cNvPr id="11" name="Rounded Rectangle 10"/>
          <p:cNvSpPr/>
          <p:nvPr/>
        </p:nvSpPr>
        <p:spPr>
          <a:xfrm>
            <a:off x="6675120" y="1755648"/>
            <a:ext cx="4828032" cy="4443984"/>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ark bench.jpg"/>
          <p:cNvPicPr>
            <a:picLocks noChangeAspect="1"/>
          </p:cNvPicPr>
          <p:nvPr/>
        </p:nvPicPr>
        <p:blipFill>
          <a:blip r:embed="rId2"/>
          <a:srcRect t="12985" b="12985"/>
          <a:stretch>
            <a:fillRect/>
          </a:stretch>
        </p:blipFill>
        <p:spPr>
          <a:xfrm>
            <a:off x="6748272" y="1828800"/>
            <a:ext cx="4681728" cy="4297680"/>
          </a:xfrm>
          <a:prstGeom prst="rect">
            <a:avLst/>
          </a:prstGeom>
        </p:spPr>
      </p:pic>
      <p:sp>
        <p:nvSpPr>
          <p:cNvPr id="13" name="Rounded Rectangle 12"/>
          <p:cNvSpPr/>
          <p:nvPr/>
        </p:nvSpPr>
        <p:spPr>
          <a:xfrm>
            <a:off x="685800" y="178308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32104" y="1956816"/>
            <a:ext cx="475488" cy="47548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 y="201168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1</a:t>
            </a:r>
          </a:p>
        </p:txBody>
      </p:sp>
      <p:sp>
        <p:nvSpPr>
          <p:cNvPr id="16" name="TextBox 15"/>
          <p:cNvSpPr txBox="1"/>
          <p:nvPr/>
        </p:nvSpPr>
        <p:spPr>
          <a:xfrm>
            <a:off x="1453895" y="192938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How it works</a:t>
            </a:r>
          </a:p>
        </p:txBody>
      </p:sp>
      <p:sp>
        <p:nvSpPr>
          <p:cNvPr id="17" name="TextBox 16"/>
          <p:cNvSpPr txBox="1"/>
          <p:nvPr/>
        </p:nvSpPr>
        <p:spPr>
          <a:xfrm>
            <a:off x="1453895" y="222199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Generate a rights-aware texture as imagery. Keep editable type as the base layer, place the generated texture immediately above it, and clip the texture to the type so the letterforms control visibility without rasterising the text.</a:t>
            </a:r>
          </a:p>
        </p:txBody>
      </p:sp>
      <p:sp>
        <p:nvSpPr>
          <p:cNvPr id="18" name="Rounded Rectangle 17"/>
          <p:cNvSpPr/>
          <p:nvPr/>
        </p:nvSpPr>
        <p:spPr>
          <a:xfrm>
            <a:off x="685800" y="288036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32104" y="3054096"/>
            <a:ext cx="475488" cy="47548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 y="310896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2</a:t>
            </a:r>
          </a:p>
        </p:txBody>
      </p:sp>
      <p:sp>
        <p:nvSpPr>
          <p:cNvPr id="21" name="TextBox 20"/>
          <p:cNvSpPr txBox="1"/>
          <p:nvPr/>
        </p:nvSpPr>
        <p:spPr>
          <a:xfrm>
            <a:off x="1453895" y="302666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Best used for</a:t>
            </a:r>
          </a:p>
        </p:txBody>
      </p:sp>
      <p:sp>
        <p:nvSpPr>
          <p:cNvPr id="22" name="TextBox 21"/>
          <p:cNvSpPr txBox="1"/>
          <p:nvPr/>
        </p:nvSpPr>
        <p:spPr>
          <a:xfrm>
            <a:off x="1453895" y="331927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Creating expressive display typography while keeping wording, font, colour and fit editable.</a:t>
            </a:r>
          </a:p>
        </p:txBody>
      </p:sp>
      <p:sp>
        <p:nvSpPr>
          <p:cNvPr id="23" name="Rounded Rectangle 22"/>
          <p:cNvSpPr/>
          <p:nvPr/>
        </p:nvSpPr>
        <p:spPr>
          <a:xfrm>
            <a:off x="685800" y="3977639"/>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32104" y="4151376"/>
            <a:ext cx="475488" cy="47548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2104" y="420624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3</a:t>
            </a:r>
          </a:p>
        </p:txBody>
      </p:sp>
      <p:sp>
        <p:nvSpPr>
          <p:cNvPr id="26" name="TextBox 25"/>
          <p:cNvSpPr txBox="1"/>
          <p:nvPr/>
        </p:nvSpPr>
        <p:spPr>
          <a:xfrm>
            <a:off x="1453895" y="412394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Professional decision</a:t>
            </a:r>
          </a:p>
        </p:txBody>
      </p:sp>
      <p:sp>
        <p:nvSpPr>
          <p:cNvPr id="27" name="TextBox 26"/>
          <p:cNvSpPr txBox="1"/>
          <p:nvPr/>
        </p:nvSpPr>
        <p:spPr>
          <a:xfrm>
            <a:off x="1453895" y="441655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Choose this method when its content model and edge behaviour fit the brief.</a:t>
            </a:r>
          </a:p>
        </p:txBody>
      </p:sp>
      <p:sp>
        <p:nvSpPr>
          <p:cNvPr id="28" name="Rounded Rectangle 27"/>
          <p:cNvSpPr/>
          <p:nvPr/>
        </p:nvSpPr>
        <p:spPr>
          <a:xfrm>
            <a:off x="685800" y="507492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32104" y="5248656"/>
            <a:ext cx="475488" cy="47548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2104" y="530352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4</a:t>
            </a:r>
          </a:p>
        </p:txBody>
      </p:sp>
      <p:sp>
        <p:nvSpPr>
          <p:cNvPr id="31" name="TextBox 30"/>
          <p:cNvSpPr txBox="1"/>
          <p:nvPr/>
        </p:nvSpPr>
        <p:spPr>
          <a:xfrm>
            <a:off x="1453895" y="522122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Quality signal</a:t>
            </a:r>
          </a:p>
        </p:txBody>
      </p:sp>
      <p:sp>
        <p:nvSpPr>
          <p:cNvPr id="32" name="TextBox 31"/>
          <p:cNvSpPr txBox="1"/>
          <p:nvPr/>
        </p:nvSpPr>
        <p:spPr>
          <a:xfrm>
            <a:off x="1453895" y="551383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The PSD retains a live type base layer, clipped texture layer immediately above it and named colour/fit controls; the reopened export passes a thumbnail legibility check.</a:t>
            </a:r>
          </a:p>
        </p:txBody>
      </p:sp>
    </p:spTree>
  </p:cSld>
  <p:transition spd="med" advClick="1">
    <p:fade/>
  </p:transition>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Generated Texture with Editable Photoshop Type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 — Create type; Create and manage clipping masks</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103</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Texture prompt · live type base layer · texture layer above · clipping mask · scale/position · colour overlay · tracking · legibility</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Reversing the clipping stack, treating generated pixels as editable copy, using obsolete Text Effects interfaces, or losing contrast at delivery size.</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The PSD retains a live type base layer, clipped texture layer immediately above it and named colour/fit controls; the reopened export passes a thumbnail legibility check.</a:t>
            </a:r>
          </a:p>
        </p:txBody>
      </p:sp>
      <p:sp>
        <p:nvSpPr>
          <p:cNvPr id="23" name="Rounded Rectangle 22"/>
          <p:cNvSpPr/>
          <p:nvPr/>
        </p:nvSpPr>
        <p:spPr>
          <a:xfrm>
            <a:off x="685800" y="5349240"/>
            <a:ext cx="10771632" cy="65836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Worked Artifact · Generated Texture with Editable Photoshop Type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 — Create type; Create and manage clipping masks</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104</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Creating expressive display typography while keeping wording, font, colour and fit editable.</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98500"/>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Texture prompt · live type base layer · texture layer above · clipping mask · scale/position · colour overlay · tracking · legibility</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Reversing the clipping stack, treating generated pixels as editable copy, using obsolete Text Effects interfaces, or losing contrast at delivery size.</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B8D9"/>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The PSD retains a live type base layer, clipped texture layer immediately above it and named colour/fit controls; the reopened export passes a thumbnail legibility check.</a:t>
            </a:r>
          </a:p>
        </p:txBody>
      </p:sp>
      <p:sp>
        <p:nvSpPr>
          <p:cNvPr id="30" name="Rounded Rectangle 29"/>
          <p:cNvSpPr/>
          <p:nvPr/>
        </p:nvSpPr>
        <p:spPr>
          <a:xfrm>
            <a:off x="804672" y="5532120"/>
            <a:ext cx="10561320" cy="530352"/>
          </a:xfrm>
          <a:prstGeom prst="roundRect">
            <a:avLst/>
          </a:prstGeom>
          <a:solidFill>
            <a:srgbClr val="FFFFFF"/>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009A78"/>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98500"/>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Annotated Decision Model · Generated Texture with Editable Photoshop Type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 — Create type; Create and manage clipping masks</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105</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Texture prompt</a:t>
            </a:r>
          </a:p>
        </p:txBody>
      </p:sp>
      <p:sp>
        <p:nvSpPr>
          <p:cNvPr id="16" name="Rounded Rectangle 15"/>
          <p:cNvSpPr/>
          <p:nvPr/>
        </p:nvSpPr>
        <p:spPr>
          <a:xfrm>
            <a:off x="896112" y="3099816"/>
            <a:ext cx="384048" cy="38404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live type base layer</a:t>
            </a:r>
          </a:p>
        </p:txBody>
      </p:sp>
      <p:sp>
        <p:nvSpPr>
          <p:cNvPr id="19" name="Rounded Rectangle 18"/>
          <p:cNvSpPr/>
          <p:nvPr/>
        </p:nvSpPr>
        <p:spPr>
          <a:xfrm>
            <a:off x="896112" y="3685032"/>
            <a:ext cx="384048" cy="38404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texture layer above</a:t>
            </a:r>
          </a:p>
        </p:txBody>
      </p:sp>
      <p:sp>
        <p:nvSpPr>
          <p:cNvPr id="22" name="Rounded Rectangle 21"/>
          <p:cNvSpPr/>
          <p:nvPr/>
        </p:nvSpPr>
        <p:spPr>
          <a:xfrm>
            <a:off x="896112" y="4270248"/>
            <a:ext cx="384048" cy="38404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clipping mask</a:t>
            </a:r>
          </a:p>
        </p:txBody>
      </p:sp>
      <p:sp>
        <p:nvSpPr>
          <p:cNvPr id="25" name="Rounded Rectangle 24"/>
          <p:cNvSpPr/>
          <p:nvPr/>
        </p:nvSpPr>
        <p:spPr>
          <a:xfrm>
            <a:off x="896112" y="4855464"/>
            <a:ext cx="384048" cy="38404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19472"/>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5</a:t>
            </a:r>
          </a:p>
        </p:txBody>
      </p:sp>
      <p:sp>
        <p:nvSpPr>
          <p:cNvPr id="27" name="TextBox 26"/>
          <p:cNvSpPr txBox="1"/>
          <p:nvPr/>
        </p:nvSpPr>
        <p:spPr>
          <a:xfrm>
            <a:off x="1408176" y="4873752"/>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scale/position</a:t>
            </a:r>
          </a:p>
        </p:txBody>
      </p:sp>
      <p:sp>
        <p:nvSpPr>
          <p:cNvPr id="28" name="Rounded Rectangle 27"/>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E98500"/>
                </a:solidFill>
                <a:latin typeface="Arial"/>
              </a:rPr>
              <a:t>EDITABLE CANVAS / OUTPUT STATE</a:t>
            </a:r>
          </a:p>
        </p:txBody>
      </p:sp>
      <p:sp>
        <p:nvSpPr>
          <p:cNvPr id="31" name="TextBox 30"/>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Generate a rights-aware texture as imagery. Keep editable type as the base layer, place the generated texture immediately above it, and clip the texture to the type so the letterforms control visibility without rasterising the text.</a:t>
            </a:r>
          </a:p>
        </p:txBody>
      </p:sp>
      <p:sp>
        <p:nvSpPr>
          <p:cNvPr id="32" name="Rounded Rectangle 31"/>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4" name="Rounded Rectangle 33"/>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E98500"/>
                </a:solidFill>
                <a:latin typeface="Arial"/>
              </a:rPr>
              <a:t>PROOF PANEL</a:t>
            </a:r>
          </a:p>
        </p:txBody>
      </p:sp>
      <p:sp>
        <p:nvSpPr>
          <p:cNvPr id="36" name="TextBox 35"/>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The PSD retains a live type base layer, clipped texture layer immediately above it and named colour/fit controls; the reopened export passes a thumbnail legibility check.</a:t>
            </a:r>
          </a:p>
        </p:txBody>
      </p:sp>
      <p:sp>
        <p:nvSpPr>
          <p:cNvPr id="37" name="TextBox 36"/>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Diagnostic · Generated Texture with Editable Photoshop Type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 — Create type; Create and manage clipping masks</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106</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Reversing the clipping stack, treating generated pixels as editable copy, using obsolete Text Effects interfaces, or losing contrast at delivery size.</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Texture prompt · live type base layer · texture layer above · clipping mask · scale/position · colour overlay · tracking · legibility.</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The PSD retains a live type base layer, clipped texture layer immediately above it and named colour/fit controls; the reopened export passes a thumbnail legibility check.</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224AF4"/>
                </a:solidFill>
                <a:latin typeface="Arial"/>
              </a:rPr>
              <a:t>Accept only when the defect is reduced and protected content remains intact.</a:t>
            </a:r>
          </a:p>
        </p:txBody>
      </p:sp>
    </p:spTree>
  </p:cSld>
  <p:transition spd="med" advClick="1">
    <p:fade/>
  </p:transition>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HANDS-ON APPLICATION · TOPIC 2</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Lab 03 · Composition and Style References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107</a:t>
            </a:r>
          </a:p>
        </p:txBody>
      </p:sp>
      <p:sp>
        <p:nvSpPr>
          <p:cNvPr id="10" name="Rounded Rectangle 9"/>
          <p:cNvSpPr/>
          <p:nvPr/>
        </p:nvSpPr>
        <p:spPr>
          <a:xfrm>
            <a:off x="685800" y="1755648"/>
            <a:ext cx="3749039" cy="4462272"/>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hummingbird.jpg"/>
          <p:cNvPicPr>
            <a:picLocks noChangeAspect="1"/>
          </p:cNvPicPr>
          <p:nvPr/>
        </p:nvPicPr>
        <p:blipFill>
          <a:blip r:embed="rId2"/>
          <a:srcRect l="14254" r="14254"/>
          <a:stretch>
            <a:fillRect/>
          </a:stretch>
        </p:blipFill>
        <p:spPr>
          <a:xfrm>
            <a:off x="758952" y="1828800"/>
            <a:ext cx="3602736" cy="2834640"/>
          </a:xfrm>
          <a:prstGeom prst="rect">
            <a:avLst/>
          </a:prstGeom>
        </p:spPr>
      </p:pic>
      <p:sp>
        <p:nvSpPr>
          <p:cNvPr id="12" name="TextBox 11"/>
          <p:cNvSpPr txBox="1"/>
          <p:nvPr/>
        </p:nvSpPr>
        <p:spPr>
          <a:xfrm>
            <a:off x="914400" y="4892040"/>
            <a:ext cx="3246120" cy="1024128"/>
          </a:xfrm>
          <a:prstGeom prst="rect">
            <a:avLst/>
          </a:prstGeom>
          <a:noFill/>
        </p:spPr>
        <p:txBody>
          <a:bodyPr wrap="square" anchor="t" lIns="54864" rIns="54864" tIns="54864" bIns="54864">
            <a:spAutoFit/>
          </a:bodyPr>
          <a:lstStyle/>
          <a:p>
            <a:pPr algn="l">
              <a:spcAft>
                <a:spcPts val="0"/>
              </a:spcAft>
            </a:pPr>
            <a:r>
              <a:rPr sz="1220" b="0">
                <a:solidFill>
                  <a:srgbClr val="5B6372"/>
                </a:solidFill>
                <a:latin typeface="Arial"/>
              </a:rPr>
              <a:t>A wellness campaign needs varied subjects that retain one composition and art direction.</a:t>
            </a:r>
          </a:p>
        </p:txBody>
      </p:sp>
      <p:sp>
        <p:nvSpPr>
          <p:cNvPr id="13" name="TextBox 12"/>
          <p:cNvSpPr txBox="1"/>
          <p:nvPr/>
        </p:nvSpPr>
        <p:spPr>
          <a:xfrm>
            <a:off x="4709160" y="1783080"/>
            <a:ext cx="6537960" cy="658368"/>
          </a:xfrm>
          <a:prstGeom prst="rect">
            <a:avLst/>
          </a:prstGeom>
          <a:noFill/>
        </p:spPr>
        <p:txBody>
          <a:bodyPr wrap="square" anchor="t" lIns="54864" rIns="54864" tIns="54864" bIns="54864">
            <a:spAutoFit/>
          </a:bodyPr>
          <a:lstStyle/>
          <a:p>
            <a:pPr algn="l">
              <a:spcAft>
                <a:spcPts val="0"/>
              </a:spcAft>
            </a:pPr>
            <a:r>
              <a:rPr sz="1500" b="1">
                <a:solidFill>
                  <a:srgbClr val="161920"/>
                </a:solidFill>
                <a:latin typeface="Arial"/>
              </a:rPr>
              <a:t>Create a controlled Firefly comparison using composition and style references independently and together.</a:t>
            </a:r>
          </a:p>
        </p:txBody>
      </p:sp>
      <p:sp>
        <p:nvSpPr>
          <p:cNvPr id="14" name="Rounded Rectangle 13"/>
          <p:cNvSpPr/>
          <p:nvPr/>
        </p:nvSpPr>
        <p:spPr>
          <a:xfrm>
            <a:off x="470916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818888" y="2816352"/>
            <a:ext cx="402336" cy="402336"/>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888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1</a:t>
            </a:r>
          </a:p>
        </p:txBody>
      </p:sp>
      <p:sp>
        <p:nvSpPr>
          <p:cNvPr id="17" name="TextBox 16"/>
          <p:cNvSpPr txBox="1"/>
          <p:nvPr/>
        </p:nvSpPr>
        <p:spPr>
          <a:xfrm>
            <a:off x="4800600"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Analyse</a:t>
            </a:r>
          </a:p>
        </p:txBody>
      </p:sp>
      <p:sp>
        <p:nvSpPr>
          <p:cNvPr id="18" name="Rounded Rectangle 17"/>
          <p:cNvSpPr/>
          <p:nvPr/>
        </p:nvSpPr>
        <p:spPr>
          <a:xfrm>
            <a:off x="603504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144768" y="2816352"/>
            <a:ext cx="402336" cy="402336"/>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4476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2</a:t>
            </a:r>
          </a:p>
        </p:txBody>
      </p:sp>
      <p:sp>
        <p:nvSpPr>
          <p:cNvPr id="21" name="TextBox 20"/>
          <p:cNvSpPr txBox="1"/>
          <p:nvPr/>
        </p:nvSpPr>
        <p:spPr>
          <a:xfrm>
            <a:off x="6126479"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Choose</a:t>
            </a:r>
          </a:p>
        </p:txBody>
      </p:sp>
      <p:sp>
        <p:nvSpPr>
          <p:cNvPr id="22" name="Rounded Rectangle 21"/>
          <p:cNvSpPr/>
          <p:nvPr/>
        </p:nvSpPr>
        <p:spPr>
          <a:xfrm>
            <a:off x="736092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470648" y="2816352"/>
            <a:ext cx="402336" cy="402336"/>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7064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3</a:t>
            </a:r>
          </a:p>
        </p:txBody>
      </p:sp>
      <p:sp>
        <p:nvSpPr>
          <p:cNvPr id="25" name="TextBox 24"/>
          <p:cNvSpPr txBox="1"/>
          <p:nvPr/>
        </p:nvSpPr>
        <p:spPr>
          <a:xfrm>
            <a:off x="7452360"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Apply</a:t>
            </a:r>
          </a:p>
        </p:txBody>
      </p:sp>
      <p:sp>
        <p:nvSpPr>
          <p:cNvPr id="26" name="Rounded Rectangle 25"/>
          <p:cNvSpPr/>
          <p:nvPr/>
        </p:nvSpPr>
        <p:spPr>
          <a:xfrm>
            <a:off x="868680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796528" y="2816352"/>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9652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4</a:t>
            </a:r>
          </a:p>
        </p:txBody>
      </p:sp>
      <p:sp>
        <p:nvSpPr>
          <p:cNvPr id="29" name="TextBox 28"/>
          <p:cNvSpPr txBox="1"/>
          <p:nvPr/>
        </p:nvSpPr>
        <p:spPr>
          <a:xfrm>
            <a:off x="8778240"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Inspect</a:t>
            </a:r>
          </a:p>
        </p:txBody>
      </p:sp>
      <p:sp>
        <p:nvSpPr>
          <p:cNvPr id="30" name="Rounded Rectangle 29"/>
          <p:cNvSpPr/>
          <p:nvPr/>
        </p:nvSpPr>
        <p:spPr>
          <a:xfrm>
            <a:off x="1001268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22407" y="2816352"/>
            <a:ext cx="402336" cy="402336"/>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122407"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5</a:t>
            </a:r>
          </a:p>
        </p:txBody>
      </p:sp>
      <p:sp>
        <p:nvSpPr>
          <p:cNvPr id="33" name="TextBox 32"/>
          <p:cNvSpPr txBox="1"/>
          <p:nvPr/>
        </p:nvSpPr>
        <p:spPr>
          <a:xfrm>
            <a:off x="10104119"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Evidence</a:t>
            </a:r>
          </a:p>
        </p:txBody>
      </p:sp>
      <p:sp>
        <p:nvSpPr>
          <p:cNvPr id="34" name="Rounded Rectangle 33"/>
          <p:cNvSpPr/>
          <p:nvPr/>
        </p:nvSpPr>
        <p:spPr>
          <a:xfrm>
            <a:off x="4709160" y="4443984"/>
            <a:ext cx="6510528" cy="1216152"/>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0" y="4636008"/>
            <a:ext cx="1325880" cy="256032"/>
          </a:xfrm>
          <a:prstGeom prst="rect">
            <a:avLst/>
          </a:prstGeom>
          <a:noFill/>
        </p:spPr>
        <p:txBody>
          <a:bodyPr wrap="square" anchor="t" lIns="54864" rIns="54864" tIns="54864" bIns="54864">
            <a:spAutoFit/>
          </a:bodyPr>
          <a:lstStyle/>
          <a:p>
            <a:pPr algn="l">
              <a:spcAft>
                <a:spcPts val="0"/>
              </a:spcAft>
            </a:pPr>
            <a:r>
              <a:rPr sz="1050" b="1">
                <a:solidFill>
                  <a:srgbClr val="FFFFFF"/>
                </a:solidFill>
                <a:latin typeface="Arial"/>
              </a:rPr>
              <a:t>EVIDENCE</a:t>
            </a:r>
          </a:p>
        </p:txBody>
      </p:sp>
      <p:sp>
        <p:nvSpPr>
          <p:cNvPr id="36" name="TextBox 35"/>
          <p:cNvSpPr txBox="1"/>
          <p:nvPr/>
        </p:nvSpPr>
        <p:spPr>
          <a:xfrm>
            <a:off x="6144768" y="4572000"/>
            <a:ext cx="4828032" cy="731520"/>
          </a:xfrm>
          <a:prstGeom prst="rect">
            <a:avLst/>
          </a:prstGeom>
          <a:noFill/>
        </p:spPr>
        <p:txBody>
          <a:bodyPr wrap="square" anchor="t" lIns="54864" rIns="54864" tIns="54864" bIns="54864">
            <a:spAutoFit/>
          </a:bodyPr>
          <a:lstStyle/>
          <a:p>
            <a:pPr algn="l">
              <a:spcAft>
                <a:spcPts val="0"/>
              </a:spcAft>
            </a:pPr>
            <a:r>
              <a:rPr sz="1220" b="1">
                <a:solidFill>
                  <a:srgbClr val="FFFFFF"/>
                </a:solidFill>
                <a:latin typeface="Arial"/>
              </a:rPr>
              <a:t>Four labelled JPEG conditions, comparison PSD and a reference-control decision note.</a:t>
            </a:r>
          </a:p>
        </p:txBody>
      </p:sp>
      <p:sp>
        <p:nvSpPr>
          <p:cNvPr id="37" name="TextBox 36"/>
          <p:cNvSpPr txBox="1"/>
          <p:nvPr/>
        </p:nvSpPr>
        <p:spPr>
          <a:xfrm>
            <a:off x="4800600" y="5833872"/>
            <a:ext cx="6309360" cy="274320"/>
          </a:xfrm>
          <a:prstGeom prst="rect">
            <a:avLst/>
          </a:prstGeom>
          <a:noFill/>
        </p:spPr>
        <p:txBody>
          <a:bodyPr wrap="square" anchor="t" lIns="54864" rIns="54864" tIns="54864" bIns="54864">
            <a:spAutoFit/>
          </a:bodyPr>
          <a:lstStyle/>
          <a:p>
            <a:pPr algn="l">
              <a:spcAft>
                <a:spcPts val="0"/>
              </a:spcAft>
            </a:pPr>
            <a:r>
              <a:rPr sz="1100" b="1">
                <a:solidFill>
                  <a:srgbClr val="161920"/>
                </a:solidFill>
                <a:latin typeface="Arial"/>
              </a:rPr>
              <a:t>Full procedure · Learner Guide / Lab 03</a:t>
            </a:r>
          </a:p>
        </p:txBody>
      </p:sp>
    </p:spTree>
  </p:cSld>
  <p:transition spd="med" advClick="1">
    <p:fade/>
  </p:transition>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HANDS-ON APPLICATION · TOPIC 2</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Lab 04 · Storyboard and Task Flow</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108</a:t>
            </a:r>
          </a:p>
        </p:txBody>
      </p:sp>
      <p:sp>
        <p:nvSpPr>
          <p:cNvPr id="10" name="Rounded Rectangle 9"/>
          <p:cNvSpPr/>
          <p:nvPr/>
        </p:nvSpPr>
        <p:spPr>
          <a:xfrm>
            <a:off x="685800" y="1755648"/>
            <a:ext cx="3749039" cy="4462272"/>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dventure.jpg"/>
          <p:cNvPicPr>
            <a:picLocks noChangeAspect="1"/>
          </p:cNvPicPr>
          <p:nvPr/>
        </p:nvPicPr>
        <p:blipFill>
          <a:blip r:embed="rId2"/>
          <a:srcRect l="17127" r="17127"/>
          <a:stretch>
            <a:fillRect/>
          </a:stretch>
        </p:blipFill>
        <p:spPr>
          <a:xfrm>
            <a:off x="758952" y="1828800"/>
            <a:ext cx="3602736" cy="2834640"/>
          </a:xfrm>
          <a:prstGeom prst="rect">
            <a:avLst/>
          </a:prstGeom>
        </p:spPr>
      </p:pic>
      <p:sp>
        <p:nvSpPr>
          <p:cNvPr id="12" name="TextBox 11"/>
          <p:cNvSpPr txBox="1"/>
          <p:nvPr/>
        </p:nvSpPr>
        <p:spPr>
          <a:xfrm>
            <a:off x="914400" y="4892040"/>
            <a:ext cx="3246120" cy="1024128"/>
          </a:xfrm>
          <a:prstGeom prst="rect">
            <a:avLst/>
          </a:prstGeom>
          <a:noFill/>
        </p:spPr>
        <p:txBody>
          <a:bodyPr wrap="square" anchor="t" lIns="54864" rIns="54864" tIns="54864" bIns="54864">
            <a:spAutoFit/>
          </a:bodyPr>
          <a:lstStyle/>
          <a:p>
            <a:pPr algn="l">
              <a:spcAft>
                <a:spcPts val="0"/>
              </a:spcAft>
            </a:pPr>
            <a:r>
              <a:rPr sz="1220" b="0">
                <a:solidFill>
                  <a:srgbClr val="5B6372"/>
                </a:solidFill>
                <a:latin typeface="Arial"/>
              </a:rPr>
              <a:t>A fictional Wellness Week Singapore 2026 campaign needs a short visual journey from stress to restorative action.</a:t>
            </a:r>
          </a:p>
        </p:txBody>
      </p:sp>
      <p:sp>
        <p:nvSpPr>
          <p:cNvPr id="13" name="TextBox 12"/>
          <p:cNvSpPr txBox="1"/>
          <p:nvPr/>
        </p:nvSpPr>
        <p:spPr>
          <a:xfrm>
            <a:off x="4709160" y="1783080"/>
            <a:ext cx="6537960" cy="658368"/>
          </a:xfrm>
          <a:prstGeom prst="rect">
            <a:avLst/>
          </a:prstGeom>
          <a:noFill/>
        </p:spPr>
        <p:txBody>
          <a:bodyPr wrap="square" anchor="t" lIns="54864" rIns="54864" tIns="54864" bIns="54864">
            <a:spAutoFit/>
          </a:bodyPr>
          <a:lstStyle/>
          <a:p>
            <a:pPr algn="l">
              <a:spcAft>
                <a:spcPts val="0"/>
              </a:spcAft>
            </a:pPr>
            <a:r>
              <a:rPr sz="1500" b="1">
                <a:solidFill>
                  <a:srgbClr val="161920"/>
                </a:solidFill>
                <a:latin typeface="Arial"/>
              </a:rPr>
              <a:t>Build a five-frame Firefly storyboard and a team task flow that communicates intent and ownership.</a:t>
            </a:r>
          </a:p>
        </p:txBody>
      </p:sp>
      <p:sp>
        <p:nvSpPr>
          <p:cNvPr id="14" name="Rounded Rectangle 13"/>
          <p:cNvSpPr/>
          <p:nvPr/>
        </p:nvSpPr>
        <p:spPr>
          <a:xfrm>
            <a:off x="470916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818888" y="2816352"/>
            <a:ext cx="402336" cy="402336"/>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888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1</a:t>
            </a:r>
          </a:p>
        </p:txBody>
      </p:sp>
      <p:sp>
        <p:nvSpPr>
          <p:cNvPr id="17" name="TextBox 16"/>
          <p:cNvSpPr txBox="1"/>
          <p:nvPr/>
        </p:nvSpPr>
        <p:spPr>
          <a:xfrm>
            <a:off x="4800600"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Analyse</a:t>
            </a:r>
          </a:p>
        </p:txBody>
      </p:sp>
      <p:sp>
        <p:nvSpPr>
          <p:cNvPr id="18" name="Rounded Rectangle 17"/>
          <p:cNvSpPr/>
          <p:nvPr/>
        </p:nvSpPr>
        <p:spPr>
          <a:xfrm>
            <a:off x="603504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144768" y="2816352"/>
            <a:ext cx="402336" cy="402336"/>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4476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2</a:t>
            </a:r>
          </a:p>
        </p:txBody>
      </p:sp>
      <p:sp>
        <p:nvSpPr>
          <p:cNvPr id="21" name="TextBox 20"/>
          <p:cNvSpPr txBox="1"/>
          <p:nvPr/>
        </p:nvSpPr>
        <p:spPr>
          <a:xfrm>
            <a:off x="6126479"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Choose</a:t>
            </a:r>
          </a:p>
        </p:txBody>
      </p:sp>
      <p:sp>
        <p:nvSpPr>
          <p:cNvPr id="22" name="Rounded Rectangle 21"/>
          <p:cNvSpPr/>
          <p:nvPr/>
        </p:nvSpPr>
        <p:spPr>
          <a:xfrm>
            <a:off x="736092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470648" y="2816352"/>
            <a:ext cx="402336" cy="402336"/>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7064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3</a:t>
            </a:r>
          </a:p>
        </p:txBody>
      </p:sp>
      <p:sp>
        <p:nvSpPr>
          <p:cNvPr id="25" name="TextBox 24"/>
          <p:cNvSpPr txBox="1"/>
          <p:nvPr/>
        </p:nvSpPr>
        <p:spPr>
          <a:xfrm>
            <a:off x="7452360"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Apply</a:t>
            </a:r>
          </a:p>
        </p:txBody>
      </p:sp>
      <p:sp>
        <p:nvSpPr>
          <p:cNvPr id="26" name="Rounded Rectangle 25"/>
          <p:cNvSpPr/>
          <p:nvPr/>
        </p:nvSpPr>
        <p:spPr>
          <a:xfrm>
            <a:off x="868680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796528" y="2816352"/>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9652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4</a:t>
            </a:r>
          </a:p>
        </p:txBody>
      </p:sp>
      <p:sp>
        <p:nvSpPr>
          <p:cNvPr id="29" name="TextBox 28"/>
          <p:cNvSpPr txBox="1"/>
          <p:nvPr/>
        </p:nvSpPr>
        <p:spPr>
          <a:xfrm>
            <a:off x="8778240"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Inspect</a:t>
            </a:r>
          </a:p>
        </p:txBody>
      </p:sp>
      <p:sp>
        <p:nvSpPr>
          <p:cNvPr id="30" name="Rounded Rectangle 29"/>
          <p:cNvSpPr/>
          <p:nvPr/>
        </p:nvSpPr>
        <p:spPr>
          <a:xfrm>
            <a:off x="1001268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22407" y="2816352"/>
            <a:ext cx="402336" cy="402336"/>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122407"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5</a:t>
            </a:r>
          </a:p>
        </p:txBody>
      </p:sp>
      <p:sp>
        <p:nvSpPr>
          <p:cNvPr id="33" name="TextBox 32"/>
          <p:cNvSpPr txBox="1"/>
          <p:nvPr/>
        </p:nvSpPr>
        <p:spPr>
          <a:xfrm>
            <a:off x="10104119"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Evidence</a:t>
            </a:r>
          </a:p>
        </p:txBody>
      </p:sp>
      <p:sp>
        <p:nvSpPr>
          <p:cNvPr id="34" name="Rounded Rectangle 33"/>
          <p:cNvSpPr/>
          <p:nvPr/>
        </p:nvSpPr>
        <p:spPr>
          <a:xfrm>
            <a:off x="4709160" y="4443984"/>
            <a:ext cx="6510528" cy="1216152"/>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0" y="4636008"/>
            <a:ext cx="1325880" cy="256032"/>
          </a:xfrm>
          <a:prstGeom prst="rect">
            <a:avLst/>
          </a:prstGeom>
          <a:noFill/>
        </p:spPr>
        <p:txBody>
          <a:bodyPr wrap="square" anchor="t" lIns="54864" rIns="54864" tIns="54864" bIns="54864">
            <a:spAutoFit/>
          </a:bodyPr>
          <a:lstStyle/>
          <a:p>
            <a:pPr algn="l">
              <a:spcAft>
                <a:spcPts val="0"/>
              </a:spcAft>
            </a:pPr>
            <a:r>
              <a:rPr sz="1050" b="1">
                <a:solidFill>
                  <a:srgbClr val="FFFFFF"/>
                </a:solidFill>
                <a:latin typeface="Arial"/>
              </a:rPr>
              <a:t>EVIDENCE</a:t>
            </a:r>
          </a:p>
        </p:txBody>
      </p:sp>
      <p:sp>
        <p:nvSpPr>
          <p:cNvPr id="36" name="TextBox 35"/>
          <p:cNvSpPr txBox="1"/>
          <p:nvPr/>
        </p:nvSpPr>
        <p:spPr>
          <a:xfrm>
            <a:off x="6144768" y="4572000"/>
            <a:ext cx="4828032" cy="731520"/>
          </a:xfrm>
          <a:prstGeom prst="rect">
            <a:avLst/>
          </a:prstGeom>
          <a:noFill/>
        </p:spPr>
        <p:txBody>
          <a:bodyPr wrap="square" anchor="t" lIns="54864" rIns="54864" tIns="54864" bIns="54864">
            <a:spAutoFit/>
          </a:bodyPr>
          <a:lstStyle/>
          <a:p>
            <a:pPr algn="l">
              <a:spcAft>
                <a:spcPts val="0"/>
              </a:spcAft>
            </a:pPr>
            <a:r>
              <a:rPr sz="1220" b="1">
                <a:solidFill>
                  <a:srgbClr val="FFFFFF"/>
                </a:solidFill>
                <a:latin typeface="Arial"/>
              </a:rPr>
              <a:t>Five-frame layered storyboard PSD, exported JPEG, task-flow panel and peer-review note.</a:t>
            </a:r>
          </a:p>
        </p:txBody>
      </p:sp>
      <p:sp>
        <p:nvSpPr>
          <p:cNvPr id="37" name="TextBox 36"/>
          <p:cNvSpPr txBox="1"/>
          <p:nvPr/>
        </p:nvSpPr>
        <p:spPr>
          <a:xfrm>
            <a:off x="4800600" y="5833872"/>
            <a:ext cx="6309360" cy="274320"/>
          </a:xfrm>
          <a:prstGeom prst="rect">
            <a:avLst/>
          </a:prstGeom>
          <a:noFill/>
        </p:spPr>
        <p:txBody>
          <a:bodyPr wrap="square" anchor="t" lIns="54864" rIns="54864" tIns="54864" bIns="54864">
            <a:spAutoFit/>
          </a:bodyPr>
          <a:lstStyle/>
          <a:p>
            <a:pPr algn="l">
              <a:spcAft>
                <a:spcPts val="0"/>
              </a:spcAft>
            </a:pPr>
            <a:r>
              <a:rPr sz="1100" b="1">
                <a:solidFill>
                  <a:srgbClr val="161920"/>
                </a:solidFill>
                <a:latin typeface="Arial"/>
              </a:rPr>
              <a:t>Full procedure · Learner Guide / Lab 04</a:t>
            </a:r>
          </a:p>
        </p:txBody>
      </p:sp>
    </p:spTree>
  </p:cSld>
  <p:transition spd="med" advClick="1">
    <p:fade/>
  </p:transition>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EXPLAIN THE DECISION</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Topic 2 Checkpoint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109</a:t>
            </a:r>
          </a:p>
        </p:txBody>
      </p:sp>
      <p:sp>
        <p:nvSpPr>
          <p:cNvPr id="10" name="Rounded Rectangle 9"/>
          <p:cNvSpPr/>
          <p:nvPr/>
        </p:nvSpPr>
        <p:spPr>
          <a:xfrm>
            <a:off x="685800"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755648"/>
            <a:ext cx="73152" cy="212140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Purpose</a:t>
            </a:r>
          </a:p>
        </p:txBody>
      </p:sp>
      <p:sp>
        <p:nvSpPr>
          <p:cNvPr id="13" name="TextBox 12"/>
          <p:cNvSpPr txBox="1"/>
          <p:nvPr/>
        </p:nvSpPr>
        <p:spPr>
          <a:xfrm>
            <a:off x="905256"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What does the audience need to notice?</a:t>
            </a:r>
          </a:p>
        </p:txBody>
      </p:sp>
      <p:sp>
        <p:nvSpPr>
          <p:cNvPr id="14" name="Rounded Rectangle 13"/>
          <p:cNvSpPr/>
          <p:nvPr/>
        </p:nvSpPr>
        <p:spPr>
          <a:xfrm>
            <a:off x="4349496"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9496" y="1755648"/>
            <a:ext cx="73152" cy="212140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68952"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Method</a:t>
            </a:r>
          </a:p>
        </p:txBody>
      </p:sp>
      <p:sp>
        <p:nvSpPr>
          <p:cNvPr id="17" name="TextBox 16"/>
          <p:cNvSpPr txBox="1"/>
          <p:nvPr/>
        </p:nvSpPr>
        <p:spPr>
          <a:xfrm>
            <a:off x="4568952"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Why does this technique fit the content and edge?</a:t>
            </a:r>
          </a:p>
        </p:txBody>
      </p:sp>
      <p:sp>
        <p:nvSpPr>
          <p:cNvPr id="18" name="Rounded Rectangle 17"/>
          <p:cNvSpPr/>
          <p:nvPr/>
        </p:nvSpPr>
        <p:spPr>
          <a:xfrm>
            <a:off x="8013192"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3192" y="1755648"/>
            <a:ext cx="73152" cy="212140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32648"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Control</a:t>
            </a:r>
          </a:p>
        </p:txBody>
      </p:sp>
      <p:sp>
        <p:nvSpPr>
          <p:cNvPr id="21" name="TextBox 20"/>
          <p:cNvSpPr txBox="1"/>
          <p:nvPr/>
        </p:nvSpPr>
        <p:spPr>
          <a:xfrm>
            <a:off x="8232648"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Which setting most changes the outcome?</a:t>
            </a:r>
          </a:p>
        </p:txBody>
      </p:sp>
      <p:sp>
        <p:nvSpPr>
          <p:cNvPr id="22" name="Rounded Rectangle 21"/>
          <p:cNvSpPr/>
          <p:nvPr/>
        </p:nvSpPr>
        <p:spPr>
          <a:xfrm>
            <a:off x="685800"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5800" y="4078224"/>
            <a:ext cx="73152" cy="21214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Failure</a:t>
            </a:r>
          </a:p>
        </p:txBody>
      </p:sp>
      <p:sp>
        <p:nvSpPr>
          <p:cNvPr id="25" name="TextBox 24"/>
          <p:cNvSpPr txBox="1"/>
          <p:nvPr/>
        </p:nvSpPr>
        <p:spPr>
          <a:xfrm>
            <a:off x="905256"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What defect would make the result unacceptable?</a:t>
            </a:r>
          </a:p>
        </p:txBody>
      </p:sp>
      <p:sp>
        <p:nvSpPr>
          <p:cNvPr id="26" name="Rounded Rectangle 25"/>
          <p:cNvSpPr/>
          <p:nvPr/>
        </p:nvSpPr>
        <p:spPr>
          <a:xfrm>
            <a:off x="4349496"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49496" y="4078224"/>
            <a:ext cx="73152" cy="212140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68952"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009A78"/>
                </a:solidFill>
                <a:latin typeface="Arial"/>
              </a:rPr>
              <a:t>Proof</a:t>
            </a:r>
          </a:p>
        </p:txBody>
      </p:sp>
      <p:sp>
        <p:nvSpPr>
          <p:cNvPr id="29" name="TextBox 28"/>
          <p:cNvSpPr txBox="1"/>
          <p:nvPr/>
        </p:nvSpPr>
        <p:spPr>
          <a:xfrm>
            <a:off x="4568952"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Which view and evidence demonstrate quality?</a:t>
            </a:r>
          </a:p>
        </p:txBody>
      </p:sp>
      <p:sp>
        <p:nvSpPr>
          <p:cNvPr id="30" name="Rounded Rectangle 29"/>
          <p:cNvSpPr/>
          <p:nvPr/>
        </p:nvSpPr>
        <p:spPr>
          <a:xfrm>
            <a:off x="8013192"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13192" y="4078224"/>
            <a:ext cx="73152" cy="212140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32648"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E98500"/>
                </a:solidFill>
                <a:latin typeface="Arial"/>
              </a:rPr>
              <a:t>Next</a:t>
            </a:r>
          </a:p>
        </p:txBody>
      </p:sp>
      <p:sp>
        <p:nvSpPr>
          <p:cNvPr id="33" name="TextBox 32"/>
          <p:cNvSpPr txBox="1"/>
          <p:nvPr/>
        </p:nvSpPr>
        <p:spPr>
          <a:xfrm>
            <a:off x="8232648"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What controlled variation would improve the result?</a:t>
            </a:r>
          </a:p>
        </p:txBody>
      </p:sp>
    </p:spTree>
  </p:cSld>
  <p:transition spd="med" advClick="1">
    <p:fade/>
  </p:transition>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94360" y="502920"/>
            <a:ext cx="1143000" cy="1143000"/>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804672"/>
            <a:ext cx="1143000" cy="320040"/>
          </a:xfrm>
          <a:prstGeom prst="rect">
            <a:avLst/>
          </a:prstGeom>
          <a:noFill/>
        </p:spPr>
        <p:txBody>
          <a:bodyPr wrap="square" anchor="t" lIns="54864" rIns="54864" tIns="54864" bIns="54864">
            <a:spAutoFit/>
          </a:bodyPr>
          <a:lstStyle/>
          <a:p>
            <a:pPr algn="ctr">
              <a:spcAft>
                <a:spcPts val="0"/>
              </a:spcAft>
            </a:pPr>
            <a:r>
              <a:rPr sz="2200" b="1">
                <a:solidFill>
                  <a:srgbClr val="FFFFFF"/>
                </a:solidFill>
                <a:latin typeface="Arial"/>
              </a:rPr>
              <a:t>03</a:t>
            </a:r>
          </a:p>
        </p:txBody>
      </p:sp>
      <p:sp>
        <p:nvSpPr>
          <p:cNvPr id="5" name="TextBox 4"/>
          <p:cNvSpPr txBox="1"/>
          <p:nvPr/>
        </p:nvSpPr>
        <p:spPr>
          <a:xfrm>
            <a:off x="685800" y="1920240"/>
            <a:ext cx="10881360" cy="1097280"/>
          </a:xfrm>
          <a:prstGeom prst="rect">
            <a:avLst/>
          </a:prstGeom>
          <a:noFill/>
        </p:spPr>
        <p:txBody>
          <a:bodyPr wrap="square" anchor="t" lIns="54864" rIns="54864" tIns="54864" bIns="54864">
            <a:spAutoFit/>
          </a:bodyPr>
          <a:lstStyle/>
          <a:p>
            <a:pPr algn="l">
              <a:spcAft>
                <a:spcPts val="0"/>
              </a:spcAft>
            </a:pPr>
            <a:r>
              <a:rPr sz="3800" b="1">
                <a:solidFill>
                  <a:srgbClr val="FFFFFF"/>
                </a:solidFill>
                <a:latin typeface="Arial"/>
              </a:rPr>
              <a:t>Photoshop Generative Editing and Critique</a:t>
            </a:r>
          </a:p>
        </p:txBody>
      </p:sp>
      <p:sp>
        <p:nvSpPr>
          <p:cNvPr id="6" name="TextBox 5"/>
          <p:cNvSpPr txBox="1"/>
          <p:nvPr/>
        </p:nvSpPr>
        <p:spPr>
          <a:xfrm>
            <a:off x="713232" y="3246120"/>
            <a:ext cx="10241280" cy="777240"/>
          </a:xfrm>
          <a:prstGeom prst="rect">
            <a:avLst/>
          </a:prstGeom>
          <a:noFill/>
        </p:spPr>
        <p:txBody>
          <a:bodyPr wrap="square" anchor="t" lIns="54864" rIns="54864" tIns="54864" bIns="54864">
            <a:spAutoFit/>
          </a:bodyPr>
          <a:lstStyle/>
          <a:p>
            <a:pPr algn="l">
              <a:spcAft>
                <a:spcPts val="0"/>
              </a:spcAft>
            </a:pPr>
            <a:r>
              <a:rPr sz="1800" b="0">
                <a:solidFill>
                  <a:srgbClr val="C8CFDA"/>
                </a:solidFill>
                <a:latin typeface="Arial"/>
              </a:rPr>
              <a:t>Use selections and generative features to build, evaluate and improve editable composites.</a:t>
            </a:r>
          </a:p>
        </p:txBody>
      </p:sp>
      <p:sp>
        <p:nvSpPr>
          <p:cNvPr id="7" name="TextBox 6"/>
          <p:cNvSpPr txBox="1"/>
          <p:nvPr/>
        </p:nvSpPr>
        <p:spPr>
          <a:xfrm>
            <a:off x="713232" y="5349240"/>
            <a:ext cx="5943600" cy="320040"/>
          </a:xfrm>
          <a:prstGeom prst="rect">
            <a:avLst/>
          </a:prstGeom>
          <a:noFill/>
        </p:spPr>
        <p:txBody>
          <a:bodyPr wrap="square" anchor="t" lIns="54864" rIns="54864" tIns="54864" bIns="54864">
            <a:spAutoFit/>
          </a:bodyPr>
          <a:lstStyle/>
          <a:p>
            <a:pPr algn="l">
              <a:spcAft>
                <a:spcPts val="0"/>
              </a:spcAft>
            </a:pPr>
            <a:r>
              <a:rPr sz="1400" b="1">
                <a:solidFill>
                  <a:srgbClr val="00B8D9"/>
                </a:solidFill>
                <a:latin typeface="Arial"/>
              </a:rPr>
              <a:t>LO3 · K3 · K5 · A4 · A5 · A6</a:t>
            </a:r>
          </a:p>
        </p:txBody>
      </p:sp>
      <p:sp>
        <p:nvSpPr>
          <p:cNvPr id="8" name="TextBox 7"/>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D7DEE9"/>
                </a:solidFill>
                <a:latin typeface="Arial"/>
              </a:rPr>
              <a:t>Generative-AI-Visuals-in-Photoshop-and-Firefly  ·  TGS-2024045220</a:t>
            </a:r>
          </a:p>
        </p:txBody>
      </p:sp>
      <p:sp>
        <p:nvSpPr>
          <p:cNvPr id="9" name="TextBox 8"/>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D7DEE9"/>
                </a:solidFill>
                <a:latin typeface="Arial"/>
              </a:rPr>
              <a:t>© 2026 Tertiary Infotech Academy Pte Ltd</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D7DEE9"/>
                </a:solidFill>
                <a:latin typeface="Arial"/>
              </a:rPr>
              <a:t>110</a:t>
            </a:r>
          </a:p>
        </p:txBody>
      </p:sp>
    </p:spTree>
  </p:cSld>
  <p:transition spd="med" advClick="1">
    <p:fade/>
  </p:transition>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EDITABLE DECISION CHART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Reversibility by Technique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111</a:t>
            </a:r>
          </a:p>
        </p:txBody>
      </p:sp>
      <p:graphicFrame>
        <p:nvGraphicFramePr>
          <p:cNvPr id="11" name="Chart 10"/>
          <p:cNvGraphicFramePr>
            <a:graphicFrameLocks noGrp="1"/>
          </p:cNvGraphicFramePr>
          <p:nvPr/>
        </p:nvGraphicFramePr>
        <p:xfrm>
          <a:off x="749808" y="1783080"/>
          <a:ext cx="7360920" cy="4343400"/>
        </p:xfrm>
        <a:graphic>
          <a:graphicData uri="http://schemas.openxmlformats.org/drawingml/2006/chart">
            <c:chart xmlns:c="http://schemas.openxmlformats.org/drawingml/2006/chart" r:id="rId2"/>
          </a:graphicData>
        </a:graphic>
      </p:graphicFrame>
      <p:sp>
        <p:nvSpPr>
          <p:cNvPr id="12" name="Rounded Rectangle 11"/>
          <p:cNvSpPr/>
          <p:nvPr/>
        </p:nvSpPr>
        <p:spPr>
          <a:xfrm>
            <a:off x="8394192" y="1874519"/>
            <a:ext cx="2971800" cy="361188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68512" y="2148840"/>
            <a:ext cx="2423160" cy="411480"/>
          </a:xfrm>
          <a:prstGeom prst="rect">
            <a:avLst/>
          </a:prstGeom>
          <a:noFill/>
        </p:spPr>
        <p:txBody>
          <a:bodyPr wrap="square" anchor="t" lIns="54864" rIns="54864" tIns="54864" bIns="54864">
            <a:spAutoFit/>
          </a:bodyPr>
          <a:lstStyle/>
          <a:p>
            <a:pPr algn="l">
              <a:spcAft>
                <a:spcPts val="0"/>
              </a:spcAft>
            </a:pPr>
            <a:r>
              <a:rPr sz="1200" b="1">
                <a:solidFill>
                  <a:srgbClr val="7C3AED"/>
                </a:solidFill>
                <a:latin typeface="Arial"/>
              </a:rPr>
              <a:t>READ THE CHART</a:t>
            </a:r>
          </a:p>
        </p:txBody>
      </p:sp>
      <p:sp>
        <p:nvSpPr>
          <p:cNvPr id="14" name="TextBox 13"/>
          <p:cNvSpPr txBox="1"/>
          <p:nvPr/>
        </p:nvSpPr>
        <p:spPr>
          <a:xfrm>
            <a:off x="8668512" y="2770632"/>
            <a:ext cx="2423160" cy="2057400"/>
          </a:xfrm>
          <a:prstGeom prst="rect">
            <a:avLst/>
          </a:prstGeom>
          <a:noFill/>
        </p:spPr>
        <p:txBody>
          <a:bodyPr wrap="square" anchor="t" lIns="54864" rIns="54864" tIns="54864" bIns="54864">
            <a:spAutoFit/>
          </a:bodyPr>
          <a:lstStyle/>
          <a:p>
            <a:pPr algn="l">
              <a:spcAft>
                <a:spcPts val="0"/>
              </a:spcAft>
            </a:pPr>
            <a:r>
              <a:rPr sz="1500" b="1">
                <a:solidFill>
                  <a:srgbClr val="161920"/>
                </a:solidFill>
                <a:latin typeface="Arial"/>
              </a:rPr>
              <a:t>Scale: 1 = low, 5 = high. Prefer an editable generated layer, mask or Smart Object so critique can lead to a traceable revision.</a:t>
            </a:r>
          </a:p>
        </p:txBody>
      </p:sp>
      <p:sp>
        <p:nvSpPr>
          <p:cNvPr id="15" name="TextBox 14"/>
          <p:cNvSpPr txBox="1"/>
          <p:nvPr/>
        </p:nvSpPr>
        <p:spPr>
          <a:xfrm>
            <a:off x="8668512" y="5074920"/>
            <a:ext cx="2423160" cy="256032"/>
          </a:xfrm>
          <a:prstGeom prst="rect">
            <a:avLst/>
          </a:prstGeom>
          <a:noFill/>
        </p:spPr>
        <p:txBody>
          <a:bodyPr wrap="square" anchor="t" lIns="54864" rIns="54864" tIns="54864" bIns="54864">
            <a:spAutoFit/>
          </a:bodyPr>
          <a:lstStyle/>
          <a:p>
            <a:pPr algn="l">
              <a:spcAft>
                <a:spcPts val="0"/>
              </a:spcAft>
            </a:pPr>
            <a:r>
              <a:rPr sz="900" b="0">
                <a:solidFill>
                  <a:srgbClr val="5B6372"/>
                </a:solidFill>
                <a:latin typeface="Arial"/>
              </a:rPr>
              <a:t>Editable native PowerPoint chart</a:t>
            </a:r>
          </a:p>
        </p:txBody>
      </p:sp>
    </p:spTree>
  </p:cSld>
  <p:transition spd="med" advClick="1">
    <p:fade/>
  </p:transition>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98500"/>
                </a:solidFill>
                <a:latin typeface="Arial"/>
              </a:rPr>
              <a:t>CONCEPT 17 · AUTHENTIC ASSET + EDITABLE ANNOTATIONS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Photoshop Generative AI Feature Map</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Generative AI Overview</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112</a:t>
            </a:r>
          </a:p>
        </p:txBody>
      </p:sp>
      <p:sp>
        <p:nvSpPr>
          <p:cNvPr id="11" name="Rounded Rectangle 10"/>
          <p:cNvSpPr/>
          <p:nvPr/>
        </p:nvSpPr>
        <p:spPr>
          <a:xfrm>
            <a:off x="685800" y="1755648"/>
            <a:ext cx="4828032" cy="4443984"/>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andscape-start.jpeg"/>
          <p:cNvPicPr>
            <a:picLocks noChangeAspect="1"/>
          </p:cNvPicPr>
          <p:nvPr/>
        </p:nvPicPr>
        <p:blipFill>
          <a:blip r:embed="rId2"/>
          <a:srcRect l="19474" r="19474"/>
          <a:stretch>
            <a:fillRect/>
          </a:stretch>
        </p:blipFill>
        <p:spPr>
          <a:xfrm>
            <a:off x="758952" y="1828800"/>
            <a:ext cx="4681728" cy="4297680"/>
          </a:xfrm>
          <a:prstGeom prst="rect">
            <a:avLst/>
          </a:prstGeom>
        </p:spPr>
      </p:pic>
      <p:sp>
        <p:nvSpPr>
          <p:cNvPr id="13" name="Rounded Rectangle 12"/>
          <p:cNvSpPr/>
          <p:nvPr/>
        </p:nvSpPr>
        <p:spPr>
          <a:xfrm>
            <a:off x="5742432" y="178308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888736" y="1956816"/>
            <a:ext cx="475488" cy="47548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88736" y="201168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1</a:t>
            </a:r>
          </a:p>
        </p:txBody>
      </p:sp>
      <p:sp>
        <p:nvSpPr>
          <p:cNvPr id="16" name="TextBox 15"/>
          <p:cNvSpPr txBox="1"/>
          <p:nvPr/>
        </p:nvSpPr>
        <p:spPr>
          <a:xfrm>
            <a:off x="6510528" y="192938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How it works</a:t>
            </a:r>
          </a:p>
        </p:txBody>
      </p:sp>
      <p:sp>
        <p:nvSpPr>
          <p:cNvPr id="17" name="TextBox 16"/>
          <p:cNvSpPr txBox="1"/>
          <p:nvPr/>
        </p:nvSpPr>
        <p:spPr>
          <a:xfrm>
            <a:off x="6510528" y="222199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Photoshop connects Generative Fill, Expand, Background, Harmonize and reference-based generation to selections and layers.</a:t>
            </a:r>
          </a:p>
        </p:txBody>
      </p:sp>
      <p:sp>
        <p:nvSpPr>
          <p:cNvPr id="18" name="Rounded Rectangle 17"/>
          <p:cNvSpPr/>
          <p:nvPr/>
        </p:nvSpPr>
        <p:spPr>
          <a:xfrm>
            <a:off x="5742432" y="288036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888736" y="3054096"/>
            <a:ext cx="475488" cy="47548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88736" y="310896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2</a:t>
            </a:r>
          </a:p>
        </p:txBody>
      </p:sp>
      <p:sp>
        <p:nvSpPr>
          <p:cNvPr id="21" name="TextBox 20"/>
          <p:cNvSpPr txBox="1"/>
          <p:nvPr/>
        </p:nvSpPr>
        <p:spPr>
          <a:xfrm>
            <a:off x="6510528" y="302666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Best used for</a:t>
            </a:r>
          </a:p>
        </p:txBody>
      </p:sp>
      <p:sp>
        <p:nvSpPr>
          <p:cNvPr id="22" name="TextBox 21"/>
          <p:cNvSpPr txBox="1"/>
          <p:nvPr/>
        </p:nvSpPr>
        <p:spPr>
          <a:xfrm>
            <a:off x="6510528" y="331927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Selecting the smallest feature that solves the editing problem.</a:t>
            </a:r>
          </a:p>
        </p:txBody>
      </p:sp>
      <p:sp>
        <p:nvSpPr>
          <p:cNvPr id="23" name="Rounded Rectangle 22"/>
          <p:cNvSpPr/>
          <p:nvPr/>
        </p:nvSpPr>
        <p:spPr>
          <a:xfrm>
            <a:off x="5742432" y="3977639"/>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888736" y="4151376"/>
            <a:ext cx="475488" cy="47548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88736" y="420624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3</a:t>
            </a:r>
          </a:p>
        </p:txBody>
      </p:sp>
      <p:sp>
        <p:nvSpPr>
          <p:cNvPr id="26" name="TextBox 25"/>
          <p:cNvSpPr txBox="1"/>
          <p:nvPr/>
        </p:nvSpPr>
        <p:spPr>
          <a:xfrm>
            <a:off x="6510528" y="412394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Professional decision</a:t>
            </a:r>
          </a:p>
        </p:txBody>
      </p:sp>
      <p:sp>
        <p:nvSpPr>
          <p:cNvPr id="27" name="TextBox 26"/>
          <p:cNvSpPr txBox="1"/>
          <p:nvPr/>
        </p:nvSpPr>
        <p:spPr>
          <a:xfrm>
            <a:off x="6510528" y="441655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Choose this method when its content model and edge behaviour fit the brief.</a:t>
            </a:r>
          </a:p>
        </p:txBody>
      </p:sp>
      <p:sp>
        <p:nvSpPr>
          <p:cNvPr id="28" name="Rounded Rectangle 27"/>
          <p:cNvSpPr/>
          <p:nvPr/>
        </p:nvSpPr>
        <p:spPr>
          <a:xfrm>
            <a:off x="5742432" y="507492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888736" y="5248656"/>
            <a:ext cx="475488" cy="47548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88736" y="530352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4</a:t>
            </a:r>
          </a:p>
        </p:txBody>
      </p:sp>
      <p:sp>
        <p:nvSpPr>
          <p:cNvPr id="31" name="TextBox 30"/>
          <p:cNvSpPr txBox="1"/>
          <p:nvPr/>
        </p:nvSpPr>
        <p:spPr>
          <a:xfrm>
            <a:off x="6510528" y="522122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Quality signal</a:t>
            </a:r>
          </a:p>
        </p:txBody>
      </p:sp>
      <p:sp>
        <p:nvSpPr>
          <p:cNvPr id="32" name="TextBox 31"/>
          <p:cNvSpPr txBox="1"/>
          <p:nvPr/>
        </p:nvSpPr>
        <p:spPr>
          <a:xfrm>
            <a:off x="6510528" y="551383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The Layers panel shows the generated content and editable source structure.</a:t>
            </a:r>
          </a:p>
        </p:txBody>
      </p:sp>
    </p:spTree>
  </p:cSld>
  <p:transition spd="med" advClick="1">
    <p:fade/>
  </p:transition>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Photoshop Generative AI Feature Map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Generative AI Overview</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113</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Selection · prompt/reference · model · variations · generated layer</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Flattening before review or confusing destructive and generated edits.</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The Layers panel shows the generated content and editable source structure.</a:t>
            </a:r>
          </a:p>
        </p:txBody>
      </p:sp>
      <p:sp>
        <p:nvSpPr>
          <p:cNvPr id="23" name="Rounded Rectangle 22"/>
          <p:cNvSpPr/>
          <p:nvPr/>
        </p:nvSpPr>
        <p:spPr>
          <a:xfrm>
            <a:off x="685800" y="5349240"/>
            <a:ext cx="10771632" cy="65836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98500"/>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Worked Artifact · Photoshop Generative AI Feature Map</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Generative AI Overview</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114</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98500"/>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Selecting the smallest feature that solves the editing problem.</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Selection · prompt/reference · model · variations · generated layer</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B8D9"/>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Flattening before review or confusing destructive and generated edits.</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The Layers panel shows the generated content and editable source structure.</a:t>
            </a:r>
          </a:p>
        </p:txBody>
      </p:sp>
      <p:sp>
        <p:nvSpPr>
          <p:cNvPr id="30" name="Rounded Rectangle 29"/>
          <p:cNvSpPr/>
          <p:nvPr/>
        </p:nvSpPr>
        <p:spPr>
          <a:xfrm>
            <a:off x="804672" y="5532120"/>
            <a:ext cx="10561320" cy="530352"/>
          </a:xfrm>
          <a:prstGeom prst="roundRect">
            <a:avLst/>
          </a:prstGeom>
          <a:solidFill>
            <a:srgbClr val="FFFFFF"/>
          </a:solidFill>
          <a:ln>
            <a:solidFill>
              <a:srgbClr val="E98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E98500"/>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Annotated Decision Model · Photoshop Generative AI Feature Map</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Generative AI Overview</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115</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Selection</a:t>
            </a:r>
          </a:p>
        </p:txBody>
      </p:sp>
      <p:sp>
        <p:nvSpPr>
          <p:cNvPr id="16" name="Rounded Rectangle 15"/>
          <p:cNvSpPr/>
          <p:nvPr/>
        </p:nvSpPr>
        <p:spPr>
          <a:xfrm>
            <a:off x="896112" y="3099816"/>
            <a:ext cx="384048" cy="38404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prompt/reference</a:t>
            </a:r>
          </a:p>
        </p:txBody>
      </p:sp>
      <p:sp>
        <p:nvSpPr>
          <p:cNvPr id="19" name="Rounded Rectangle 18"/>
          <p:cNvSpPr/>
          <p:nvPr/>
        </p:nvSpPr>
        <p:spPr>
          <a:xfrm>
            <a:off x="896112" y="3685032"/>
            <a:ext cx="384048" cy="38404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model</a:t>
            </a:r>
          </a:p>
        </p:txBody>
      </p:sp>
      <p:sp>
        <p:nvSpPr>
          <p:cNvPr id="22" name="Rounded Rectangle 21"/>
          <p:cNvSpPr/>
          <p:nvPr/>
        </p:nvSpPr>
        <p:spPr>
          <a:xfrm>
            <a:off x="896112" y="4270248"/>
            <a:ext cx="384048" cy="38404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variations</a:t>
            </a:r>
          </a:p>
        </p:txBody>
      </p:sp>
      <p:sp>
        <p:nvSpPr>
          <p:cNvPr id="25" name="Rounded Rectangle 24"/>
          <p:cNvSpPr/>
          <p:nvPr/>
        </p:nvSpPr>
        <p:spPr>
          <a:xfrm>
            <a:off x="896112" y="4855464"/>
            <a:ext cx="384048"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19472"/>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5</a:t>
            </a:r>
          </a:p>
        </p:txBody>
      </p:sp>
      <p:sp>
        <p:nvSpPr>
          <p:cNvPr id="27" name="TextBox 26"/>
          <p:cNvSpPr txBox="1"/>
          <p:nvPr/>
        </p:nvSpPr>
        <p:spPr>
          <a:xfrm>
            <a:off x="1408176" y="4873752"/>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generated layer</a:t>
            </a:r>
          </a:p>
        </p:txBody>
      </p:sp>
      <p:sp>
        <p:nvSpPr>
          <p:cNvPr id="28" name="Rounded Rectangle 27"/>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224AF4"/>
                </a:solidFill>
                <a:latin typeface="Arial"/>
              </a:rPr>
              <a:t>EDITABLE CANVAS / OUTPUT STATE</a:t>
            </a:r>
          </a:p>
        </p:txBody>
      </p:sp>
      <p:sp>
        <p:nvSpPr>
          <p:cNvPr id="31" name="TextBox 30"/>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Photoshop connects Generative Fill, Expand, Background, Harmonize and reference-based generation to selections and layers.</a:t>
            </a:r>
          </a:p>
        </p:txBody>
      </p:sp>
      <p:sp>
        <p:nvSpPr>
          <p:cNvPr id="32" name="Rounded Rectangle 31"/>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4" name="Rounded Rectangle 33"/>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224AF4"/>
                </a:solidFill>
                <a:latin typeface="Arial"/>
              </a:rPr>
              <a:t>PROOF PANEL</a:t>
            </a:r>
          </a:p>
        </p:txBody>
      </p:sp>
      <p:sp>
        <p:nvSpPr>
          <p:cNvPr id="36" name="TextBox 35"/>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The Layers panel shows the generated content and editable source structure.</a:t>
            </a:r>
          </a:p>
        </p:txBody>
      </p:sp>
      <p:sp>
        <p:nvSpPr>
          <p:cNvPr id="37" name="TextBox 36"/>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Diagnostic · Photoshop Generative AI Feature Map</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Generative AI Overview</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116</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Flattening before review or confusing destructive and generated edits.</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Selection · prompt/reference · model · variations · generated layer.</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The Layers panel shows the generated content and editable source structure.</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00B8D9"/>
                </a:solidFill>
                <a:latin typeface="Arial"/>
              </a:rPr>
              <a:t>Accept only when the defect is reduced and protected content remains intact.</a:t>
            </a:r>
          </a:p>
        </p:txBody>
      </p:sp>
    </p:spTree>
  </p:cSld>
  <p:transition spd="med" advClick="1">
    <p:fade/>
  </p:transition>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CONCEPT 18 · AUTHENTIC ASSET + EDITABLE ANNOTATIONS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Selection as a Generative Instruction</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117</a:t>
            </a:r>
          </a:p>
        </p:txBody>
      </p:sp>
      <p:sp>
        <p:nvSpPr>
          <p:cNvPr id="11" name="Rounded Rectangle 10"/>
          <p:cNvSpPr/>
          <p:nvPr/>
        </p:nvSpPr>
        <p:spPr>
          <a:xfrm>
            <a:off x="6675120" y="1755648"/>
            <a:ext cx="4828032" cy="4443984"/>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erence.jpeg"/>
          <p:cNvPicPr>
            <a:picLocks noChangeAspect="1"/>
          </p:cNvPicPr>
          <p:nvPr/>
        </p:nvPicPr>
        <p:blipFill>
          <a:blip r:embed="rId2"/>
          <a:srcRect l="6639" r="6639"/>
          <a:stretch>
            <a:fillRect/>
          </a:stretch>
        </p:blipFill>
        <p:spPr>
          <a:xfrm>
            <a:off x="6748272" y="1828800"/>
            <a:ext cx="4681728" cy="4297680"/>
          </a:xfrm>
          <a:prstGeom prst="rect">
            <a:avLst/>
          </a:prstGeom>
        </p:spPr>
      </p:pic>
      <p:sp>
        <p:nvSpPr>
          <p:cNvPr id="13" name="Rounded Rectangle 12"/>
          <p:cNvSpPr/>
          <p:nvPr/>
        </p:nvSpPr>
        <p:spPr>
          <a:xfrm>
            <a:off x="685800" y="178308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32104" y="1956816"/>
            <a:ext cx="475488" cy="47548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 y="201168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1</a:t>
            </a:r>
          </a:p>
        </p:txBody>
      </p:sp>
      <p:sp>
        <p:nvSpPr>
          <p:cNvPr id="16" name="TextBox 15"/>
          <p:cNvSpPr txBox="1"/>
          <p:nvPr/>
        </p:nvSpPr>
        <p:spPr>
          <a:xfrm>
            <a:off x="1453895" y="192938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How it works</a:t>
            </a:r>
          </a:p>
        </p:txBody>
      </p:sp>
      <p:sp>
        <p:nvSpPr>
          <p:cNvPr id="17" name="TextBox 16"/>
          <p:cNvSpPr txBox="1"/>
          <p:nvPr/>
        </p:nvSpPr>
        <p:spPr>
          <a:xfrm>
            <a:off x="1453895" y="222199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Selection geometry defines where change may occur and gives the model contextual pixels at its boundary.</a:t>
            </a:r>
          </a:p>
        </p:txBody>
      </p:sp>
      <p:sp>
        <p:nvSpPr>
          <p:cNvPr id="18" name="Rounded Rectangle 17"/>
          <p:cNvSpPr/>
          <p:nvPr/>
        </p:nvSpPr>
        <p:spPr>
          <a:xfrm>
            <a:off x="685800" y="288036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32104" y="3054096"/>
            <a:ext cx="475488" cy="47548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 y="310896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2</a:t>
            </a:r>
          </a:p>
        </p:txBody>
      </p:sp>
      <p:sp>
        <p:nvSpPr>
          <p:cNvPr id="21" name="TextBox 20"/>
          <p:cNvSpPr txBox="1"/>
          <p:nvPr/>
        </p:nvSpPr>
        <p:spPr>
          <a:xfrm>
            <a:off x="1453895" y="302666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Best used for</a:t>
            </a:r>
          </a:p>
        </p:txBody>
      </p:sp>
      <p:sp>
        <p:nvSpPr>
          <p:cNvPr id="22" name="TextBox 21"/>
          <p:cNvSpPr txBox="1"/>
          <p:nvPr/>
        </p:nvSpPr>
        <p:spPr>
          <a:xfrm>
            <a:off x="1453895" y="331927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Precise insertion, replacement and local repair.</a:t>
            </a:r>
          </a:p>
        </p:txBody>
      </p:sp>
      <p:sp>
        <p:nvSpPr>
          <p:cNvPr id="23" name="Rounded Rectangle 22"/>
          <p:cNvSpPr/>
          <p:nvPr/>
        </p:nvSpPr>
        <p:spPr>
          <a:xfrm>
            <a:off x="685800" y="3977639"/>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32104" y="4151376"/>
            <a:ext cx="475488" cy="47548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2104" y="420624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3</a:t>
            </a:r>
          </a:p>
        </p:txBody>
      </p:sp>
      <p:sp>
        <p:nvSpPr>
          <p:cNvPr id="26" name="TextBox 25"/>
          <p:cNvSpPr txBox="1"/>
          <p:nvPr/>
        </p:nvSpPr>
        <p:spPr>
          <a:xfrm>
            <a:off x="1453895" y="412394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Professional decision</a:t>
            </a:r>
          </a:p>
        </p:txBody>
      </p:sp>
      <p:sp>
        <p:nvSpPr>
          <p:cNvPr id="27" name="TextBox 26"/>
          <p:cNvSpPr txBox="1"/>
          <p:nvPr/>
        </p:nvSpPr>
        <p:spPr>
          <a:xfrm>
            <a:off x="1453895" y="441655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Choose this method when its content model and edge behaviour fit the brief.</a:t>
            </a:r>
          </a:p>
        </p:txBody>
      </p:sp>
      <p:sp>
        <p:nvSpPr>
          <p:cNvPr id="28" name="Rounded Rectangle 27"/>
          <p:cNvSpPr/>
          <p:nvPr/>
        </p:nvSpPr>
        <p:spPr>
          <a:xfrm>
            <a:off x="685800" y="507492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32104" y="5248656"/>
            <a:ext cx="475488" cy="47548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2104" y="530352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4</a:t>
            </a:r>
          </a:p>
        </p:txBody>
      </p:sp>
      <p:sp>
        <p:nvSpPr>
          <p:cNvPr id="31" name="TextBox 30"/>
          <p:cNvSpPr txBox="1"/>
          <p:nvPr/>
        </p:nvSpPr>
        <p:spPr>
          <a:xfrm>
            <a:off x="1453895" y="522122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Quality signal</a:t>
            </a:r>
          </a:p>
        </p:txBody>
      </p:sp>
      <p:sp>
        <p:nvSpPr>
          <p:cNvPr id="32" name="TextBox 31"/>
          <p:cNvSpPr txBox="1"/>
          <p:nvPr/>
        </p:nvSpPr>
        <p:spPr>
          <a:xfrm>
            <a:off x="1453895" y="551383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Selection/mask evidence and a 100% edge inspection are retained.</a:t>
            </a:r>
          </a:p>
        </p:txBody>
      </p:sp>
    </p:spTree>
  </p:cSld>
  <p:transition spd="med" advClick="1">
    <p:fade/>
  </p:transition>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Selection as a Generative Instruction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118</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Selection edge · feather · context margin · mask · target layer</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Selections that clip shadows or include protected details.</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Selection/mask evidence and a 100% edge inspection are retained.</a:t>
            </a:r>
          </a:p>
        </p:txBody>
      </p:sp>
      <p:sp>
        <p:nvSpPr>
          <p:cNvPr id="23" name="Rounded Rectangle 22"/>
          <p:cNvSpPr/>
          <p:nvPr/>
        </p:nvSpPr>
        <p:spPr>
          <a:xfrm>
            <a:off x="685800" y="5349240"/>
            <a:ext cx="10771632" cy="65836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Worked Artifact · Selection as a Generative Instruction</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119</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Precise insertion, replacement and local repair.</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B8D9"/>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Selection edge · feather · context margin · mask · target layer</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Selections that clip shadows or include protected details.</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7C3AED"/>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Selection/mask evidence and a 100% edge inspection are retained.</a:t>
            </a:r>
          </a:p>
        </p:txBody>
      </p:sp>
      <p:sp>
        <p:nvSpPr>
          <p:cNvPr id="30" name="Rounded Rectangle 29"/>
          <p:cNvSpPr/>
          <p:nvPr/>
        </p:nvSpPr>
        <p:spPr>
          <a:xfrm>
            <a:off x="804672" y="5532120"/>
            <a:ext cx="10561320" cy="530352"/>
          </a:xfrm>
          <a:prstGeom prst="roundRect">
            <a:avLst/>
          </a:prstGeom>
          <a:solidFill>
            <a:srgbClr val="FFFFFF"/>
          </a:solidFill>
          <a:ln>
            <a:solidFill>
              <a:srgbClr val="224AF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224AF4"/>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Annotated Decision Model · Selection as a Generative Instruction</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120</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Selection edge</a:t>
            </a:r>
          </a:p>
        </p:txBody>
      </p:sp>
      <p:sp>
        <p:nvSpPr>
          <p:cNvPr id="16" name="Rounded Rectangle 15"/>
          <p:cNvSpPr/>
          <p:nvPr/>
        </p:nvSpPr>
        <p:spPr>
          <a:xfrm>
            <a:off x="896112" y="3099816"/>
            <a:ext cx="384048" cy="38404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feather</a:t>
            </a:r>
          </a:p>
        </p:txBody>
      </p:sp>
      <p:sp>
        <p:nvSpPr>
          <p:cNvPr id="19" name="Rounded Rectangle 18"/>
          <p:cNvSpPr/>
          <p:nvPr/>
        </p:nvSpPr>
        <p:spPr>
          <a:xfrm>
            <a:off x="896112" y="3685032"/>
            <a:ext cx="384048" cy="38404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context margin</a:t>
            </a:r>
          </a:p>
        </p:txBody>
      </p:sp>
      <p:sp>
        <p:nvSpPr>
          <p:cNvPr id="22" name="Rounded Rectangle 21"/>
          <p:cNvSpPr/>
          <p:nvPr/>
        </p:nvSpPr>
        <p:spPr>
          <a:xfrm>
            <a:off x="896112" y="4270248"/>
            <a:ext cx="384048"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mask</a:t>
            </a:r>
          </a:p>
        </p:txBody>
      </p:sp>
      <p:sp>
        <p:nvSpPr>
          <p:cNvPr id="25" name="Rounded Rectangle 24"/>
          <p:cNvSpPr/>
          <p:nvPr/>
        </p:nvSpPr>
        <p:spPr>
          <a:xfrm>
            <a:off x="896112" y="4855464"/>
            <a:ext cx="384048" cy="38404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19472"/>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5</a:t>
            </a:r>
          </a:p>
        </p:txBody>
      </p:sp>
      <p:sp>
        <p:nvSpPr>
          <p:cNvPr id="27" name="TextBox 26"/>
          <p:cNvSpPr txBox="1"/>
          <p:nvPr/>
        </p:nvSpPr>
        <p:spPr>
          <a:xfrm>
            <a:off x="1408176" y="4873752"/>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target layer</a:t>
            </a:r>
          </a:p>
        </p:txBody>
      </p:sp>
      <p:sp>
        <p:nvSpPr>
          <p:cNvPr id="28" name="Rounded Rectangle 27"/>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00B8D9"/>
                </a:solidFill>
                <a:latin typeface="Arial"/>
              </a:rPr>
              <a:t>EDITABLE CANVAS / OUTPUT STATE</a:t>
            </a:r>
          </a:p>
        </p:txBody>
      </p:sp>
      <p:sp>
        <p:nvSpPr>
          <p:cNvPr id="31" name="TextBox 30"/>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Selection geometry defines where change may occur and gives the model contextual pixels at its boundary.</a:t>
            </a:r>
          </a:p>
        </p:txBody>
      </p:sp>
      <p:sp>
        <p:nvSpPr>
          <p:cNvPr id="32" name="Rounded Rectangle 31"/>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4" name="Rounded Rectangle 33"/>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00B8D9"/>
                </a:solidFill>
                <a:latin typeface="Arial"/>
              </a:rPr>
              <a:t>PROOF PANEL</a:t>
            </a:r>
          </a:p>
        </p:txBody>
      </p:sp>
      <p:sp>
        <p:nvSpPr>
          <p:cNvPr id="36" name="TextBox 35"/>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Selection/mask evidence and a 100% edge inspection are retained.</a:t>
            </a:r>
          </a:p>
        </p:txBody>
      </p:sp>
      <p:sp>
        <p:nvSpPr>
          <p:cNvPr id="37" name="TextBox 36"/>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Diagnostic · Selection as a Generative Instruction</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121</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Selections that clip shadows or include protected details.</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Selection edge · feather · context margin · mask · target layer.</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Selection/mask evidence and a 100% edge inspection are retained.</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E11D74"/>
                </a:solidFill>
                <a:latin typeface="Arial"/>
              </a:rPr>
              <a:t>Accept only when the defect is reduced and protected content remains intact.</a:t>
            </a:r>
          </a:p>
        </p:txBody>
      </p:sp>
    </p:spTree>
  </p:cSld>
  <p:transition spd="med" advClick="1">
    <p:fade/>
  </p:transition>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CONCEPT 19 · AUTHENTIC ASSET + EDITABLE ANNOTATIONS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Generative Fill</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Generative Fill</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122</a:t>
            </a:r>
          </a:p>
        </p:txBody>
      </p:sp>
      <p:sp>
        <p:nvSpPr>
          <p:cNvPr id="11" name="Rounded Rectangle 10"/>
          <p:cNvSpPr/>
          <p:nvPr/>
        </p:nvSpPr>
        <p:spPr>
          <a:xfrm>
            <a:off x="685800" y="1755648"/>
            <a:ext cx="4828032" cy="4443984"/>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model.jpeg"/>
          <p:cNvPicPr>
            <a:picLocks noChangeAspect="1"/>
          </p:cNvPicPr>
          <p:nvPr/>
        </p:nvPicPr>
        <p:blipFill>
          <a:blip r:embed="rId2"/>
          <a:srcRect l="13640" r="13640"/>
          <a:stretch>
            <a:fillRect/>
          </a:stretch>
        </p:blipFill>
        <p:spPr>
          <a:xfrm>
            <a:off x="758952" y="1828800"/>
            <a:ext cx="4681728" cy="4297680"/>
          </a:xfrm>
          <a:prstGeom prst="rect">
            <a:avLst/>
          </a:prstGeom>
        </p:spPr>
      </p:pic>
      <p:sp>
        <p:nvSpPr>
          <p:cNvPr id="13" name="Rounded Rectangle 12"/>
          <p:cNvSpPr/>
          <p:nvPr/>
        </p:nvSpPr>
        <p:spPr>
          <a:xfrm>
            <a:off x="5742432" y="178308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888736" y="1956816"/>
            <a:ext cx="475488" cy="47548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88736" y="201168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1</a:t>
            </a:r>
          </a:p>
        </p:txBody>
      </p:sp>
      <p:sp>
        <p:nvSpPr>
          <p:cNvPr id="16" name="TextBox 15"/>
          <p:cNvSpPr txBox="1"/>
          <p:nvPr/>
        </p:nvSpPr>
        <p:spPr>
          <a:xfrm>
            <a:off x="6510528" y="192938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How it works</a:t>
            </a:r>
          </a:p>
        </p:txBody>
      </p:sp>
      <p:sp>
        <p:nvSpPr>
          <p:cNvPr id="17" name="TextBox 16"/>
          <p:cNvSpPr txBox="1"/>
          <p:nvPr/>
        </p:nvSpPr>
        <p:spPr>
          <a:xfrm>
            <a:off x="6510528" y="222199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Generative Fill creates non-destructive variations on a new generated layer inside the selected region.</a:t>
            </a:r>
          </a:p>
        </p:txBody>
      </p:sp>
      <p:sp>
        <p:nvSpPr>
          <p:cNvPr id="18" name="Rounded Rectangle 17"/>
          <p:cNvSpPr/>
          <p:nvPr/>
        </p:nvSpPr>
        <p:spPr>
          <a:xfrm>
            <a:off x="5742432" y="288036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888736" y="3054096"/>
            <a:ext cx="475488" cy="47548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88736" y="310896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2</a:t>
            </a:r>
          </a:p>
        </p:txBody>
      </p:sp>
      <p:sp>
        <p:nvSpPr>
          <p:cNvPr id="21" name="TextBox 20"/>
          <p:cNvSpPr txBox="1"/>
          <p:nvPr/>
        </p:nvSpPr>
        <p:spPr>
          <a:xfrm>
            <a:off x="6510528" y="302666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Best used for</a:t>
            </a:r>
          </a:p>
        </p:txBody>
      </p:sp>
      <p:sp>
        <p:nvSpPr>
          <p:cNvPr id="22" name="TextBox 21"/>
          <p:cNvSpPr txBox="1"/>
          <p:nvPr/>
        </p:nvSpPr>
        <p:spPr>
          <a:xfrm>
            <a:off x="6510528" y="331927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Adding, replacing or removing local content with contextual blending.</a:t>
            </a:r>
          </a:p>
        </p:txBody>
      </p:sp>
      <p:sp>
        <p:nvSpPr>
          <p:cNvPr id="23" name="Rounded Rectangle 22"/>
          <p:cNvSpPr/>
          <p:nvPr/>
        </p:nvSpPr>
        <p:spPr>
          <a:xfrm>
            <a:off x="5742432" y="3977639"/>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888736" y="4151376"/>
            <a:ext cx="475488" cy="47548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88736" y="420624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3</a:t>
            </a:r>
          </a:p>
        </p:txBody>
      </p:sp>
      <p:sp>
        <p:nvSpPr>
          <p:cNvPr id="26" name="TextBox 25"/>
          <p:cNvSpPr txBox="1"/>
          <p:nvPr/>
        </p:nvSpPr>
        <p:spPr>
          <a:xfrm>
            <a:off x="6510528" y="412394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Professional decision</a:t>
            </a:r>
          </a:p>
        </p:txBody>
      </p:sp>
      <p:sp>
        <p:nvSpPr>
          <p:cNvPr id="27" name="TextBox 26"/>
          <p:cNvSpPr txBox="1"/>
          <p:nvPr/>
        </p:nvSpPr>
        <p:spPr>
          <a:xfrm>
            <a:off x="6510528" y="441655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Choose this method when its content model and edge behaviour fit the brief.</a:t>
            </a:r>
          </a:p>
        </p:txBody>
      </p:sp>
      <p:sp>
        <p:nvSpPr>
          <p:cNvPr id="28" name="Rounded Rectangle 27"/>
          <p:cNvSpPr/>
          <p:nvPr/>
        </p:nvSpPr>
        <p:spPr>
          <a:xfrm>
            <a:off x="5742432" y="507492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888736" y="5248656"/>
            <a:ext cx="475488" cy="47548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88736" y="530352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4</a:t>
            </a:r>
          </a:p>
        </p:txBody>
      </p:sp>
      <p:sp>
        <p:nvSpPr>
          <p:cNvPr id="31" name="TextBox 30"/>
          <p:cNvSpPr txBox="1"/>
          <p:nvPr/>
        </p:nvSpPr>
        <p:spPr>
          <a:xfrm>
            <a:off x="6510528" y="522122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Quality signal</a:t>
            </a:r>
          </a:p>
        </p:txBody>
      </p:sp>
      <p:sp>
        <p:nvSpPr>
          <p:cNvPr id="32" name="TextBox 31"/>
          <p:cNvSpPr txBox="1"/>
          <p:nvPr/>
        </p:nvSpPr>
        <p:spPr>
          <a:xfrm>
            <a:off x="6510528" y="551383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Before/after, selected variation and layered PSD prove the decision.</a:t>
            </a:r>
          </a:p>
        </p:txBody>
      </p:sp>
    </p:spTree>
  </p:cSld>
  <p:transition spd="med" advClick="1">
    <p:fade/>
  </p:transition>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Generative Fill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Generative Fill</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123</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Prompt or blank prompt · model · variation · generated layer</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Anatomy errors, repeated textures and lighting mismatch.</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Before/after, selected variation and layered PSD prove the decision.</a:t>
            </a:r>
          </a:p>
        </p:txBody>
      </p:sp>
      <p:sp>
        <p:nvSpPr>
          <p:cNvPr id="23" name="Rounded Rectangle 22"/>
          <p:cNvSpPr/>
          <p:nvPr/>
        </p:nvSpPr>
        <p:spPr>
          <a:xfrm>
            <a:off x="685800" y="5349240"/>
            <a:ext cx="10771632" cy="65836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Worked Artifact · Generative Fill</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Generative Fill</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124</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B8D9"/>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Adding, replacing or removing local content with contextual blending.</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Prompt or blank prompt · model · variation · generated layer</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7C3AED"/>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Anatomy errors, repeated textures and lighting mismatch.</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Before/after, selected variation and layered PSD prove the decision.</a:t>
            </a:r>
          </a:p>
        </p:txBody>
      </p:sp>
      <p:sp>
        <p:nvSpPr>
          <p:cNvPr id="30" name="Rounded Rectangle 29"/>
          <p:cNvSpPr/>
          <p:nvPr/>
        </p:nvSpPr>
        <p:spPr>
          <a:xfrm>
            <a:off x="804672" y="5532120"/>
            <a:ext cx="10561320" cy="530352"/>
          </a:xfrm>
          <a:prstGeom prst="roundRect">
            <a:avLst/>
          </a:prstGeom>
          <a:solidFill>
            <a:srgbClr val="FFFFFF"/>
          </a:solidFill>
          <a:ln>
            <a:solidFill>
              <a:srgbClr val="00B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00B8D9"/>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Annotated Decision Model · Generative Fill</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Generative Fill</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125</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Prompt or blank prompt</a:t>
            </a:r>
          </a:p>
        </p:txBody>
      </p:sp>
      <p:sp>
        <p:nvSpPr>
          <p:cNvPr id="16" name="Rounded Rectangle 15"/>
          <p:cNvSpPr/>
          <p:nvPr/>
        </p:nvSpPr>
        <p:spPr>
          <a:xfrm>
            <a:off x="896112" y="3099816"/>
            <a:ext cx="384048" cy="38404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model</a:t>
            </a:r>
          </a:p>
        </p:txBody>
      </p:sp>
      <p:sp>
        <p:nvSpPr>
          <p:cNvPr id="19" name="Rounded Rectangle 18"/>
          <p:cNvSpPr/>
          <p:nvPr/>
        </p:nvSpPr>
        <p:spPr>
          <a:xfrm>
            <a:off x="896112" y="3685032"/>
            <a:ext cx="384048"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variation</a:t>
            </a:r>
          </a:p>
        </p:txBody>
      </p:sp>
      <p:sp>
        <p:nvSpPr>
          <p:cNvPr id="22" name="Rounded Rectangle 21"/>
          <p:cNvSpPr/>
          <p:nvPr/>
        </p:nvSpPr>
        <p:spPr>
          <a:xfrm>
            <a:off x="896112" y="4270248"/>
            <a:ext cx="384048" cy="38404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generated layer</a:t>
            </a:r>
          </a:p>
        </p:txBody>
      </p:sp>
      <p:sp>
        <p:nvSpPr>
          <p:cNvPr id="25" name="Rounded Rectangle 24"/>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E11D74"/>
                </a:solidFill>
                <a:latin typeface="Arial"/>
              </a:rPr>
              <a:t>EDITABLE CANVAS / OUTPUT STATE</a:t>
            </a:r>
          </a:p>
        </p:txBody>
      </p:sp>
      <p:sp>
        <p:nvSpPr>
          <p:cNvPr id="28" name="TextBox 27"/>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Generative Fill creates non-destructive variations on a new generated layer inside the selected region.</a:t>
            </a:r>
          </a:p>
        </p:txBody>
      </p:sp>
      <p:sp>
        <p:nvSpPr>
          <p:cNvPr id="29" name="Rounded Rectangle 28"/>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1" name="Rounded Rectangle 30"/>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E11D74"/>
                </a:solidFill>
                <a:latin typeface="Arial"/>
              </a:rPr>
              <a:t>PROOF PANEL</a:t>
            </a:r>
          </a:p>
        </p:txBody>
      </p:sp>
      <p:sp>
        <p:nvSpPr>
          <p:cNvPr id="33" name="TextBox 32"/>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Before/after, selected variation and layered PSD prove the decision.</a:t>
            </a:r>
          </a:p>
        </p:txBody>
      </p:sp>
      <p:sp>
        <p:nvSpPr>
          <p:cNvPr id="34" name="TextBox 33"/>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Diagnostic · Generative Fill</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Generative Fill</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126</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Anatomy errors, repeated textures and lighting mismatch.</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Prompt or blank prompt · model · variation · generated layer.</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Before/after, selected variation and layered PSD prove the decision.</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7C3AED"/>
                </a:solidFill>
                <a:latin typeface="Arial"/>
              </a:rPr>
              <a:t>Accept only when the defect is reduced and protected content remains intact.</a:t>
            </a:r>
          </a:p>
        </p:txBody>
      </p:sp>
    </p:spTree>
  </p:cSld>
  <p:transition spd="med" advClick="1">
    <p:fade/>
  </p:transition>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CONCEPT 20 · AUTHENTIC ASSET + EDITABLE ANNOTATIONS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Generative Expand</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Generative Expand</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127</a:t>
            </a:r>
          </a:p>
        </p:txBody>
      </p:sp>
      <p:sp>
        <p:nvSpPr>
          <p:cNvPr id="11" name="Rounded Rectangle 10"/>
          <p:cNvSpPr/>
          <p:nvPr/>
        </p:nvSpPr>
        <p:spPr>
          <a:xfrm>
            <a:off x="6675120" y="1755648"/>
            <a:ext cx="4828032" cy="4443984"/>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P - Generative AI (GenAI).jpg"/>
          <p:cNvPicPr>
            <a:picLocks noChangeAspect="1"/>
          </p:cNvPicPr>
          <p:nvPr/>
        </p:nvPicPr>
        <p:blipFill>
          <a:blip r:embed="rId2"/>
          <a:srcRect l="6426" r="6426"/>
          <a:stretch>
            <a:fillRect/>
          </a:stretch>
        </p:blipFill>
        <p:spPr>
          <a:xfrm>
            <a:off x="6748272" y="1828800"/>
            <a:ext cx="4681728" cy="4297680"/>
          </a:xfrm>
          <a:prstGeom prst="rect">
            <a:avLst/>
          </a:prstGeom>
        </p:spPr>
      </p:pic>
      <p:sp>
        <p:nvSpPr>
          <p:cNvPr id="13" name="Rounded Rectangle 12"/>
          <p:cNvSpPr/>
          <p:nvPr/>
        </p:nvSpPr>
        <p:spPr>
          <a:xfrm>
            <a:off x="685800" y="178308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32104" y="1956816"/>
            <a:ext cx="475488" cy="47548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 y="201168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1</a:t>
            </a:r>
          </a:p>
        </p:txBody>
      </p:sp>
      <p:sp>
        <p:nvSpPr>
          <p:cNvPr id="16" name="TextBox 15"/>
          <p:cNvSpPr txBox="1"/>
          <p:nvPr/>
        </p:nvSpPr>
        <p:spPr>
          <a:xfrm>
            <a:off x="1453895" y="192938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How it works</a:t>
            </a:r>
          </a:p>
        </p:txBody>
      </p:sp>
      <p:sp>
        <p:nvSpPr>
          <p:cNvPr id="17" name="TextBox 16"/>
          <p:cNvSpPr txBox="1"/>
          <p:nvPr/>
        </p:nvSpPr>
        <p:spPr>
          <a:xfrm>
            <a:off x="1453895" y="222199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Generative Expand extends the canvas and synthesises contextual pixels beyond the original frame.</a:t>
            </a:r>
          </a:p>
        </p:txBody>
      </p:sp>
      <p:sp>
        <p:nvSpPr>
          <p:cNvPr id="18" name="Rounded Rectangle 17"/>
          <p:cNvSpPr/>
          <p:nvPr/>
        </p:nvSpPr>
        <p:spPr>
          <a:xfrm>
            <a:off x="685800" y="288036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32104" y="3054096"/>
            <a:ext cx="475488" cy="47548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 y="310896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2</a:t>
            </a:r>
          </a:p>
        </p:txBody>
      </p:sp>
      <p:sp>
        <p:nvSpPr>
          <p:cNvPr id="21" name="TextBox 20"/>
          <p:cNvSpPr txBox="1"/>
          <p:nvPr/>
        </p:nvSpPr>
        <p:spPr>
          <a:xfrm>
            <a:off x="1453895" y="302666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Best used for</a:t>
            </a:r>
          </a:p>
        </p:txBody>
      </p:sp>
      <p:sp>
        <p:nvSpPr>
          <p:cNvPr id="22" name="TextBox 21"/>
          <p:cNvSpPr txBox="1"/>
          <p:nvPr/>
        </p:nvSpPr>
        <p:spPr>
          <a:xfrm>
            <a:off x="1453895" y="331927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Reframing a master visual for landscape, portrait and square channels.</a:t>
            </a:r>
          </a:p>
        </p:txBody>
      </p:sp>
      <p:sp>
        <p:nvSpPr>
          <p:cNvPr id="23" name="Rounded Rectangle 22"/>
          <p:cNvSpPr/>
          <p:nvPr/>
        </p:nvSpPr>
        <p:spPr>
          <a:xfrm>
            <a:off x="685800" y="3977639"/>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32104" y="4151376"/>
            <a:ext cx="475488" cy="47548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2104" y="420624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3</a:t>
            </a:r>
          </a:p>
        </p:txBody>
      </p:sp>
      <p:sp>
        <p:nvSpPr>
          <p:cNvPr id="26" name="TextBox 25"/>
          <p:cNvSpPr txBox="1"/>
          <p:nvPr/>
        </p:nvSpPr>
        <p:spPr>
          <a:xfrm>
            <a:off x="1453895" y="412394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Professional decision</a:t>
            </a:r>
          </a:p>
        </p:txBody>
      </p:sp>
      <p:sp>
        <p:nvSpPr>
          <p:cNvPr id="27" name="TextBox 26"/>
          <p:cNvSpPr txBox="1"/>
          <p:nvPr/>
        </p:nvSpPr>
        <p:spPr>
          <a:xfrm>
            <a:off x="1453895" y="4416552"/>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Choose this method when its content model and edge behaviour fit the brief.</a:t>
            </a:r>
          </a:p>
        </p:txBody>
      </p:sp>
      <p:sp>
        <p:nvSpPr>
          <p:cNvPr id="28" name="Rounded Rectangle 27"/>
          <p:cNvSpPr/>
          <p:nvPr/>
        </p:nvSpPr>
        <p:spPr>
          <a:xfrm>
            <a:off x="685800" y="5074920"/>
            <a:ext cx="4846320" cy="93268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32104" y="5248656"/>
            <a:ext cx="475488" cy="47548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2104" y="5303520"/>
            <a:ext cx="475488" cy="228600"/>
          </a:xfrm>
          <a:prstGeom prst="rect">
            <a:avLst/>
          </a:prstGeom>
          <a:noFill/>
        </p:spPr>
        <p:txBody>
          <a:bodyPr wrap="square" anchor="t" lIns="54864" rIns="54864" tIns="54864" bIns="54864">
            <a:spAutoFit/>
          </a:bodyPr>
          <a:lstStyle/>
          <a:p>
            <a:pPr algn="ctr">
              <a:spcAft>
                <a:spcPts val="0"/>
              </a:spcAft>
            </a:pPr>
            <a:r>
              <a:rPr sz="1100" b="1">
                <a:solidFill>
                  <a:srgbClr val="FFFFFF"/>
                </a:solidFill>
                <a:latin typeface="Arial"/>
              </a:rPr>
              <a:t>4</a:t>
            </a:r>
          </a:p>
        </p:txBody>
      </p:sp>
      <p:sp>
        <p:nvSpPr>
          <p:cNvPr id="31" name="TextBox 30"/>
          <p:cNvSpPr txBox="1"/>
          <p:nvPr/>
        </p:nvSpPr>
        <p:spPr>
          <a:xfrm>
            <a:off x="1453895" y="5221224"/>
            <a:ext cx="3886200" cy="256032"/>
          </a:xfrm>
          <a:prstGeom prst="rect">
            <a:avLst/>
          </a:prstGeom>
          <a:noFill/>
        </p:spPr>
        <p:txBody>
          <a:bodyPr wrap="square" anchor="t" lIns="54864" rIns="54864" tIns="54864" bIns="54864">
            <a:spAutoFit/>
          </a:bodyPr>
          <a:lstStyle/>
          <a:p>
            <a:pPr algn="l">
              <a:spcAft>
                <a:spcPts val="0"/>
              </a:spcAft>
            </a:pPr>
            <a:r>
              <a:rPr sz="1400" b="1">
                <a:solidFill>
                  <a:srgbClr val="161920"/>
                </a:solidFill>
                <a:latin typeface="Arial"/>
              </a:rPr>
              <a:t>Quality signal</a:t>
            </a:r>
          </a:p>
        </p:txBody>
      </p:sp>
      <p:sp>
        <p:nvSpPr>
          <p:cNvPr id="32" name="TextBox 31"/>
          <p:cNvSpPr txBox="1"/>
          <p:nvPr/>
        </p:nvSpPr>
        <p:spPr>
          <a:xfrm>
            <a:off x="1453895" y="5513831"/>
            <a:ext cx="3886200" cy="384048"/>
          </a:xfrm>
          <a:prstGeom prst="rect">
            <a:avLst/>
          </a:prstGeom>
          <a:noFill/>
        </p:spPr>
        <p:txBody>
          <a:bodyPr wrap="square" anchor="t" lIns="54864" rIns="54864" tIns="54864" bIns="54864">
            <a:spAutoFit/>
          </a:bodyPr>
          <a:lstStyle/>
          <a:p>
            <a:pPr algn="l">
              <a:spcAft>
                <a:spcPts val="0"/>
              </a:spcAft>
            </a:pPr>
            <a:r>
              <a:rPr sz="1130" b="0">
                <a:solidFill>
                  <a:srgbClr val="5B6372"/>
                </a:solidFill>
                <a:latin typeface="Arial"/>
              </a:rPr>
              <a:t>Three channel crops preserve subject integrity and useful copy space.</a:t>
            </a:r>
          </a:p>
        </p:txBody>
      </p:sp>
    </p:spTree>
  </p:cSld>
  <p:transition spd="med" advClick="1">
    <p:fade/>
  </p:transition>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Generative Expand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Generative Expand</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128</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Crop ratio · anchor · prompt/blank · safe area · variation</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Extending low-quality edges or moving the focal point unintentionally.</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Three channel crops preserve subject integrity and useful copy space.</a:t>
            </a:r>
          </a:p>
        </p:txBody>
      </p:sp>
      <p:sp>
        <p:nvSpPr>
          <p:cNvPr id="23" name="Rounded Rectangle 22"/>
          <p:cNvSpPr/>
          <p:nvPr/>
        </p:nvSpPr>
        <p:spPr>
          <a:xfrm>
            <a:off x="685800" y="5349240"/>
            <a:ext cx="10771632" cy="65836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Worked Artifact · Generative Expand</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Generative Expand</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129</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Reframing a master visual for landscape, portrait and square channels.</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7C3AED"/>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Crop ratio · anchor · prompt/blank · safe area · variation</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Extending low-quality edges or moving the focal point unintentionally.</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98500"/>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Three channel crops preserve subject integrity and useful copy space.</a:t>
            </a:r>
          </a:p>
        </p:txBody>
      </p:sp>
      <p:sp>
        <p:nvSpPr>
          <p:cNvPr id="30" name="Rounded Rectangle 29"/>
          <p:cNvSpPr/>
          <p:nvPr/>
        </p:nvSpPr>
        <p:spPr>
          <a:xfrm>
            <a:off x="804672" y="5532120"/>
            <a:ext cx="10561320" cy="530352"/>
          </a:xfrm>
          <a:prstGeom prst="roundRect">
            <a:avLst/>
          </a:prstGeom>
          <a:solidFill>
            <a:srgbClr val="FFFFFF"/>
          </a:solidFill>
          <a:ln>
            <a:solidFill>
              <a:srgbClr val="E11D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E11D74"/>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Annotated Decision Model · Generative Expand</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Generative Expand</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130</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Crop ratio</a:t>
            </a:r>
          </a:p>
        </p:txBody>
      </p:sp>
      <p:sp>
        <p:nvSpPr>
          <p:cNvPr id="16" name="Rounded Rectangle 15"/>
          <p:cNvSpPr/>
          <p:nvPr/>
        </p:nvSpPr>
        <p:spPr>
          <a:xfrm>
            <a:off x="896112" y="3099816"/>
            <a:ext cx="384048"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anchor</a:t>
            </a:r>
          </a:p>
        </p:txBody>
      </p:sp>
      <p:sp>
        <p:nvSpPr>
          <p:cNvPr id="19" name="Rounded Rectangle 18"/>
          <p:cNvSpPr/>
          <p:nvPr/>
        </p:nvSpPr>
        <p:spPr>
          <a:xfrm>
            <a:off x="896112" y="3685032"/>
            <a:ext cx="384048" cy="38404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prompt/blank</a:t>
            </a:r>
          </a:p>
        </p:txBody>
      </p:sp>
      <p:sp>
        <p:nvSpPr>
          <p:cNvPr id="22" name="Rounded Rectangle 21"/>
          <p:cNvSpPr/>
          <p:nvPr/>
        </p:nvSpPr>
        <p:spPr>
          <a:xfrm>
            <a:off x="896112" y="4270248"/>
            <a:ext cx="384048" cy="38404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safe area</a:t>
            </a:r>
          </a:p>
        </p:txBody>
      </p:sp>
      <p:sp>
        <p:nvSpPr>
          <p:cNvPr id="25" name="Rounded Rectangle 24"/>
          <p:cNvSpPr/>
          <p:nvPr/>
        </p:nvSpPr>
        <p:spPr>
          <a:xfrm>
            <a:off x="896112" y="4855464"/>
            <a:ext cx="384048" cy="38404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19472"/>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5</a:t>
            </a:r>
          </a:p>
        </p:txBody>
      </p:sp>
      <p:sp>
        <p:nvSpPr>
          <p:cNvPr id="27" name="TextBox 26"/>
          <p:cNvSpPr txBox="1"/>
          <p:nvPr/>
        </p:nvSpPr>
        <p:spPr>
          <a:xfrm>
            <a:off x="1408176" y="4873752"/>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variation</a:t>
            </a:r>
          </a:p>
        </p:txBody>
      </p:sp>
      <p:sp>
        <p:nvSpPr>
          <p:cNvPr id="28" name="Rounded Rectangle 27"/>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7C3AED"/>
                </a:solidFill>
                <a:latin typeface="Arial"/>
              </a:rPr>
              <a:t>EDITABLE CANVAS / OUTPUT STATE</a:t>
            </a:r>
          </a:p>
        </p:txBody>
      </p:sp>
      <p:sp>
        <p:nvSpPr>
          <p:cNvPr id="31" name="TextBox 30"/>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Generative Expand extends the canvas and synthesises contextual pixels beyond the original frame.</a:t>
            </a:r>
          </a:p>
        </p:txBody>
      </p:sp>
      <p:sp>
        <p:nvSpPr>
          <p:cNvPr id="32" name="Rounded Rectangle 31"/>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4" name="Rounded Rectangle 33"/>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7C3AED"/>
                </a:solidFill>
                <a:latin typeface="Arial"/>
              </a:rPr>
              <a:t>PROOF PANEL</a:t>
            </a:r>
          </a:p>
        </p:txBody>
      </p:sp>
      <p:sp>
        <p:nvSpPr>
          <p:cNvPr id="36" name="TextBox 35"/>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Three channel crops preserve subject integrity and useful copy space.</a:t>
            </a:r>
          </a:p>
        </p:txBody>
      </p:sp>
      <p:sp>
        <p:nvSpPr>
          <p:cNvPr id="37" name="TextBox 36"/>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Diagnostic · Generative Expand</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Generative Expand</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131</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Extending low-quality edges or moving the focal point unintentionally.</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Crop ratio · anchor · prompt/blank · safe area · variation.</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Three channel crops preserve subject integrity and useful copy space.</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Accept only when the defect is reduced and protected content remains intact.</a:t>
            </a:r>
          </a:p>
        </p:txBody>
      </p:sp>
    </p:spTree>
  </p:cSld>
  <p:transition spd="med" advClick="1">
    <p:fade/>
  </p:transition>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CONCEPT 21 · HOW IT WORKS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Generate Background and Harmonize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Generative AI Overview</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132</a:t>
            </a:r>
          </a:p>
        </p:txBody>
      </p:sp>
      <p:sp>
        <p:nvSpPr>
          <p:cNvPr id="11" name="Rounded Rectangle 10"/>
          <p:cNvSpPr/>
          <p:nvPr/>
        </p:nvSpPr>
        <p:spPr>
          <a:xfrm>
            <a:off x="685800" y="1755648"/>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755648"/>
            <a:ext cx="73152" cy="212140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1956816"/>
            <a:ext cx="4892040"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How it works</a:t>
            </a:r>
          </a:p>
        </p:txBody>
      </p:sp>
      <p:sp>
        <p:nvSpPr>
          <p:cNvPr id="14" name="TextBox 13"/>
          <p:cNvSpPr txBox="1"/>
          <p:nvPr/>
        </p:nvSpPr>
        <p:spPr>
          <a:xfrm>
            <a:off x="905256" y="2414015"/>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Background generation replaces the environment; Harmonize adjusts a placed subject to the surrounding tone, colour and light.</a:t>
            </a:r>
          </a:p>
        </p:txBody>
      </p:sp>
      <p:sp>
        <p:nvSpPr>
          <p:cNvPr id="15" name="Rounded Rectangle 14"/>
          <p:cNvSpPr/>
          <p:nvPr/>
        </p:nvSpPr>
        <p:spPr>
          <a:xfrm>
            <a:off x="6181344" y="1755648"/>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81344" y="1755648"/>
            <a:ext cx="73152" cy="212140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956816"/>
            <a:ext cx="4892040"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Best used for</a:t>
            </a:r>
          </a:p>
        </p:txBody>
      </p:sp>
      <p:sp>
        <p:nvSpPr>
          <p:cNvPr id="18" name="TextBox 17"/>
          <p:cNvSpPr txBox="1"/>
          <p:nvPr/>
        </p:nvSpPr>
        <p:spPr>
          <a:xfrm>
            <a:off x="6400800" y="2414015"/>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Fast composites that still require realistic integration.</a:t>
            </a:r>
          </a:p>
        </p:txBody>
      </p:sp>
      <p:sp>
        <p:nvSpPr>
          <p:cNvPr id="19" name="Rounded Rectangle 18"/>
          <p:cNvSpPr/>
          <p:nvPr/>
        </p:nvSpPr>
        <p:spPr>
          <a:xfrm>
            <a:off x="685800" y="4078224"/>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85800" y="4078224"/>
            <a:ext cx="73152" cy="212140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5256" y="4279392"/>
            <a:ext cx="4892040"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Professional decision</a:t>
            </a:r>
          </a:p>
        </p:txBody>
      </p:sp>
      <p:sp>
        <p:nvSpPr>
          <p:cNvPr id="22" name="TextBox 21"/>
          <p:cNvSpPr txBox="1"/>
          <p:nvPr/>
        </p:nvSpPr>
        <p:spPr>
          <a:xfrm>
            <a:off x="905256" y="4736592"/>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Choose this method when its content model and edge behaviour fit the brief.</a:t>
            </a:r>
          </a:p>
        </p:txBody>
      </p:sp>
      <p:sp>
        <p:nvSpPr>
          <p:cNvPr id="23" name="Rounded Rectangle 22"/>
          <p:cNvSpPr/>
          <p:nvPr/>
        </p:nvSpPr>
        <p:spPr>
          <a:xfrm>
            <a:off x="6181344" y="4078224"/>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81344" y="4078224"/>
            <a:ext cx="73152" cy="21214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4279392"/>
            <a:ext cx="4892040"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Quality signal</a:t>
            </a:r>
          </a:p>
        </p:txBody>
      </p:sp>
      <p:sp>
        <p:nvSpPr>
          <p:cNvPr id="26" name="TextBox 25"/>
          <p:cNvSpPr txBox="1"/>
          <p:nvPr/>
        </p:nvSpPr>
        <p:spPr>
          <a:xfrm>
            <a:off x="6400800" y="4736592"/>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Layered before/after and zoomed edge/shadow evidence pass review.</a:t>
            </a:r>
          </a:p>
        </p:txBody>
      </p:sp>
    </p:spTree>
  </p:cSld>
  <p:transition spd="med" advClick="1">
    <p:fade/>
  </p:transition>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98500"/>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Generate Background and Harmonize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Generative AI Overview</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133</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Subject isolation · background prompt · scale · contact shadow · Harmonize</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Floating subjects, incorrect perspective or inconsistent light direction.</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Layered before/after and zoomed edge/shadow evidence pass review.</a:t>
            </a:r>
          </a:p>
        </p:txBody>
      </p:sp>
      <p:sp>
        <p:nvSpPr>
          <p:cNvPr id="23" name="Rounded Rectangle 22"/>
          <p:cNvSpPr/>
          <p:nvPr/>
        </p:nvSpPr>
        <p:spPr>
          <a:xfrm>
            <a:off x="685800" y="5349240"/>
            <a:ext cx="10771632" cy="65836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Worked Artifact · Generate Background and Harmonize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Generative AI Overview</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134</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7C3AED"/>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Fast composites that still require realistic integration.</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Subject isolation · background prompt · scale · contact shadow · Harmonize</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98500"/>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Floating subjects, incorrect perspective or inconsistent light direction.</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Layered before/after and zoomed edge/shadow evidence pass review.</a:t>
            </a:r>
          </a:p>
        </p:txBody>
      </p:sp>
      <p:sp>
        <p:nvSpPr>
          <p:cNvPr id="30" name="Rounded Rectangle 29"/>
          <p:cNvSpPr/>
          <p:nvPr/>
        </p:nvSpPr>
        <p:spPr>
          <a:xfrm>
            <a:off x="804672" y="5532120"/>
            <a:ext cx="10561320" cy="530352"/>
          </a:xfrm>
          <a:prstGeom prst="roundRect">
            <a:avLst/>
          </a:prstGeom>
          <a:solidFill>
            <a:srgbClr val="FFFFFF"/>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7C3AED"/>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Annotated Decision Model · Generate Background and Harmonize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Generative AI Overview</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135</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Subject isolation</a:t>
            </a:r>
          </a:p>
        </p:txBody>
      </p:sp>
      <p:sp>
        <p:nvSpPr>
          <p:cNvPr id="16" name="Rounded Rectangle 15"/>
          <p:cNvSpPr/>
          <p:nvPr/>
        </p:nvSpPr>
        <p:spPr>
          <a:xfrm>
            <a:off x="896112" y="3099816"/>
            <a:ext cx="384048" cy="38404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background prompt</a:t>
            </a:r>
          </a:p>
        </p:txBody>
      </p:sp>
      <p:sp>
        <p:nvSpPr>
          <p:cNvPr id="19" name="Rounded Rectangle 18"/>
          <p:cNvSpPr/>
          <p:nvPr/>
        </p:nvSpPr>
        <p:spPr>
          <a:xfrm>
            <a:off x="896112" y="3685032"/>
            <a:ext cx="384048" cy="38404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scale</a:t>
            </a:r>
          </a:p>
        </p:txBody>
      </p:sp>
      <p:sp>
        <p:nvSpPr>
          <p:cNvPr id="22" name="Rounded Rectangle 21"/>
          <p:cNvSpPr/>
          <p:nvPr/>
        </p:nvSpPr>
        <p:spPr>
          <a:xfrm>
            <a:off x="896112" y="4270248"/>
            <a:ext cx="384048" cy="38404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contact shadow</a:t>
            </a:r>
          </a:p>
        </p:txBody>
      </p:sp>
      <p:sp>
        <p:nvSpPr>
          <p:cNvPr id="25" name="Rounded Rectangle 24"/>
          <p:cNvSpPr/>
          <p:nvPr/>
        </p:nvSpPr>
        <p:spPr>
          <a:xfrm>
            <a:off x="896112" y="4855464"/>
            <a:ext cx="384048" cy="38404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19472"/>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5</a:t>
            </a:r>
          </a:p>
        </p:txBody>
      </p:sp>
      <p:sp>
        <p:nvSpPr>
          <p:cNvPr id="27" name="TextBox 26"/>
          <p:cNvSpPr txBox="1"/>
          <p:nvPr/>
        </p:nvSpPr>
        <p:spPr>
          <a:xfrm>
            <a:off x="1408176" y="4873752"/>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Harmonize</a:t>
            </a:r>
          </a:p>
        </p:txBody>
      </p:sp>
      <p:sp>
        <p:nvSpPr>
          <p:cNvPr id="28" name="Rounded Rectangle 27"/>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009A78"/>
                </a:solidFill>
                <a:latin typeface="Arial"/>
              </a:rPr>
              <a:t>EDITABLE CANVAS / OUTPUT STATE</a:t>
            </a:r>
          </a:p>
        </p:txBody>
      </p:sp>
      <p:sp>
        <p:nvSpPr>
          <p:cNvPr id="31" name="TextBox 30"/>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Background generation replaces the environment; Harmonize adjusts a placed subject to the surrounding tone, colour and light.</a:t>
            </a:r>
          </a:p>
        </p:txBody>
      </p:sp>
      <p:sp>
        <p:nvSpPr>
          <p:cNvPr id="32" name="Rounded Rectangle 31"/>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4" name="Rounded Rectangle 33"/>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009A78"/>
                </a:solidFill>
                <a:latin typeface="Arial"/>
              </a:rPr>
              <a:t>PROOF PANEL</a:t>
            </a:r>
          </a:p>
        </p:txBody>
      </p:sp>
      <p:sp>
        <p:nvSpPr>
          <p:cNvPr id="36" name="TextBox 35"/>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Layered before/after and zoomed edge/shadow evidence pass review.</a:t>
            </a:r>
          </a:p>
        </p:txBody>
      </p:sp>
      <p:sp>
        <p:nvSpPr>
          <p:cNvPr id="37" name="TextBox 36"/>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98500"/>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Diagnostic · Generate Background and Harmonize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Generative AI Overview</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136</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Floating subjects, incorrect perspective or inconsistent light direction.</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Subject isolation · background prompt · scale · contact shadow · Harmonize.</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Layered before/after and zoomed edge/shadow evidence pass review.</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E98500"/>
                </a:solidFill>
                <a:latin typeface="Arial"/>
              </a:rPr>
              <a:t>Accept only when the defect is reduced and protected content remains intact.</a:t>
            </a:r>
          </a:p>
        </p:txBody>
      </p:sp>
    </p:spTree>
  </p:cSld>
  <p:transition spd="med" advClick="1">
    <p:fade/>
  </p:transition>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CONCEPT 22 · HOW IT WORKS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Reference Image in Generative Fill</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Reference Image</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137</a:t>
            </a:r>
          </a:p>
        </p:txBody>
      </p:sp>
      <p:sp>
        <p:nvSpPr>
          <p:cNvPr id="11" name="Rounded Rectangle 10"/>
          <p:cNvSpPr/>
          <p:nvPr/>
        </p:nvSpPr>
        <p:spPr>
          <a:xfrm>
            <a:off x="685800" y="1755648"/>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755648"/>
            <a:ext cx="73152" cy="212140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1956816"/>
            <a:ext cx="4892040"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How it works</a:t>
            </a:r>
          </a:p>
        </p:txBody>
      </p:sp>
      <p:sp>
        <p:nvSpPr>
          <p:cNvPr id="14" name="TextBox 13"/>
          <p:cNvSpPr txBox="1"/>
          <p:nvPr/>
        </p:nvSpPr>
        <p:spPr>
          <a:xfrm>
            <a:off x="905256" y="2414015"/>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A reference image provides additional visual guidance while the prompt and selection define the requested change.</a:t>
            </a:r>
          </a:p>
        </p:txBody>
      </p:sp>
      <p:sp>
        <p:nvSpPr>
          <p:cNvPr id="15" name="Rounded Rectangle 14"/>
          <p:cNvSpPr/>
          <p:nvPr/>
        </p:nvSpPr>
        <p:spPr>
          <a:xfrm>
            <a:off x="6181344" y="1755648"/>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81344" y="1755648"/>
            <a:ext cx="73152" cy="212140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956816"/>
            <a:ext cx="4892040"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Best used for</a:t>
            </a:r>
          </a:p>
        </p:txBody>
      </p:sp>
      <p:sp>
        <p:nvSpPr>
          <p:cNvPr id="18" name="TextBox 17"/>
          <p:cNvSpPr txBox="1"/>
          <p:nvPr/>
        </p:nvSpPr>
        <p:spPr>
          <a:xfrm>
            <a:off x="6400800" y="2414015"/>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Improving consistency of an object, material or visual direction.</a:t>
            </a:r>
          </a:p>
        </p:txBody>
      </p:sp>
      <p:sp>
        <p:nvSpPr>
          <p:cNvPr id="19" name="Rounded Rectangle 18"/>
          <p:cNvSpPr/>
          <p:nvPr/>
        </p:nvSpPr>
        <p:spPr>
          <a:xfrm>
            <a:off x="685800" y="4078224"/>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85800" y="4078224"/>
            <a:ext cx="73152" cy="212140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5256" y="4279392"/>
            <a:ext cx="4892040"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Professional decision</a:t>
            </a:r>
          </a:p>
        </p:txBody>
      </p:sp>
      <p:sp>
        <p:nvSpPr>
          <p:cNvPr id="22" name="TextBox 21"/>
          <p:cNvSpPr txBox="1"/>
          <p:nvPr/>
        </p:nvSpPr>
        <p:spPr>
          <a:xfrm>
            <a:off x="905256" y="4736592"/>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Choose this method when its content model and edge behaviour fit the brief.</a:t>
            </a:r>
          </a:p>
        </p:txBody>
      </p:sp>
      <p:sp>
        <p:nvSpPr>
          <p:cNvPr id="23" name="Rounded Rectangle 22"/>
          <p:cNvSpPr/>
          <p:nvPr/>
        </p:nvSpPr>
        <p:spPr>
          <a:xfrm>
            <a:off x="6181344" y="4078224"/>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81344" y="4078224"/>
            <a:ext cx="73152" cy="21214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4279392"/>
            <a:ext cx="4892040"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Quality signal</a:t>
            </a:r>
          </a:p>
        </p:txBody>
      </p:sp>
      <p:sp>
        <p:nvSpPr>
          <p:cNvPr id="26" name="TextBox 25"/>
          <p:cNvSpPr txBox="1"/>
          <p:nvPr/>
        </p:nvSpPr>
        <p:spPr>
          <a:xfrm>
            <a:off x="6400800" y="4736592"/>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The reference, selected output and rights record are stored together.</a:t>
            </a:r>
          </a:p>
        </p:txBody>
      </p:sp>
    </p:spTree>
  </p:cSld>
  <p:transition spd="med" advClick="1">
    <p:fade/>
  </p:transition>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Reference Image in Generative Fill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Reference Image</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138</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Reference asset · rights · prompt · selection · variation</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Expecting an exact copy or using a reference without permission.</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The reference, selected output and rights record are stored together.</a:t>
            </a:r>
          </a:p>
        </p:txBody>
      </p:sp>
      <p:sp>
        <p:nvSpPr>
          <p:cNvPr id="23" name="Rounded Rectangle 22"/>
          <p:cNvSpPr/>
          <p:nvPr/>
        </p:nvSpPr>
        <p:spPr>
          <a:xfrm>
            <a:off x="685800" y="5349240"/>
            <a:ext cx="10771632" cy="65836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Worked Artifact · Reference Image in Generative Fill</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Reference Image</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139</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Improving consistency of an object, material or visual direction.</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98500"/>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Reference asset · rights · prompt · selection · variation</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Expecting an exact copy or using a reference without permission.</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B8D9"/>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The reference, selected output and rights record are stored together.</a:t>
            </a:r>
          </a:p>
        </p:txBody>
      </p:sp>
      <p:sp>
        <p:nvSpPr>
          <p:cNvPr id="30" name="Rounded Rectangle 29"/>
          <p:cNvSpPr/>
          <p:nvPr/>
        </p:nvSpPr>
        <p:spPr>
          <a:xfrm>
            <a:off x="804672" y="5532120"/>
            <a:ext cx="10561320" cy="530352"/>
          </a:xfrm>
          <a:prstGeom prst="roundRect">
            <a:avLst/>
          </a:prstGeom>
          <a:solidFill>
            <a:srgbClr val="FFFFFF"/>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009A78"/>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98500"/>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Annotated Decision Model · Reference Image in Generative Fill</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Reference Image</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140</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Reference asset</a:t>
            </a:r>
          </a:p>
        </p:txBody>
      </p:sp>
      <p:sp>
        <p:nvSpPr>
          <p:cNvPr id="16" name="Rounded Rectangle 15"/>
          <p:cNvSpPr/>
          <p:nvPr/>
        </p:nvSpPr>
        <p:spPr>
          <a:xfrm>
            <a:off x="896112" y="3099816"/>
            <a:ext cx="384048" cy="38404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rights</a:t>
            </a:r>
          </a:p>
        </p:txBody>
      </p:sp>
      <p:sp>
        <p:nvSpPr>
          <p:cNvPr id="19" name="Rounded Rectangle 18"/>
          <p:cNvSpPr/>
          <p:nvPr/>
        </p:nvSpPr>
        <p:spPr>
          <a:xfrm>
            <a:off x="896112" y="3685032"/>
            <a:ext cx="384048" cy="38404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prompt</a:t>
            </a:r>
          </a:p>
        </p:txBody>
      </p:sp>
      <p:sp>
        <p:nvSpPr>
          <p:cNvPr id="22" name="Rounded Rectangle 21"/>
          <p:cNvSpPr/>
          <p:nvPr/>
        </p:nvSpPr>
        <p:spPr>
          <a:xfrm>
            <a:off x="896112" y="4270248"/>
            <a:ext cx="384048" cy="38404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selection</a:t>
            </a:r>
          </a:p>
        </p:txBody>
      </p:sp>
      <p:sp>
        <p:nvSpPr>
          <p:cNvPr id="25" name="Rounded Rectangle 24"/>
          <p:cNvSpPr/>
          <p:nvPr/>
        </p:nvSpPr>
        <p:spPr>
          <a:xfrm>
            <a:off x="896112" y="4855464"/>
            <a:ext cx="384048" cy="38404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19472"/>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5</a:t>
            </a:r>
          </a:p>
        </p:txBody>
      </p:sp>
      <p:sp>
        <p:nvSpPr>
          <p:cNvPr id="27" name="TextBox 26"/>
          <p:cNvSpPr txBox="1"/>
          <p:nvPr/>
        </p:nvSpPr>
        <p:spPr>
          <a:xfrm>
            <a:off x="1408176" y="4873752"/>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variation</a:t>
            </a:r>
          </a:p>
        </p:txBody>
      </p:sp>
      <p:sp>
        <p:nvSpPr>
          <p:cNvPr id="28" name="Rounded Rectangle 27"/>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E98500"/>
                </a:solidFill>
                <a:latin typeface="Arial"/>
              </a:rPr>
              <a:t>EDITABLE CANVAS / OUTPUT STATE</a:t>
            </a:r>
          </a:p>
        </p:txBody>
      </p:sp>
      <p:sp>
        <p:nvSpPr>
          <p:cNvPr id="31" name="TextBox 30"/>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A reference image provides additional visual guidance while the prompt and selection define the requested change.</a:t>
            </a:r>
          </a:p>
        </p:txBody>
      </p:sp>
      <p:sp>
        <p:nvSpPr>
          <p:cNvPr id="32" name="Rounded Rectangle 31"/>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4" name="Rounded Rectangle 33"/>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E98500"/>
                </a:solidFill>
                <a:latin typeface="Arial"/>
              </a:rPr>
              <a:t>PROOF PANEL</a:t>
            </a:r>
          </a:p>
        </p:txBody>
      </p:sp>
      <p:sp>
        <p:nvSpPr>
          <p:cNvPr id="36" name="TextBox 35"/>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The reference, selected output and rights record are stored together.</a:t>
            </a:r>
          </a:p>
        </p:txBody>
      </p:sp>
      <p:sp>
        <p:nvSpPr>
          <p:cNvPr id="37" name="TextBox 36"/>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Diagnostic · Reference Image in Generative Fill</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Reference Image</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141</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Expecting an exact copy or using a reference without permission.</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Reference asset · rights · prompt · selection · variation.</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The reference, selected output and rights record are stored together.</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224AF4"/>
                </a:solidFill>
                <a:latin typeface="Arial"/>
              </a:rPr>
              <a:t>Accept only when the defect is reduced and protected content remains intact.</a:t>
            </a:r>
          </a:p>
        </p:txBody>
      </p:sp>
    </p:spTree>
  </p:cSld>
  <p:transition spd="med" advClick="1">
    <p:fade/>
  </p:transition>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98500"/>
                </a:solidFill>
                <a:latin typeface="Arial"/>
              </a:rPr>
              <a:t>CONCEPT 23 · HOW IT WORKS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Inpainting and Outpainting</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142</a:t>
            </a:r>
          </a:p>
        </p:txBody>
      </p:sp>
      <p:sp>
        <p:nvSpPr>
          <p:cNvPr id="11" name="Rounded Rectangle 10"/>
          <p:cNvSpPr/>
          <p:nvPr/>
        </p:nvSpPr>
        <p:spPr>
          <a:xfrm>
            <a:off x="685800" y="1755648"/>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755648"/>
            <a:ext cx="73152" cy="212140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1956816"/>
            <a:ext cx="4892040"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How it works</a:t>
            </a:r>
          </a:p>
        </p:txBody>
      </p:sp>
      <p:sp>
        <p:nvSpPr>
          <p:cNvPr id="14" name="TextBox 13"/>
          <p:cNvSpPr txBox="1"/>
          <p:nvPr/>
        </p:nvSpPr>
        <p:spPr>
          <a:xfrm>
            <a:off x="905256" y="2414015"/>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Inpainting changes content inside a boundary; outpainting synthesises beyond an existing boundary.</a:t>
            </a:r>
          </a:p>
        </p:txBody>
      </p:sp>
      <p:sp>
        <p:nvSpPr>
          <p:cNvPr id="15" name="Rounded Rectangle 14"/>
          <p:cNvSpPr/>
          <p:nvPr/>
        </p:nvSpPr>
        <p:spPr>
          <a:xfrm>
            <a:off x="6181344" y="1755648"/>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81344" y="1755648"/>
            <a:ext cx="73152" cy="212140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956816"/>
            <a:ext cx="4892040"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Best used for</a:t>
            </a:r>
          </a:p>
        </p:txBody>
      </p:sp>
      <p:sp>
        <p:nvSpPr>
          <p:cNvPr id="18" name="TextBox 17"/>
          <p:cNvSpPr txBox="1"/>
          <p:nvPr/>
        </p:nvSpPr>
        <p:spPr>
          <a:xfrm>
            <a:off x="6400800" y="2414015"/>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Choosing between local repair and frame extension.</a:t>
            </a:r>
          </a:p>
        </p:txBody>
      </p:sp>
      <p:sp>
        <p:nvSpPr>
          <p:cNvPr id="19" name="Rounded Rectangle 18"/>
          <p:cNvSpPr/>
          <p:nvPr/>
        </p:nvSpPr>
        <p:spPr>
          <a:xfrm>
            <a:off x="685800" y="4078224"/>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85800" y="4078224"/>
            <a:ext cx="73152" cy="212140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5256" y="4279392"/>
            <a:ext cx="4892040"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Professional decision</a:t>
            </a:r>
          </a:p>
        </p:txBody>
      </p:sp>
      <p:sp>
        <p:nvSpPr>
          <p:cNvPr id="22" name="TextBox 21"/>
          <p:cNvSpPr txBox="1"/>
          <p:nvPr/>
        </p:nvSpPr>
        <p:spPr>
          <a:xfrm>
            <a:off x="905256" y="4736592"/>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Choose this method when its content model and edge behaviour fit the brief.</a:t>
            </a:r>
          </a:p>
        </p:txBody>
      </p:sp>
      <p:sp>
        <p:nvSpPr>
          <p:cNvPr id="23" name="Rounded Rectangle 22"/>
          <p:cNvSpPr/>
          <p:nvPr/>
        </p:nvSpPr>
        <p:spPr>
          <a:xfrm>
            <a:off x="6181344" y="4078224"/>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81344" y="4078224"/>
            <a:ext cx="73152" cy="21214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4279392"/>
            <a:ext cx="4892040"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Quality signal</a:t>
            </a:r>
          </a:p>
        </p:txBody>
      </p:sp>
      <p:sp>
        <p:nvSpPr>
          <p:cNvPr id="26" name="TextBox 25"/>
          <p:cNvSpPr txBox="1"/>
          <p:nvPr/>
        </p:nvSpPr>
        <p:spPr>
          <a:xfrm>
            <a:off x="6400800" y="4736592"/>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A difference review confirms only the intended region changed.</a:t>
            </a:r>
          </a:p>
        </p:txBody>
      </p:sp>
    </p:spTree>
  </p:cSld>
  <p:transition spd="med" advClick="1">
    <p:fade/>
  </p:transition>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Inpainting and Outpainting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143</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Protected area · context overlap · seam location · content continuity</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Visible seams, repeated objects or altered protected content.</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A difference review confirms only the intended region changed.</a:t>
            </a:r>
          </a:p>
        </p:txBody>
      </p:sp>
      <p:sp>
        <p:nvSpPr>
          <p:cNvPr id="23" name="Rounded Rectangle 22"/>
          <p:cNvSpPr/>
          <p:nvPr/>
        </p:nvSpPr>
        <p:spPr>
          <a:xfrm>
            <a:off x="685800" y="5349240"/>
            <a:ext cx="10771632" cy="65836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98500"/>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Worked Artifact · Inpainting and Outpainting</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144</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98500"/>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Choosing between local repair and frame extension.</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Protected area · context overlap · seam location · content continuity</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B8D9"/>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Visible seams, repeated objects or altered protected content.</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A difference review confirms only the intended region changed.</a:t>
            </a:r>
          </a:p>
        </p:txBody>
      </p:sp>
      <p:sp>
        <p:nvSpPr>
          <p:cNvPr id="30" name="Rounded Rectangle 29"/>
          <p:cNvSpPr/>
          <p:nvPr/>
        </p:nvSpPr>
        <p:spPr>
          <a:xfrm>
            <a:off x="804672" y="5532120"/>
            <a:ext cx="10561320" cy="530352"/>
          </a:xfrm>
          <a:prstGeom prst="roundRect">
            <a:avLst/>
          </a:prstGeom>
          <a:solidFill>
            <a:srgbClr val="FFFFFF"/>
          </a:solidFill>
          <a:ln>
            <a:solidFill>
              <a:srgbClr val="E98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E98500"/>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Annotated Decision Model · Inpainting and Outpainting</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145</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Protected area</a:t>
            </a:r>
          </a:p>
        </p:txBody>
      </p:sp>
      <p:sp>
        <p:nvSpPr>
          <p:cNvPr id="16" name="Rounded Rectangle 15"/>
          <p:cNvSpPr/>
          <p:nvPr/>
        </p:nvSpPr>
        <p:spPr>
          <a:xfrm>
            <a:off x="896112" y="3099816"/>
            <a:ext cx="384048" cy="38404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context overlap</a:t>
            </a:r>
          </a:p>
        </p:txBody>
      </p:sp>
      <p:sp>
        <p:nvSpPr>
          <p:cNvPr id="19" name="Rounded Rectangle 18"/>
          <p:cNvSpPr/>
          <p:nvPr/>
        </p:nvSpPr>
        <p:spPr>
          <a:xfrm>
            <a:off x="896112" y="3685032"/>
            <a:ext cx="384048" cy="38404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seam location</a:t>
            </a:r>
          </a:p>
        </p:txBody>
      </p:sp>
      <p:sp>
        <p:nvSpPr>
          <p:cNvPr id="22" name="Rounded Rectangle 21"/>
          <p:cNvSpPr/>
          <p:nvPr/>
        </p:nvSpPr>
        <p:spPr>
          <a:xfrm>
            <a:off x="896112" y="4270248"/>
            <a:ext cx="384048" cy="38404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content continuity</a:t>
            </a:r>
          </a:p>
        </p:txBody>
      </p:sp>
      <p:sp>
        <p:nvSpPr>
          <p:cNvPr id="25" name="Rounded Rectangle 24"/>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224AF4"/>
                </a:solidFill>
                <a:latin typeface="Arial"/>
              </a:rPr>
              <a:t>EDITABLE CANVAS / OUTPUT STATE</a:t>
            </a:r>
          </a:p>
        </p:txBody>
      </p:sp>
      <p:sp>
        <p:nvSpPr>
          <p:cNvPr id="28" name="TextBox 27"/>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Inpainting changes content inside a boundary; outpainting synthesises beyond an existing boundary.</a:t>
            </a:r>
          </a:p>
        </p:txBody>
      </p:sp>
      <p:sp>
        <p:nvSpPr>
          <p:cNvPr id="29" name="Rounded Rectangle 28"/>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1" name="Rounded Rectangle 30"/>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224AF4"/>
                </a:solidFill>
                <a:latin typeface="Arial"/>
              </a:rPr>
              <a:t>PROOF PANEL</a:t>
            </a:r>
          </a:p>
        </p:txBody>
      </p:sp>
      <p:sp>
        <p:nvSpPr>
          <p:cNvPr id="33" name="TextBox 32"/>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A difference review confirms only the intended region changed.</a:t>
            </a:r>
          </a:p>
        </p:txBody>
      </p:sp>
      <p:sp>
        <p:nvSpPr>
          <p:cNvPr id="34" name="TextBox 33"/>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Diagnostic · Inpainting and Outpainting</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146</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Visible seams, repeated objects or altered protected content.</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Protected area · context overlap · seam location · content continuity.</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A difference review confirms only the intended region changed.</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00B8D9"/>
                </a:solidFill>
                <a:latin typeface="Arial"/>
              </a:rPr>
              <a:t>Accept only when the defect is reduced and protected content remains intact.</a:t>
            </a:r>
          </a:p>
        </p:txBody>
      </p:sp>
    </p:spTree>
  </p:cSld>
  <p:transition spd="med" advClick="1">
    <p:fade/>
  </p:transition>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CONCEPT 24 · HOW IT WORKS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Aesthetic Critique and Golden-ratio Heuristics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147</a:t>
            </a:r>
          </a:p>
        </p:txBody>
      </p:sp>
      <p:sp>
        <p:nvSpPr>
          <p:cNvPr id="11" name="Rounded Rectangle 10"/>
          <p:cNvSpPr/>
          <p:nvPr/>
        </p:nvSpPr>
        <p:spPr>
          <a:xfrm>
            <a:off x="685800" y="1755648"/>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755648"/>
            <a:ext cx="73152" cy="212140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1956816"/>
            <a:ext cx="4892040"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How it works</a:t>
            </a:r>
          </a:p>
        </p:txBody>
      </p:sp>
      <p:sp>
        <p:nvSpPr>
          <p:cNvPr id="14" name="TextBox 13"/>
          <p:cNvSpPr txBox="1"/>
          <p:nvPr/>
        </p:nvSpPr>
        <p:spPr>
          <a:xfrm>
            <a:off x="905256" y="2414015"/>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Critique separates description, interpretation, evaluation and recommendation; compositional heuristics are prompts for judgement, not guarantees.</a:t>
            </a:r>
          </a:p>
        </p:txBody>
      </p:sp>
      <p:sp>
        <p:nvSpPr>
          <p:cNvPr id="15" name="Rounded Rectangle 14"/>
          <p:cNvSpPr/>
          <p:nvPr/>
        </p:nvSpPr>
        <p:spPr>
          <a:xfrm>
            <a:off x="6181344" y="1755648"/>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81344" y="1755648"/>
            <a:ext cx="73152" cy="212140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956816"/>
            <a:ext cx="4892040"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Best used for</a:t>
            </a:r>
          </a:p>
        </p:txBody>
      </p:sp>
      <p:sp>
        <p:nvSpPr>
          <p:cNvPr id="18" name="TextBox 17"/>
          <p:cNvSpPr txBox="1"/>
          <p:nvPr/>
        </p:nvSpPr>
        <p:spPr>
          <a:xfrm>
            <a:off x="6400800" y="2414015"/>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Explaining why a visual works and proposing an actionable revision.</a:t>
            </a:r>
          </a:p>
        </p:txBody>
      </p:sp>
      <p:sp>
        <p:nvSpPr>
          <p:cNvPr id="19" name="Rounded Rectangle 18"/>
          <p:cNvSpPr/>
          <p:nvPr/>
        </p:nvSpPr>
        <p:spPr>
          <a:xfrm>
            <a:off x="685800" y="4078224"/>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85800" y="4078224"/>
            <a:ext cx="73152" cy="212140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5256" y="4279392"/>
            <a:ext cx="4892040"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Professional decision</a:t>
            </a:r>
          </a:p>
        </p:txBody>
      </p:sp>
      <p:sp>
        <p:nvSpPr>
          <p:cNvPr id="22" name="TextBox 21"/>
          <p:cNvSpPr txBox="1"/>
          <p:nvPr/>
        </p:nvSpPr>
        <p:spPr>
          <a:xfrm>
            <a:off x="905256" y="4736592"/>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Choose this method when its content model and edge behaviour fit the brief.</a:t>
            </a:r>
          </a:p>
        </p:txBody>
      </p:sp>
      <p:sp>
        <p:nvSpPr>
          <p:cNvPr id="23" name="Rounded Rectangle 22"/>
          <p:cNvSpPr/>
          <p:nvPr/>
        </p:nvSpPr>
        <p:spPr>
          <a:xfrm>
            <a:off x="6181344" y="4078224"/>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81344" y="4078224"/>
            <a:ext cx="73152" cy="21214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4279392"/>
            <a:ext cx="4892040"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Quality signal</a:t>
            </a:r>
          </a:p>
        </p:txBody>
      </p:sp>
      <p:sp>
        <p:nvSpPr>
          <p:cNvPr id="26" name="TextBox 25"/>
          <p:cNvSpPr txBox="1"/>
          <p:nvPr/>
        </p:nvSpPr>
        <p:spPr>
          <a:xfrm>
            <a:off x="6400800" y="4736592"/>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A criterion-based critique identifies evidence, impact and one testable change.</a:t>
            </a:r>
          </a:p>
        </p:txBody>
      </p:sp>
    </p:spTree>
  </p:cSld>
  <p:transition spd="med" advClick="1">
    <p:fade/>
  </p:transition>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Aesthetic Critique and Golden-ratio Heuristics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148</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Hierarchy · balance · rhythm · focal placement · audience fit · technical finish</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Treating a grid or ratio as proof of quality.</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A criterion-based critique identifies evidence, impact and one testable change.</a:t>
            </a:r>
          </a:p>
        </p:txBody>
      </p:sp>
      <p:sp>
        <p:nvSpPr>
          <p:cNvPr id="23" name="Rounded Rectangle 22"/>
          <p:cNvSpPr/>
          <p:nvPr/>
        </p:nvSpPr>
        <p:spPr>
          <a:xfrm>
            <a:off x="685800" y="5349240"/>
            <a:ext cx="10771632" cy="65836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Worked Artifact · Aesthetic Critique and Golden-ratio Heuristics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149</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Explaining why a visual works and proposing an actionable revision.</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B8D9"/>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Hierarchy · balance · rhythm · focal placement · audience fit · technical finish</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Treating a grid or ratio as proof of quality.</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7C3AED"/>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A criterion-based critique identifies evidence, impact and one testable change.</a:t>
            </a:r>
          </a:p>
        </p:txBody>
      </p:sp>
      <p:sp>
        <p:nvSpPr>
          <p:cNvPr id="30" name="Rounded Rectangle 29"/>
          <p:cNvSpPr/>
          <p:nvPr/>
        </p:nvSpPr>
        <p:spPr>
          <a:xfrm>
            <a:off x="804672" y="5532120"/>
            <a:ext cx="10561320" cy="530352"/>
          </a:xfrm>
          <a:prstGeom prst="roundRect">
            <a:avLst/>
          </a:prstGeom>
          <a:solidFill>
            <a:srgbClr val="FFFFFF"/>
          </a:solidFill>
          <a:ln>
            <a:solidFill>
              <a:srgbClr val="224AF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224AF4"/>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Annotated Decision Model · Aesthetic Critique and Golden-ratio Heuristics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150</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Hierarchy</a:t>
            </a:r>
          </a:p>
        </p:txBody>
      </p:sp>
      <p:sp>
        <p:nvSpPr>
          <p:cNvPr id="16" name="Rounded Rectangle 15"/>
          <p:cNvSpPr/>
          <p:nvPr/>
        </p:nvSpPr>
        <p:spPr>
          <a:xfrm>
            <a:off x="896112" y="3099816"/>
            <a:ext cx="384048" cy="38404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balance</a:t>
            </a:r>
          </a:p>
        </p:txBody>
      </p:sp>
      <p:sp>
        <p:nvSpPr>
          <p:cNvPr id="19" name="Rounded Rectangle 18"/>
          <p:cNvSpPr/>
          <p:nvPr/>
        </p:nvSpPr>
        <p:spPr>
          <a:xfrm>
            <a:off x="896112" y="3685032"/>
            <a:ext cx="384048" cy="38404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rhythm</a:t>
            </a:r>
          </a:p>
        </p:txBody>
      </p:sp>
      <p:sp>
        <p:nvSpPr>
          <p:cNvPr id="22" name="Rounded Rectangle 21"/>
          <p:cNvSpPr/>
          <p:nvPr/>
        </p:nvSpPr>
        <p:spPr>
          <a:xfrm>
            <a:off x="896112" y="4270248"/>
            <a:ext cx="384048"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focal placement</a:t>
            </a:r>
          </a:p>
        </p:txBody>
      </p:sp>
      <p:sp>
        <p:nvSpPr>
          <p:cNvPr id="25" name="Rounded Rectangle 24"/>
          <p:cNvSpPr/>
          <p:nvPr/>
        </p:nvSpPr>
        <p:spPr>
          <a:xfrm>
            <a:off x="896112" y="4855464"/>
            <a:ext cx="384048" cy="38404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19472"/>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5</a:t>
            </a:r>
          </a:p>
        </p:txBody>
      </p:sp>
      <p:sp>
        <p:nvSpPr>
          <p:cNvPr id="27" name="TextBox 26"/>
          <p:cNvSpPr txBox="1"/>
          <p:nvPr/>
        </p:nvSpPr>
        <p:spPr>
          <a:xfrm>
            <a:off x="1408176" y="4873752"/>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audience fit</a:t>
            </a:r>
          </a:p>
        </p:txBody>
      </p:sp>
      <p:sp>
        <p:nvSpPr>
          <p:cNvPr id="28" name="Rounded Rectangle 27"/>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00B8D9"/>
                </a:solidFill>
                <a:latin typeface="Arial"/>
              </a:rPr>
              <a:t>EDITABLE CANVAS / OUTPUT STATE</a:t>
            </a:r>
          </a:p>
        </p:txBody>
      </p:sp>
      <p:sp>
        <p:nvSpPr>
          <p:cNvPr id="31" name="TextBox 30"/>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Critique separates description, interpretation, evaluation and recommendation; compositional heuristics are prompts for judgement, not guarantees.</a:t>
            </a:r>
          </a:p>
        </p:txBody>
      </p:sp>
      <p:sp>
        <p:nvSpPr>
          <p:cNvPr id="32" name="Rounded Rectangle 31"/>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4" name="Rounded Rectangle 33"/>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00B8D9"/>
                </a:solidFill>
                <a:latin typeface="Arial"/>
              </a:rPr>
              <a:t>PROOF PANEL</a:t>
            </a:r>
          </a:p>
        </p:txBody>
      </p:sp>
      <p:sp>
        <p:nvSpPr>
          <p:cNvPr id="36" name="TextBox 35"/>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A criterion-based critique identifies evidence, impact and one testable change.</a:t>
            </a:r>
          </a:p>
        </p:txBody>
      </p:sp>
      <p:sp>
        <p:nvSpPr>
          <p:cNvPr id="37" name="TextBox 36"/>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Diagnostic · Aesthetic Critique and Golden-ratio Heuristics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151</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Treating a grid or ratio as proof of quality.</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Hierarchy · balance · rhythm · focal placement · audience fit · technical finish.</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A criterion-based critique identifies evidence, impact and one testable change.</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E11D74"/>
                </a:solidFill>
                <a:latin typeface="Arial"/>
              </a:rPr>
              <a:t>Accept only when the defect is reduced and protected content remains intact.</a:t>
            </a:r>
          </a:p>
        </p:txBody>
      </p:sp>
    </p:spTree>
  </p:cSld>
  <p:transition spd="med" advClick="1">
    <p:fade/>
  </p:transition>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HANDS-ON APPLICATION · TOPIC 3</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Lab 05 · Generative Fill: Directed Inpainting</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152</a:t>
            </a:r>
          </a:p>
        </p:txBody>
      </p:sp>
      <p:sp>
        <p:nvSpPr>
          <p:cNvPr id="10" name="Rounded Rectangle 9"/>
          <p:cNvSpPr/>
          <p:nvPr/>
        </p:nvSpPr>
        <p:spPr>
          <a:xfrm>
            <a:off x="685800" y="1755648"/>
            <a:ext cx="3749039" cy="4462272"/>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irefly_a robot dancing at a party 830052.jpg"/>
          <p:cNvPicPr>
            <a:picLocks noChangeAspect="1"/>
          </p:cNvPicPr>
          <p:nvPr/>
        </p:nvPicPr>
        <p:blipFill>
          <a:blip r:embed="rId2"/>
          <a:srcRect l="573" r="573"/>
          <a:stretch>
            <a:fillRect/>
          </a:stretch>
        </p:blipFill>
        <p:spPr>
          <a:xfrm>
            <a:off x="758952" y="1828800"/>
            <a:ext cx="3602736" cy="2834640"/>
          </a:xfrm>
          <a:prstGeom prst="rect">
            <a:avLst/>
          </a:prstGeom>
        </p:spPr>
      </p:pic>
      <p:sp>
        <p:nvSpPr>
          <p:cNvPr id="12" name="TextBox 11"/>
          <p:cNvSpPr txBox="1"/>
          <p:nvPr/>
        </p:nvSpPr>
        <p:spPr>
          <a:xfrm>
            <a:off x="914400" y="4892040"/>
            <a:ext cx="3246120" cy="1024128"/>
          </a:xfrm>
          <a:prstGeom prst="rect">
            <a:avLst/>
          </a:prstGeom>
          <a:noFill/>
        </p:spPr>
        <p:txBody>
          <a:bodyPr wrap="square" anchor="t" lIns="54864" rIns="54864" tIns="54864" bIns="54864">
            <a:spAutoFit/>
          </a:bodyPr>
          <a:lstStyle/>
          <a:p>
            <a:pPr algn="l">
              <a:spcAft>
                <a:spcPts val="0"/>
              </a:spcAft>
            </a:pPr>
            <a:r>
              <a:rPr sz="1220" b="0">
                <a:solidFill>
                  <a:srgbClr val="5B6372"/>
                </a:solidFill>
                <a:latin typeface="Arial"/>
              </a:rPr>
              <a:t>An editorial wildlife visual needs a plausible environmental detail without damaging the original subject.</a:t>
            </a:r>
          </a:p>
        </p:txBody>
      </p:sp>
      <p:sp>
        <p:nvSpPr>
          <p:cNvPr id="13" name="TextBox 12"/>
          <p:cNvSpPr txBox="1"/>
          <p:nvPr/>
        </p:nvSpPr>
        <p:spPr>
          <a:xfrm>
            <a:off x="4709160" y="1783080"/>
            <a:ext cx="6537960" cy="658368"/>
          </a:xfrm>
          <a:prstGeom prst="rect">
            <a:avLst/>
          </a:prstGeom>
          <a:noFill/>
        </p:spPr>
        <p:txBody>
          <a:bodyPr wrap="square" anchor="t" lIns="54864" rIns="54864" tIns="54864" bIns="54864">
            <a:spAutoFit/>
          </a:bodyPr>
          <a:lstStyle/>
          <a:p>
            <a:pPr algn="l">
              <a:spcAft>
                <a:spcPts val="0"/>
              </a:spcAft>
            </a:pPr>
            <a:r>
              <a:rPr sz="1500" b="1">
                <a:solidFill>
                  <a:srgbClr val="161920"/>
                </a:solidFill>
                <a:latin typeface="Arial"/>
              </a:rPr>
              <a:t>Use a controlled selection and Generative Fill to add, replace and remove content non-destructively.</a:t>
            </a:r>
          </a:p>
        </p:txBody>
      </p:sp>
      <p:sp>
        <p:nvSpPr>
          <p:cNvPr id="14" name="Rounded Rectangle 13"/>
          <p:cNvSpPr/>
          <p:nvPr/>
        </p:nvSpPr>
        <p:spPr>
          <a:xfrm>
            <a:off x="470916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818888" y="2816352"/>
            <a:ext cx="402336" cy="402336"/>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888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1</a:t>
            </a:r>
          </a:p>
        </p:txBody>
      </p:sp>
      <p:sp>
        <p:nvSpPr>
          <p:cNvPr id="17" name="TextBox 16"/>
          <p:cNvSpPr txBox="1"/>
          <p:nvPr/>
        </p:nvSpPr>
        <p:spPr>
          <a:xfrm>
            <a:off x="4800600"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Analyse</a:t>
            </a:r>
          </a:p>
        </p:txBody>
      </p:sp>
      <p:sp>
        <p:nvSpPr>
          <p:cNvPr id="18" name="Rounded Rectangle 17"/>
          <p:cNvSpPr/>
          <p:nvPr/>
        </p:nvSpPr>
        <p:spPr>
          <a:xfrm>
            <a:off x="603504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144768" y="2816352"/>
            <a:ext cx="402336" cy="402336"/>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4476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2</a:t>
            </a:r>
          </a:p>
        </p:txBody>
      </p:sp>
      <p:sp>
        <p:nvSpPr>
          <p:cNvPr id="21" name="TextBox 20"/>
          <p:cNvSpPr txBox="1"/>
          <p:nvPr/>
        </p:nvSpPr>
        <p:spPr>
          <a:xfrm>
            <a:off x="6126479"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Choose</a:t>
            </a:r>
          </a:p>
        </p:txBody>
      </p:sp>
      <p:sp>
        <p:nvSpPr>
          <p:cNvPr id="22" name="Rounded Rectangle 21"/>
          <p:cNvSpPr/>
          <p:nvPr/>
        </p:nvSpPr>
        <p:spPr>
          <a:xfrm>
            <a:off x="736092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470648" y="2816352"/>
            <a:ext cx="402336" cy="402336"/>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7064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3</a:t>
            </a:r>
          </a:p>
        </p:txBody>
      </p:sp>
      <p:sp>
        <p:nvSpPr>
          <p:cNvPr id="25" name="TextBox 24"/>
          <p:cNvSpPr txBox="1"/>
          <p:nvPr/>
        </p:nvSpPr>
        <p:spPr>
          <a:xfrm>
            <a:off x="7452360"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Apply</a:t>
            </a:r>
          </a:p>
        </p:txBody>
      </p:sp>
      <p:sp>
        <p:nvSpPr>
          <p:cNvPr id="26" name="Rounded Rectangle 25"/>
          <p:cNvSpPr/>
          <p:nvPr/>
        </p:nvSpPr>
        <p:spPr>
          <a:xfrm>
            <a:off x="868680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796528" y="2816352"/>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9652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4</a:t>
            </a:r>
          </a:p>
        </p:txBody>
      </p:sp>
      <p:sp>
        <p:nvSpPr>
          <p:cNvPr id="29" name="TextBox 28"/>
          <p:cNvSpPr txBox="1"/>
          <p:nvPr/>
        </p:nvSpPr>
        <p:spPr>
          <a:xfrm>
            <a:off x="8778240"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Inspect</a:t>
            </a:r>
          </a:p>
        </p:txBody>
      </p:sp>
      <p:sp>
        <p:nvSpPr>
          <p:cNvPr id="30" name="Rounded Rectangle 29"/>
          <p:cNvSpPr/>
          <p:nvPr/>
        </p:nvSpPr>
        <p:spPr>
          <a:xfrm>
            <a:off x="1001268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22407" y="2816352"/>
            <a:ext cx="402336" cy="402336"/>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122407"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5</a:t>
            </a:r>
          </a:p>
        </p:txBody>
      </p:sp>
      <p:sp>
        <p:nvSpPr>
          <p:cNvPr id="33" name="TextBox 32"/>
          <p:cNvSpPr txBox="1"/>
          <p:nvPr/>
        </p:nvSpPr>
        <p:spPr>
          <a:xfrm>
            <a:off x="10104119"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Evidence</a:t>
            </a:r>
          </a:p>
        </p:txBody>
      </p:sp>
      <p:sp>
        <p:nvSpPr>
          <p:cNvPr id="34" name="Rounded Rectangle 33"/>
          <p:cNvSpPr/>
          <p:nvPr/>
        </p:nvSpPr>
        <p:spPr>
          <a:xfrm>
            <a:off x="4709160" y="4443984"/>
            <a:ext cx="6510528" cy="1216152"/>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0" y="4636008"/>
            <a:ext cx="1325880" cy="256032"/>
          </a:xfrm>
          <a:prstGeom prst="rect">
            <a:avLst/>
          </a:prstGeom>
          <a:noFill/>
        </p:spPr>
        <p:txBody>
          <a:bodyPr wrap="square" anchor="t" lIns="54864" rIns="54864" tIns="54864" bIns="54864">
            <a:spAutoFit/>
          </a:bodyPr>
          <a:lstStyle/>
          <a:p>
            <a:pPr algn="l">
              <a:spcAft>
                <a:spcPts val="0"/>
              </a:spcAft>
            </a:pPr>
            <a:r>
              <a:rPr sz="1050" b="1">
                <a:solidFill>
                  <a:srgbClr val="FFFFFF"/>
                </a:solidFill>
                <a:latin typeface="Arial"/>
              </a:rPr>
              <a:t>EVIDENCE</a:t>
            </a:r>
          </a:p>
        </p:txBody>
      </p:sp>
      <p:sp>
        <p:nvSpPr>
          <p:cNvPr id="36" name="TextBox 35"/>
          <p:cNvSpPr txBox="1"/>
          <p:nvPr/>
        </p:nvSpPr>
        <p:spPr>
          <a:xfrm>
            <a:off x="6144768" y="4572000"/>
            <a:ext cx="4828032" cy="731520"/>
          </a:xfrm>
          <a:prstGeom prst="rect">
            <a:avLst/>
          </a:prstGeom>
          <a:noFill/>
        </p:spPr>
        <p:txBody>
          <a:bodyPr wrap="square" anchor="t" lIns="54864" rIns="54864" tIns="54864" bIns="54864">
            <a:spAutoFit/>
          </a:bodyPr>
          <a:lstStyle/>
          <a:p>
            <a:pPr algn="l">
              <a:spcAft>
                <a:spcPts val="0"/>
              </a:spcAft>
            </a:pPr>
            <a:r>
              <a:rPr sz="1220" b="1">
                <a:solidFill>
                  <a:srgbClr val="FFFFFF"/>
                </a:solidFill>
                <a:latin typeface="Arial"/>
              </a:rPr>
              <a:t>Layered PSD, selected variations, final JPEG and zoomed edge/Layers-panel evidence.</a:t>
            </a:r>
          </a:p>
        </p:txBody>
      </p:sp>
      <p:sp>
        <p:nvSpPr>
          <p:cNvPr id="37" name="TextBox 36"/>
          <p:cNvSpPr txBox="1"/>
          <p:nvPr/>
        </p:nvSpPr>
        <p:spPr>
          <a:xfrm>
            <a:off x="4800600" y="5833872"/>
            <a:ext cx="6309360" cy="274320"/>
          </a:xfrm>
          <a:prstGeom prst="rect">
            <a:avLst/>
          </a:prstGeom>
          <a:noFill/>
        </p:spPr>
        <p:txBody>
          <a:bodyPr wrap="square" anchor="t" lIns="54864" rIns="54864" tIns="54864" bIns="54864">
            <a:spAutoFit/>
          </a:bodyPr>
          <a:lstStyle/>
          <a:p>
            <a:pPr algn="l">
              <a:spcAft>
                <a:spcPts val="0"/>
              </a:spcAft>
            </a:pPr>
            <a:r>
              <a:rPr sz="1100" b="1">
                <a:solidFill>
                  <a:srgbClr val="161920"/>
                </a:solidFill>
                <a:latin typeface="Arial"/>
              </a:rPr>
              <a:t>Full procedure · Learner Guide / Lab 05</a:t>
            </a:r>
          </a:p>
        </p:txBody>
      </p:sp>
    </p:spTree>
  </p:cSld>
  <p:transition spd="med" advClick="1">
    <p:fade/>
  </p:transition>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HANDS-ON APPLICATION · TOPIC 3</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Lab 06 · Background Replacement and Harmonize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153</a:t>
            </a:r>
          </a:p>
        </p:txBody>
      </p:sp>
      <p:sp>
        <p:nvSpPr>
          <p:cNvPr id="10" name="Rounded Rectangle 9"/>
          <p:cNvSpPr/>
          <p:nvPr/>
        </p:nvSpPr>
        <p:spPr>
          <a:xfrm>
            <a:off x="685800" y="1755648"/>
            <a:ext cx="3749039" cy="4462272"/>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ark bench.jpg"/>
          <p:cNvPicPr>
            <a:picLocks noChangeAspect="1"/>
          </p:cNvPicPr>
          <p:nvPr/>
        </p:nvPicPr>
        <p:blipFill>
          <a:blip r:embed="rId2"/>
          <a:srcRect t="18274" b="18274"/>
          <a:stretch>
            <a:fillRect/>
          </a:stretch>
        </p:blipFill>
        <p:spPr>
          <a:xfrm>
            <a:off x="758952" y="1828800"/>
            <a:ext cx="3602736" cy="2834640"/>
          </a:xfrm>
          <a:prstGeom prst="rect">
            <a:avLst/>
          </a:prstGeom>
        </p:spPr>
      </p:pic>
      <p:sp>
        <p:nvSpPr>
          <p:cNvPr id="12" name="TextBox 11"/>
          <p:cNvSpPr txBox="1"/>
          <p:nvPr/>
        </p:nvSpPr>
        <p:spPr>
          <a:xfrm>
            <a:off x="914400" y="4892040"/>
            <a:ext cx="3246120" cy="1024128"/>
          </a:xfrm>
          <a:prstGeom prst="rect">
            <a:avLst/>
          </a:prstGeom>
          <a:noFill/>
        </p:spPr>
        <p:txBody>
          <a:bodyPr wrap="square" anchor="t" lIns="54864" rIns="54864" tIns="54864" bIns="54864">
            <a:spAutoFit/>
          </a:bodyPr>
          <a:lstStyle/>
          <a:p>
            <a:pPr algn="l">
              <a:spcAft>
                <a:spcPts val="0"/>
              </a:spcAft>
            </a:pPr>
            <a:r>
              <a:rPr sz="1220" b="0">
                <a:solidFill>
                  <a:srgbClr val="5B6372"/>
                </a:solidFill>
                <a:latin typeface="Arial"/>
              </a:rPr>
              <a:t>A portrait must be adapted into an outdoor campaign visual while remaining editable.</a:t>
            </a:r>
          </a:p>
        </p:txBody>
      </p:sp>
      <p:sp>
        <p:nvSpPr>
          <p:cNvPr id="13" name="TextBox 12"/>
          <p:cNvSpPr txBox="1"/>
          <p:nvPr/>
        </p:nvSpPr>
        <p:spPr>
          <a:xfrm>
            <a:off x="4709160" y="1783080"/>
            <a:ext cx="6537960" cy="658368"/>
          </a:xfrm>
          <a:prstGeom prst="rect">
            <a:avLst/>
          </a:prstGeom>
          <a:noFill/>
        </p:spPr>
        <p:txBody>
          <a:bodyPr wrap="square" anchor="t" lIns="54864" rIns="54864" tIns="54864" bIns="54864">
            <a:spAutoFit/>
          </a:bodyPr>
          <a:lstStyle/>
          <a:p>
            <a:pPr algn="l">
              <a:spcAft>
                <a:spcPts val="0"/>
              </a:spcAft>
            </a:pPr>
            <a:r>
              <a:rPr sz="1500" b="1">
                <a:solidFill>
                  <a:srgbClr val="161920"/>
                </a:solidFill>
                <a:latin typeface="Arial"/>
              </a:rPr>
              <a:t>Generate a new background, integrate a placed element and evaluate lighting, perspective and contact.</a:t>
            </a:r>
          </a:p>
        </p:txBody>
      </p:sp>
      <p:sp>
        <p:nvSpPr>
          <p:cNvPr id="14" name="Rounded Rectangle 13"/>
          <p:cNvSpPr/>
          <p:nvPr/>
        </p:nvSpPr>
        <p:spPr>
          <a:xfrm>
            <a:off x="470916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818888" y="2816352"/>
            <a:ext cx="402336" cy="402336"/>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888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1</a:t>
            </a:r>
          </a:p>
        </p:txBody>
      </p:sp>
      <p:sp>
        <p:nvSpPr>
          <p:cNvPr id="17" name="TextBox 16"/>
          <p:cNvSpPr txBox="1"/>
          <p:nvPr/>
        </p:nvSpPr>
        <p:spPr>
          <a:xfrm>
            <a:off x="4800600"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Analyse</a:t>
            </a:r>
          </a:p>
        </p:txBody>
      </p:sp>
      <p:sp>
        <p:nvSpPr>
          <p:cNvPr id="18" name="Rounded Rectangle 17"/>
          <p:cNvSpPr/>
          <p:nvPr/>
        </p:nvSpPr>
        <p:spPr>
          <a:xfrm>
            <a:off x="603504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144768" y="2816352"/>
            <a:ext cx="402336" cy="402336"/>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4476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2</a:t>
            </a:r>
          </a:p>
        </p:txBody>
      </p:sp>
      <p:sp>
        <p:nvSpPr>
          <p:cNvPr id="21" name="TextBox 20"/>
          <p:cNvSpPr txBox="1"/>
          <p:nvPr/>
        </p:nvSpPr>
        <p:spPr>
          <a:xfrm>
            <a:off x="6126479"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Choose</a:t>
            </a:r>
          </a:p>
        </p:txBody>
      </p:sp>
      <p:sp>
        <p:nvSpPr>
          <p:cNvPr id="22" name="Rounded Rectangle 21"/>
          <p:cNvSpPr/>
          <p:nvPr/>
        </p:nvSpPr>
        <p:spPr>
          <a:xfrm>
            <a:off x="736092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470648" y="2816352"/>
            <a:ext cx="402336" cy="402336"/>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7064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3</a:t>
            </a:r>
          </a:p>
        </p:txBody>
      </p:sp>
      <p:sp>
        <p:nvSpPr>
          <p:cNvPr id="25" name="TextBox 24"/>
          <p:cNvSpPr txBox="1"/>
          <p:nvPr/>
        </p:nvSpPr>
        <p:spPr>
          <a:xfrm>
            <a:off x="7452360"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Apply</a:t>
            </a:r>
          </a:p>
        </p:txBody>
      </p:sp>
      <p:sp>
        <p:nvSpPr>
          <p:cNvPr id="26" name="Rounded Rectangle 25"/>
          <p:cNvSpPr/>
          <p:nvPr/>
        </p:nvSpPr>
        <p:spPr>
          <a:xfrm>
            <a:off x="868680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796528" y="2816352"/>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9652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4</a:t>
            </a:r>
          </a:p>
        </p:txBody>
      </p:sp>
      <p:sp>
        <p:nvSpPr>
          <p:cNvPr id="29" name="TextBox 28"/>
          <p:cNvSpPr txBox="1"/>
          <p:nvPr/>
        </p:nvSpPr>
        <p:spPr>
          <a:xfrm>
            <a:off x="8778240"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Inspect</a:t>
            </a:r>
          </a:p>
        </p:txBody>
      </p:sp>
      <p:sp>
        <p:nvSpPr>
          <p:cNvPr id="30" name="Rounded Rectangle 29"/>
          <p:cNvSpPr/>
          <p:nvPr/>
        </p:nvSpPr>
        <p:spPr>
          <a:xfrm>
            <a:off x="1001268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22407" y="2816352"/>
            <a:ext cx="402336" cy="402336"/>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122407"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5</a:t>
            </a:r>
          </a:p>
        </p:txBody>
      </p:sp>
      <p:sp>
        <p:nvSpPr>
          <p:cNvPr id="33" name="TextBox 32"/>
          <p:cNvSpPr txBox="1"/>
          <p:nvPr/>
        </p:nvSpPr>
        <p:spPr>
          <a:xfrm>
            <a:off x="10104119"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Evidence</a:t>
            </a:r>
          </a:p>
        </p:txBody>
      </p:sp>
      <p:sp>
        <p:nvSpPr>
          <p:cNvPr id="34" name="Rounded Rectangle 33"/>
          <p:cNvSpPr/>
          <p:nvPr/>
        </p:nvSpPr>
        <p:spPr>
          <a:xfrm>
            <a:off x="4709160" y="4443984"/>
            <a:ext cx="6510528" cy="1216152"/>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0" y="4636008"/>
            <a:ext cx="1325880" cy="256032"/>
          </a:xfrm>
          <a:prstGeom prst="rect">
            <a:avLst/>
          </a:prstGeom>
          <a:noFill/>
        </p:spPr>
        <p:txBody>
          <a:bodyPr wrap="square" anchor="t" lIns="54864" rIns="54864" tIns="54864" bIns="54864">
            <a:spAutoFit/>
          </a:bodyPr>
          <a:lstStyle/>
          <a:p>
            <a:pPr algn="l">
              <a:spcAft>
                <a:spcPts val="0"/>
              </a:spcAft>
            </a:pPr>
            <a:r>
              <a:rPr sz="1050" b="1">
                <a:solidFill>
                  <a:srgbClr val="FFFFFF"/>
                </a:solidFill>
                <a:latin typeface="Arial"/>
              </a:rPr>
              <a:t>EVIDENCE</a:t>
            </a:r>
          </a:p>
        </p:txBody>
      </p:sp>
      <p:sp>
        <p:nvSpPr>
          <p:cNvPr id="36" name="TextBox 35"/>
          <p:cNvSpPr txBox="1"/>
          <p:nvPr/>
        </p:nvSpPr>
        <p:spPr>
          <a:xfrm>
            <a:off x="6144768" y="4572000"/>
            <a:ext cx="4828032" cy="731520"/>
          </a:xfrm>
          <a:prstGeom prst="rect">
            <a:avLst/>
          </a:prstGeom>
          <a:noFill/>
        </p:spPr>
        <p:txBody>
          <a:bodyPr wrap="square" anchor="t" lIns="54864" rIns="54864" tIns="54864" bIns="54864">
            <a:spAutoFit/>
          </a:bodyPr>
          <a:lstStyle/>
          <a:p>
            <a:pPr algn="l">
              <a:spcAft>
                <a:spcPts val="0"/>
              </a:spcAft>
            </a:pPr>
            <a:r>
              <a:rPr sz="1220" b="1">
                <a:solidFill>
                  <a:srgbClr val="FFFFFF"/>
                </a:solidFill>
                <a:latin typeface="Arial"/>
              </a:rPr>
              <a:t>Layered PSD, final JPEG, before/after comparison and criterion-based integration note.</a:t>
            </a:r>
          </a:p>
        </p:txBody>
      </p:sp>
      <p:sp>
        <p:nvSpPr>
          <p:cNvPr id="37" name="TextBox 36"/>
          <p:cNvSpPr txBox="1"/>
          <p:nvPr/>
        </p:nvSpPr>
        <p:spPr>
          <a:xfrm>
            <a:off x="4800600" y="5833872"/>
            <a:ext cx="6309360" cy="274320"/>
          </a:xfrm>
          <a:prstGeom prst="rect">
            <a:avLst/>
          </a:prstGeom>
          <a:noFill/>
        </p:spPr>
        <p:txBody>
          <a:bodyPr wrap="square" anchor="t" lIns="54864" rIns="54864" tIns="54864" bIns="54864">
            <a:spAutoFit/>
          </a:bodyPr>
          <a:lstStyle/>
          <a:p>
            <a:pPr algn="l">
              <a:spcAft>
                <a:spcPts val="0"/>
              </a:spcAft>
            </a:pPr>
            <a:r>
              <a:rPr sz="1100" b="1">
                <a:solidFill>
                  <a:srgbClr val="161920"/>
                </a:solidFill>
                <a:latin typeface="Arial"/>
              </a:rPr>
              <a:t>Full procedure · Learner Guide / Lab 06</a:t>
            </a:r>
          </a:p>
        </p:txBody>
      </p:sp>
    </p:spTree>
  </p:cSld>
  <p:transition spd="med" advClick="1">
    <p:fade/>
  </p:transition>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HANDS-ON APPLICATION · TOPIC 3</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Lab 07 · Generative Expand for Channel Ratios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154</a:t>
            </a:r>
          </a:p>
        </p:txBody>
      </p:sp>
      <p:sp>
        <p:nvSpPr>
          <p:cNvPr id="10" name="Rounded Rectangle 9"/>
          <p:cNvSpPr/>
          <p:nvPr/>
        </p:nvSpPr>
        <p:spPr>
          <a:xfrm>
            <a:off x="685800" y="1755648"/>
            <a:ext cx="3749039" cy="4462272"/>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andscape-start.jpeg"/>
          <p:cNvPicPr>
            <a:picLocks noChangeAspect="1"/>
          </p:cNvPicPr>
          <p:nvPr/>
        </p:nvPicPr>
        <p:blipFill>
          <a:blip r:embed="rId2"/>
          <a:srcRect l="14385" r="14385"/>
          <a:stretch>
            <a:fillRect/>
          </a:stretch>
        </p:blipFill>
        <p:spPr>
          <a:xfrm>
            <a:off x="758952" y="1828800"/>
            <a:ext cx="3602736" cy="2834640"/>
          </a:xfrm>
          <a:prstGeom prst="rect">
            <a:avLst/>
          </a:prstGeom>
        </p:spPr>
      </p:pic>
      <p:sp>
        <p:nvSpPr>
          <p:cNvPr id="12" name="TextBox 11"/>
          <p:cNvSpPr txBox="1"/>
          <p:nvPr/>
        </p:nvSpPr>
        <p:spPr>
          <a:xfrm>
            <a:off x="914400" y="4892040"/>
            <a:ext cx="3246120" cy="1024128"/>
          </a:xfrm>
          <a:prstGeom prst="rect">
            <a:avLst/>
          </a:prstGeom>
          <a:noFill/>
        </p:spPr>
        <p:txBody>
          <a:bodyPr wrap="square" anchor="t" lIns="54864" rIns="54864" tIns="54864" bIns="54864">
            <a:spAutoFit/>
          </a:bodyPr>
          <a:lstStyle/>
          <a:p>
            <a:pPr algn="l">
              <a:spcAft>
                <a:spcPts val="0"/>
              </a:spcAft>
            </a:pPr>
            <a:r>
              <a:rPr sz="1220" b="0">
                <a:solidFill>
                  <a:srgbClr val="5B6372"/>
                </a:solidFill>
                <a:latin typeface="Arial"/>
              </a:rPr>
              <a:t>A campaign hero must work across social, presentation and mobile-story channels.</a:t>
            </a:r>
          </a:p>
        </p:txBody>
      </p:sp>
      <p:sp>
        <p:nvSpPr>
          <p:cNvPr id="13" name="TextBox 12"/>
          <p:cNvSpPr txBox="1"/>
          <p:nvPr/>
        </p:nvSpPr>
        <p:spPr>
          <a:xfrm>
            <a:off x="4709160" y="1783080"/>
            <a:ext cx="6537960" cy="658368"/>
          </a:xfrm>
          <a:prstGeom prst="rect">
            <a:avLst/>
          </a:prstGeom>
          <a:noFill/>
        </p:spPr>
        <p:txBody>
          <a:bodyPr wrap="square" anchor="t" lIns="54864" rIns="54864" tIns="54864" bIns="54864">
            <a:spAutoFit/>
          </a:bodyPr>
          <a:lstStyle/>
          <a:p>
            <a:pPr algn="l">
              <a:spcAft>
                <a:spcPts val="0"/>
              </a:spcAft>
            </a:pPr>
            <a:r>
              <a:rPr sz="1500" b="1">
                <a:solidFill>
                  <a:srgbClr val="161920"/>
                </a:solidFill>
                <a:latin typeface="Arial"/>
              </a:rPr>
              <a:t>Extend one master visual into square, landscape and portrait variants without losing hierarchy.</a:t>
            </a:r>
          </a:p>
        </p:txBody>
      </p:sp>
      <p:sp>
        <p:nvSpPr>
          <p:cNvPr id="14" name="Rounded Rectangle 13"/>
          <p:cNvSpPr/>
          <p:nvPr/>
        </p:nvSpPr>
        <p:spPr>
          <a:xfrm>
            <a:off x="470916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818888" y="2816352"/>
            <a:ext cx="402336" cy="402336"/>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888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1</a:t>
            </a:r>
          </a:p>
        </p:txBody>
      </p:sp>
      <p:sp>
        <p:nvSpPr>
          <p:cNvPr id="17" name="TextBox 16"/>
          <p:cNvSpPr txBox="1"/>
          <p:nvPr/>
        </p:nvSpPr>
        <p:spPr>
          <a:xfrm>
            <a:off x="4800600"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Analyse</a:t>
            </a:r>
          </a:p>
        </p:txBody>
      </p:sp>
      <p:sp>
        <p:nvSpPr>
          <p:cNvPr id="18" name="Rounded Rectangle 17"/>
          <p:cNvSpPr/>
          <p:nvPr/>
        </p:nvSpPr>
        <p:spPr>
          <a:xfrm>
            <a:off x="603504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144768" y="2816352"/>
            <a:ext cx="402336" cy="402336"/>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4476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2</a:t>
            </a:r>
          </a:p>
        </p:txBody>
      </p:sp>
      <p:sp>
        <p:nvSpPr>
          <p:cNvPr id="21" name="TextBox 20"/>
          <p:cNvSpPr txBox="1"/>
          <p:nvPr/>
        </p:nvSpPr>
        <p:spPr>
          <a:xfrm>
            <a:off x="6126479"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Choose</a:t>
            </a:r>
          </a:p>
        </p:txBody>
      </p:sp>
      <p:sp>
        <p:nvSpPr>
          <p:cNvPr id="22" name="Rounded Rectangle 21"/>
          <p:cNvSpPr/>
          <p:nvPr/>
        </p:nvSpPr>
        <p:spPr>
          <a:xfrm>
            <a:off x="736092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470648" y="2816352"/>
            <a:ext cx="402336" cy="402336"/>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7064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3</a:t>
            </a:r>
          </a:p>
        </p:txBody>
      </p:sp>
      <p:sp>
        <p:nvSpPr>
          <p:cNvPr id="25" name="TextBox 24"/>
          <p:cNvSpPr txBox="1"/>
          <p:nvPr/>
        </p:nvSpPr>
        <p:spPr>
          <a:xfrm>
            <a:off x="7452360"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Apply</a:t>
            </a:r>
          </a:p>
        </p:txBody>
      </p:sp>
      <p:sp>
        <p:nvSpPr>
          <p:cNvPr id="26" name="Rounded Rectangle 25"/>
          <p:cNvSpPr/>
          <p:nvPr/>
        </p:nvSpPr>
        <p:spPr>
          <a:xfrm>
            <a:off x="868680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796528" y="2816352"/>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9652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4</a:t>
            </a:r>
          </a:p>
        </p:txBody>
      </p:sp>
      <p:sp>
        <p:nvSpPr>
          <p:cNvPr id="29" name="TextBox 28"/>
          <p:cNvSpPr txBox="1"/>
          <p:nvPr/>
        </p:nvSpPr>
        <p:spPr>
          <a:xfrm>
            <a:off x="8778240"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Inspect</a:t>
            </a:r>
          </a:p>
        </p:txBody>
      </p:sp>
      <p:sp>
        <p:nvSpPr>
          <p:cNvPr id="30" name="Rounded Rectangle 29"/>
          <p:cNvSpPr/>
          <p:nvPr/>
        </p:nvSpPr>
        <p:spPr>
          <a:xfrm>
            <a:off x="1001268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22407" y="2816352"/>
            <a:ext cx="402336" cy="402336"/>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122407"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5</a:t>
            </a:r>
          </a:p>
        </p:txBody>
      </p:sp>
      <p:sp>
        <p:nvSpPr>
          <p:cNvPr id="33" name="TextBox 32"/>
          <p:cNvSpPr txBox="1"/>
          <p:nvPr/>
        </p:nvSpPr>
        <p:spPr>
          <a:xfrm>
            <a:off x="10104119"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Evidence</a:t>
            </a:r>
          </a:p>
        </p:txBody>
      </p:sp>
      <p:sp>
        <p:nvSpPr>
          <p:cNvPr id="34" name="Rounded Rectangle 33"/>
          <p:cNvSpPr/>
          <p:nvPr/>
        </p:nvSpPr>
        <p:spPr>
          <a:xfrm>
            <a:off x="4709160" y="4443984"/>
            <a:ext cx="6510528" cy="1216152"/>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0" y="4636008"/>
            <a:ext cx="1325880" cy="256032"/>
          </a:xfrm>
          <a:prstGeom prst="rect">
            <a:avLst/>
          </a:prstGeom>
          <a:noFill/>
        </p:spPr>
        <p:txBody>
          <a:bodyPr wrap="square" anchor="t" lIns="54864" rIns="54864" tIns="54864" bIns="54864">
            <a:spAutoFit/>
          </a:bodyPr>
          <a:lstStyle/>
          <a:p>
            <a:pPr algn="l">
              <a:spcAft>
                <a:spcPts val="0"/>
              </a:spcAft>
            </a:pPr>
            <a:r>
              <a:rPr sz="1050" b="1">
                <a:solidFill>
                  <a:srgbClr val="FFFFFF"/>
                </a:solidFill>
                <a:latin typeface="Arial"/>
              </a:rPr>
              <a:t>EVIDENCE</a:t>
            </a:r>
          </a:p>
        </p:txBody>
      </p:sp>
      <p:sp>
        <p:nvSpPr>
          <p:cNvPr id="36" name="TextBox 35"/>
          <p:cNvSpPr txBox="1"/>
          <p:nvPr/>
        </p:nvSpPr>
        <p:spPr>
          <a:xfrm>
            <a:off x="6144768" y="4572000"/>
            <a:ext cx="4828032" cy="731520"/>
          </a:xfrm>
          <a:prstGeom prst="rect">
            <a:avLst/>
          </a:prstGeom>
          <a:noFill/>
        </p:spPr>
        <p:txBody>
          <a:bodyPr wrap="square" anchor="t" lIns="54864" rIns="54864" tIns="54864" bIns="54864">
            <a:spAutoFit/>
          </a:bodyPr>
          <a:lstStyle/>
          <a:p>
            <a:pPr algn="l">
              <a:spcAft>
                <a:spcPts val="0"/>
              </a:spcAft>
            </a:pPr>
            <a:r>
              <a:rPr sz="1220" b="1">
                <a:solidFill>
                  <a:srgbClr val="FFFFFF"/>
                </a:solidFill>
                <a:latin typeface="Arial"/>
              </a:rPr>
              <a:t>Master PSD plus three channel JPEGs and a ratio-by-ratio verification checklist.</a:t>
            </a:r>
          </a:p>
        </p:txBody>
      </p:sp>
      <p:sp>
        <p:nvSpPr>
          <p:cNvPr id="37" name="TextBox 36"/>
          <p:cNvSpPr txBox="1"/>
          <p:nvPr/>
        </p:nvSpPr>
        <p:spPr>
          <a:xfrm>
            <a:off x="4800600" y="5833872"/>
            <a:ext cx="6309360" cy="274320"/>
          </a:xfrm>
          <a:prstGeom prst="rect">
            <a:avLst/>
          </a:prstGeom>
          <a:noFill/>
        </p:spPr>
        <p:txBody>
          <a:bodyPr wrap="square" anchor="t" lIns="54864" rIns="54864" tIns="54864" bIns="54864">
            <a:spAutoFit/>
          </a:bodyPr>
          <a:lstStyle/>
          <a:p>
            <a:pPr algn="l">
              <a:spcAft>
                <a:spcPts val="0"/>
              </a:spcAft>
            </a:pPr>
            <a:r>
              <a:rPr sz="1100" b="1">
                <a:solidFill>
                  <a:srgbClr val="161920"/>
                </a:solidFill>
                <a:latin typeface="Arial"/>
              </a:rPr>
              <a:t>Full procedure · Learner Guide / Lab 07</a:t>
            </a:r>
          </a:p>
        </p:txBody>
      </p:sp>
    </p:spTree>
  </p:cSld>
  <p:transition spd="med" advClick="1">
    <p:fade/>
  </p:transition>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HANDS-ON APPLICATION · TOPIC 3</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Lab 08 · Reference Image and Multi-Prompt Composition</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155</a:t>
            </a:r>
          </a:p>
        </p:txBody>
      </p:sp>
      <p:sp>
        <p:nvSpPr>
          <p:cNvPr id="10" name="Rounded Rectangle 9"/>
          <p:cNvSpPr/>
          <p:nvPr/>
        </p:nvSpPr>
        <p:spPr>
          <a:xfrm>
            <a:off x="685800" y="1755648"/>
            <a:ext cx="3749039" cy="4462272"/>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erence.jpeg"/>
          <p:cNvPicPr>
            <a:picLocks noChangeAspect="1"/>
          </p:cNvPicPr>
          <p:nvPr/>
        </p:nvPicPr>
        <p:blipFill>
          <a:blip r:embed="rId2"/>
          <a:srcRect t="582" b="582"/>
          <a:stretch>
            <a:fillRect/>
          </a:stretch>
        </p:blipFill>
        <p:spPr>
          <a:xfrm>
            <a:off x="758952" y="1828800"/>
            <a:ext cx="3602736" cy="2834640"/>
          </a:xfrm>
          <a:prstGeom prst="rect">
            <a:avLst/>
          </a:prstGeom>
        </p:spPr>
      </p:pic>
      <p:sp>
        <p:nvSpPr>
          <p:cNvPr id="12" name="TextBox 11"/>
          <p:cNvSpPr txBox="1"/>
          <p:nvPr/>
        </p:nvSpPr>
        <p:spPr>
          <a:xfrm>
            <a:off x="914400" y="4892040"/>
            <a:ext cx="3246120" cy="1024128"/>
          </a:xfrm>
          <a:prstGeom prst="rect">
            <a:avLst/>
          </a:prstGeom>
          <a:noFill/>
        </p:spPr>
        <p:txBody>
          <a:bodyPr wrap="square" anchor="t" lIns="54864" rIns="54864" tIns="54864" bIns="54864">
            <a:spAutoFit/>
          </a:bodyPr>
          <a:lstStyle/>
          <a:p>
            <a:pPr algn="l">
              <a:spcAft>
                <a:spcPts val="0"/>
              </a:spcAft>
            </a:pPr>
            <a:r>
              <a:rPr sz="1220" b="0">
                <a:solidFill>
                  <a:srgbClr val="5B6372"/>
                </a:solidFill>
                <a:latin typeface="Arial"/>
              </a:rPr>
              <a:t>A fashion visual requires an altered garment treatment that follows a supplied material reference.</a:t>
            </a:r>
          </a:p>
        </p:txBody>
      </p:sp>
      <p:sp>
        <p:nvSpPr>
          <p:cNvPr id="13" name="TextBox 12"/>
          <p:cNvSpPr txBox="1"/>
          <p:nvPr/>
        </p:nvSpPr>
        <p:spPr>
          <a:xfrm>
            <a:off x="4709160" y="1783080"/>
            <a:ext cx="6537960" cy="658368"/>
          </a:xfrm>
          <a:prstGeom prst="rect">
            <a:avLst/>
          </a:prstGeom>
          <a:noFill/>
        </p:spPr>
        <p:txBody>
          <a:bodyPr wrap="square" anchor="t" lIns="54864" rIns="54864" tIns="54864" bIns="54864">
            <a:spAutoFit/>
          </a:bodyPr>
          <a:lstStyle/>
          <a:p>
            <a:pPr algn="l">
              <a:spcAft>
                <a:spcPts val="0"/>
              </a:spcAft>
            </a:pPr>
            <a:r>
              <a:rPr sz="1500" b="1">
                <a:solidFill>
                  <a:srgbClr val="161920"/>
                </a:solidFill>
                <a:latin typeface="Arial"/>
              </a:rPr>
              <a:t>Use a permitted reference image and staged selections to construct a coherent multi-element composition.</a:t>
            </a:r>
          </a:p>
        </p:txBody>
      </p:sp>
      <p:sp>
        <p:nvSpPr>
          <p:cNvPr id="14" name="Rounded Rectangle 13"/>
          <p:cNvSpPr/>
          <p:nvPr/>
        </p:nvSpPr>
        <p:spPr>
          <a:xfrm>
            <a:off x="470916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818888" y="2816352"/>
            <a:ext cx="402336" cy="402336"/>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888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1</a:t>
            </a:r>
          </a:p>
        </p:txBody>
      </p:sp>
      <p:sp>
        <p:nvSpPr>
          <p:cNvPr id="17" name="TextBox 16"/>
          <p:cNvSpPr txBox="1"/>
          <p:nvPr/>
        </p:nvSpPr>
        <p:spPr>
          <a:xfrm>
            <a:off x="4800600"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Analyse</a:t>
            </a:r>
          </a:p>
        </p:txBody>
      </p:sp>
      <p:sp>
        <p:nvSpPr>
          <p:cNvPr id="18" name="Rounded Rectangle 17"/>
          <p:cNvSpPr/>
          <p:nvPr/>
        </p:nvSpPr>
        <p:spPr>
          <a:xfrm>
            <a:off x="603504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144768" y="2816352"/>
            <a:ext cx="402336" cy="402336"/>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4476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2</a:t>
            </a:r>
          </a:p>
        </p:txBody>
      </p:sp>
      <p:sp>
        <p:nvSpPr>
          <p:cNvPr id="21" name="TextBox 20"/>
          <p:cNvSpPr txBox="1"/>
          <p:nvPr/>
        </p:nvSpPr>
        <p:spPr>
          <a:xfrm>
            <a:off x="6126479"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Choose</a:t>
            </a:r>
          </a:p>
        </p:txBody>
      </p:sp>
      <p:sp>
        <p:nvSpPr>
          <p:cNvPr id="22" name="Rounded Rectangle 21"/>
          <p:cNvSpPr/>
          <p:nvPr/>
        </p:nvSpPr>
        <p:spPr>
          <a:xfrm>
            <a:off x="736092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470648" y="2816352"/>
            <a:ext cx="402336" cy="402336"/>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7064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3</a:t>
            </a:r>
          </a:p>
        </p:txBody>
      </p:sp>
      <p:sp>
        <p:nvSpPr>
          <p:cNvPr id="25" name="TextBox 24"/>
          <p:cNvSpPr txBox="1"/>
          <p:nvPr/>
        </p:nvSpPr>
        <p:spPr>
          <a:xfrm>
            <a:off x="7452360"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Apply</a:t>
            </a:r>
          </a:p>
        </p:txBody>
      </p:sp>
      <p:sp>
        <p:nvSpPr>
          <p:cNvPr id="26" name="Rounded Rectangle 25"/>
          <p:cNvSpPr/>
          <p:nvPr/>
        </p:nvSpPr>
        <p:spPr>
          <a:xfrm>
            <a:off x="868680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796528" y="2816352"/>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9652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4</a:t>
            </a:r>
          </a:p>
        </p:txBody>
      </p:sp>
      <p:sp>
        <p:nvSpPr>
          <p:cNvPr id="29" name="TextBox 28"/>
          <p:cNvSpPr txBox="1"/>
          <p:nvPr/>
        </p:nvSpPr>
        <p:spPr>
          <a:xfrm>
            <a:off x="8778240"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Inspect</a:t>
            </a:r>
          </a:p>
        </p:txBody>
      </p:sp>
      <p:sp>
        <p:nvSpPr>
          <p:cNvPr id="30" name="Rounded Rectangle 29"/>
          <p:cNvSpPr/>
          <p:nvPr/>
        </p:nvSpPr>
        <p:spPr>
          <a:xfrm>
            <a:off x="1001268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22407" y="2816352"/>
            <a:ext cx="402336" cy="402336"/>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122407"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5</a:t>
            </a:r>
          </a:p>
        </p:txBody>
      </p:sp>
      <p:sp>
        <p:nvSpPr>
          <p:cNvPr id="33" name="TextBox 32"/>
          <p:cNvSpPr txBox="1"/>
          <p:nvPr/>
        </p:nvSpPr>
        <p:spPr>
          <a:xfrm>
            <a:off x="10104119"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Evidence</a:t>
            </a:r>
          </a:p>
        </p:txBody>
      </p:sp>
      <p:sp>
        <p:nvSpPr>
          <p:cNvPr id="34" name="Rounded Rectangle 33"/>
          <p:cNvSpPr/>
          <p:nvPr/>
        </p:nvSpPr>
        <p:spPr>
          <a:xfrm>
            <a:off x="4709160" y="4443984"/>
            <a:ext cx="6510528" cy="1216152"/>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0" y="4636008"/>
            <a:ext cx="1325880" cy="256032"/>
          </a:xfrm>
          <a:prstGeom prst="rect">
            <a:avLst/>
          </a:prstGeom>
          <a:noFill/>
        </p:spPr>
        <p:txBody>
          <a:bodyPr wrap="square" anchor="t" lIns="54864" rIns="54864" tIns="54864" bIns="54864">
            <a:spAutoFit/>
          </a:bodyPr>
          <a:lstStyle/>
          <a:p>
            <a:pPr algn="l">
              <a:spcAft>
                <a:spcPts val="0"/>
              </a:spcAft>
            </a:pPr>
            <a:r>
              <a:rPr sz="1050" b="1">
                <a:solidFill>
                  <a:srgbClr val="FFFFFF"/>
                </a:solidFill>
                <a:latin typeface="Arial"/>
              </a:rPr>
              <a:t>EVIDENCE</a:t>
            </a:r>
          </a:p>
        </p:txBody>
      </p:sp>
      <p:sp>
        <p:nvSpPr>
          <p:cNvPr id="36" name="TextBox 35"/>
          <p:cNvSpPr txBox="1"/>
          <p:nvPr/>
        </p:nvSpPr>
        <p:spPr>
          <a:xfrm>
            <a:off x="6144768" y="4572000"/>
            <a:ext cx="4828032" cy="731520"/>
          </a:xfrm>
          <a:prstGeom prst="rect">
            <a:avLst/>
          </a:prstGeom>
          <a:noFill/>
        </p:spPr>
        <p:txBody>
          <a:bodyPr wrap="square" anchor="t" lIns="54864" rIns="54864" tIns="54864" bIns="54864">
            <a:spAutoFit/>
          </a:bodyPr>
          <a:lstStyle/>
          <a:p>
            <a:pPr algn="l">
              <a:spcAft>
                <a:spcPts val="0"/>
              </a:spcAft>
            </a:pPr>
            <a:r>
              <a:rPr sz="1220" b="1">
                <a:solidFill>
                  <a:srgbClr val="FFFFFF"/>
                </a:solidFill>
                <a:latin typeface="Arial"/>
              </a:rPr>
              <a:t>Layered reference-guided PSD, final JPEG, rights note and four-part critique with revision.</a:t>
            </a:r>
          </a:p>
        </p:txBody>
      </p:sp>
      <p:sp>
        <p:nvSpPr>
          <p:cNvPr id="37" name="TextBox 36"/>
          <p:cNvSpPr txBox="1"/>
          <p:nvPr/>
        </p:nvSpPr>
        <p:spPr>
          <a:xfrm>
            <a:off x="4800600" y="5833872"/>
            <a:ext cx="6309360" cy="274320"/>
          </a:xfrm>
          <a:prstGeom prst="rect">
            <a:avLst/>
          </a:prstGeom>
          <a:noFill/>
        </p:spPr>
        <p:txBody>
          <a:bodyPr wrap="square" anchor="t" lIns="54864" rIns="54864" tIns="54864" bIns="54864">
            <a:spAutoFit/>
          </a:bodyPr>
          <a:lstStyle/>
          <a:p>
            <a:pPr algn="l">
              <a:spcAft>
                <a:spcPts val="0"/>
              </a:spcAft>
            </a:pPr>
            <a:r>
              <a:rPr sz="1100" b="1">
                <a:solidFill>
                  <a:srgbClr val="161920"/>
                </a:solidFill>
                <a:latin typeface="Arial"/>
              </a:rPr>
              <a:t>Full procedure · Learner Guide / Lab 08</a:t>
            </a:r>
          </a:p>
        </p:txBody>
      </p:sp>
    </p:spTree>
  </p:cSld>
  <p:transition spd="med" advClick="1">
    <p:fade/>
  </p:transition>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EXPLAIN THE DECISION</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Topic 3 Checkpoint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156</a:t>
            </a:r>
          </a:p>
        </p:txBody>
      </p:sp>
      <p:sp>
        <p:nvSpPr>
          <p:cNvPr id="10" name="Rounded Rectangle 9"/>
          <p:cNvSpPr/>
          <p:nvPr/>
        </p:nvSpPr>
        <p:spPr>
          <a:xfrm>
            <a:off x="685800"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755648"/>
            <a:ext cx="73152" cy="212140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Purpose</a:t>
            </a:r>
          </a:p>
        </p:txBody>
      </p:sp>
      <p:sp>
        <p:nvSpPr>
          <p:cNvPr id="13" name="TextBox 12"/>
          <p:cNvSpPr txBox="1"/>
          <p:nvPr/>
        </p:nvSpPr>
        <p:spPr>
          <a:xfrm>
            <a:off x="905256"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What does the audience need to notice?</a:t>
            </a:r>
          </a:p>
        </p:txBody>
      </p:sp>
      <p:sp>
        <p:nvSpPr>
          <p:cNvPr id="14" name="Rounded Rectangle 13"/>
          <p:cNvSpPr/>
          <p:nvPr/>
        </p:nvSpPr>
        <p:spPr>
          <a:xfrm>
            <a:off x="4349496"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9496" y="1755648"/>
            <a:ext cx="73152" cy="212140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68952"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Method</a:t>
            </a:r>
          </a:p>
        </p:txBody>
      </p:sp>
      <p:sp>
        <p:nvSpPr>
          <p:cNvPr id="17" name="TextBox 16"/>
          <p:cNvSpPr txBox="1"/>
          <p:nvPr/>
        </p:nvSpPr>
        <p:spPr>
          <a:xfrm>
            <a:off x="4568952"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Why does this technique fit the content and edge?</a:t>
            </a:r>
          </a:p>
        </p:txBody>
      </p:sp>
      <p:sp>
        <p:nvSpPr>
          <p:cNvPr id="18" name="Rounded Rectangle 17"/>
          <p:cNvSpPr/>
          <p:nvPr/>
        </p:nvSpPr>
        <p:spPr>
          <a:xfrm>
            <a:off x="8013192"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3192" y="1755648"/>
            <a:ext cx="73152" cy="212140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32648"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Control</a:t>
            </a:r>
          </a:p>
        </p:txBody>
      </p:sp>
      <p:sp>
        <p:nvSpPr>
          <p:cNvPr id="21" name="TextBox 20"/>
          <p:cNvSpPr txBox="1"/>
          <p:nvPr/>
        </p:nvSpPr>
        <p:spPr>
          <a:xfrm>
            <a:off x="8232648"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Which setting most changes the outcome?</a:t>
            </a:r>
          </a:p>
        </p:txBody>
      </p:sp>
      <p:sp>
        <p:nvSpPr>
          <p:cNvPr id="22" name="Rounded Rectangle 21"/>
          <p:cNvSpPr/>
          <p:nvPr/>
        </p:nvSpPr>
        <p:spPr>
          <a:xfrm>
            <a:off x="685800"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5800" y="4078224"/>
            <a:ext cx="73152" cy="21214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Failure</a:t>
            </a:r>
          </a:p>
        </p:txBody>
      </p:sp>
      <p:sp>
        <p:nvSpPr>
          <p:cNvPr id="25" name="TextBox 24"/>
          <p:cNvSpPr txBox="1"/>
          <p:nvPr/>
        </p:nvSpPr>
        <p:spPr>
          <a:xfrm>
            <a:off x="905256"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What defect would make the result unacceptable?</a:t>
            </a:r>
          </a:p>
        </p:txBody>
      </p:sp>
      <p:sp>
        <p:nvSpPr>
          <p:cNvPr id="26" name="Rounded Rectangle 25"/>
          <p:cNvSpPr/>
          <p:nvPr/>
        </p:nvSpPr>
        <p:spPr>
          <a:xfrm>
            <a:off x="4349496"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49496" y="4078224"/>
            <a:ext cx="73152" cy="212140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68952"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009A78"/>
                </a:solidFill>
                <a:latin typeface="Arial"/>
              </a:rPr>
              <a:t>Proof</a:t>
            </a:r>
          </a:p>
        </p:txBody>
      </p:sp>
      <p:sp>
        <p:nvSpPr>
          <p:cNvPr id="29" name="TextBox 28"/>
          <p:cNvSpPr txBox="1"/>
          <p:nvPr/>
        </p:nvSpPr>
        <p:spPr>
          <a:xfrm>
            <a:off x="4568952"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Which view and evidence demonstrate quality?</a:t>
            </a:r>
          </a:p>
        </p:txBody>
      </p:sp>
      <p:sp>
        <p:nvSpPr>
          <p:cNvPr id="30" name="Rounded Rectangle 29"/>
          <p:cNvSpPr/>
          <p:nvPr/>
        </p:nvSpPr>
        <p:spPr>
          <a:xfrm>
            <a:off x="8013192"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13192" y="4078224"/>
            <a:ext cx="73152" cy="212140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32648"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E98500"/>
                </a:solidFill>
                <a:latin typeface="Arial"/>
              </a:rPr>
              <a:t>Next</a:t>
            </a:r>
          </a:p>
        </p:txBody>
      </p:sp>
      <p:sp>
        <p:nvSpPr>
          <p:cNvPr id="33" name="TextBox 32"/>
          <p:cNvSpPr txBox="1"/>
          <p:nvPr/>
        </p:nvSpPr>
        <p:spPr>
          <a:xfrm>
            <a:off x="8232648"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What controlled variation would improve the result?</a:t>
            </a:r>
          </a:p>
        </p:txBody>
      </p:sp>
    </p:spTree>
  </p:cSld>
  <p:transition spd="med" advClick="1">
    <p:fade/>
  </p:transition>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94360" y="502920"/>
            <a:ext cx="1143000" cy="11430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804672"/>
            <a:ext cx="1143000" cy="320040"/>
          </a:xfrm>
          <a:prstGeom prst="rect">
            <a:avLst/>
          </a:prstGeom>
          <a:noFill/>
        </p:spPr>
        <p:txBody>
          <a:bodyPr wrap="square" anchor="t" lIns="54864" rIns="54864" tIns="54864" bIns="54864">
            <a:spAutoFit/>
          </a:bodyPr>
          <a:lstStyle/>
          <a:p>
            <a:pPr algn="ctr">
              <a:spcAft>
                <a:spcPts val="0"/>
              </a:spcAft>
            </a:pPr>
            <a:r>
              <a:rPr sz="2200" b="1">
                <a:solidFill>
                  <a:srgbClr val="FFFFFF"/>
                </a:solidFill>
                <a:latin typeface="Arial"/>
              </a:rPr>
              <a:t>04</a:t>
            </a:r>
          </a:p>
        </p:txBody>
      </p:sp>
      <p:sp>
        <p:nvSpPr>
          <p:cNvPr id="5" name="TextBox 4"/>
          <p:cNvSpPr txBox="1"/>
          <p:nvPr/>
        </p:nvSpPr>
        <p:spPr>
          <a:xfrm>
            <a:off x="685800" y="1920240"/>
            <a:ext cx="10881360" cy="1097280"/>
          </a:xfrm>
          <a:prstGeom prst="rect">
            <a:avLst/>
          </a:prstGeom>
          <a:noFill/>
        </p:spPr>
        <p:txBody>
          <a:bodyPr wrap="square" anchor="t" lIns="54864" rIns="54864" tIns="54864" bIns="54864">
            <a:spAutoFit/>
          </a:bodyPr>
          <a:lstStyle/>
          <a:p>
            <a:pPr algn="l">
              <a:spcAft>
                <a:spcPts val="0"/>
              </a:spcAft>
            </a:pPr>
            <a:r>
              <a:rPr sz="3800" b="1">
                <a:solidFill>
                  <a:srgbClr val="FFFFFF"/>
                </a:solidFill>
                <a:latin typeface="Arial"/>
              </a:rPr>
              <a:t>Colour Strategy, Enhancement and Delivery</a:t>
            </a:r>
          </a:p>
        </p:txBody>
      </p:sp>
      <p:sp>
        <p:nvSpPr>
          <p:cNvPr id="6" name="TextBox 5"/>
          <p:cNvSpPr txBox="1"/>
          <p:nvPr/>
        </p:nvSpPr>
        <p:spPr>
          <a:xfrm>
            <a:off x="713232" y="3246120"/>
            <a:ext cx="10241280" cy="777240"/>
          </a:xfrm>
          <a:prstGeom prst="rect">
            <a:avLst/>
          </a:prstGeom>
          <a:noFill/>
        </p:spPr>
        <p:txBody>
          <a:bodyPr wrap="square" anchor="t" lIns="54864" rIns="54864" tIns="54864" bIns="54864">
            <a:spAutoFit/>
          </a:bodyPr>
          <a:lstStyle/>
          <a:p>
            <a:pPr algn="l">
              <a:spcAft>
                <a:spcPts val="0"/>
              </a:spcAft>
            </a:pPr>
            <a:r>
              <a:rPr sz="1800" b="0">
                <a:solidFill>
                  <a:srgbClr val="C8CFDA"/>
                </a:solidFill>
                <a:latin typeface="Arial"/>
              </a:rPr>
              <a:t>Build a coherent palette, preserve editability and verify the delivered visual.</a:t>
            </a:r>
          </a:p>
        </p:txBody>
      </p:sp>
      <p:sp>
        <p:nvSpPr>
          <p:cNvPr id="7" name="TextBox 6"/>
          <p:cNvSpPr txBox="1"/>
          <p:nvPr/>
        </p:nvSpPr>
        <p:spPr>
          <a:xfrm>
            <a:off x="713232" y="5349240"/>
            <a:ext cx="5943600" cy="320040"/>
          </a:xfrm>
          <a:prstGeom prst="rect">
            <a:avLst/>
          </a:prstGeom>
          <a:noFill/>
        </p:spPr>
        <p:txBody>
          <a:bodyPr wrap="square" anchor="t" lIns="54864" rIns="54864" tIns="54864" bIns="54864">
            <a:spAutoFit/>
          </a:bodyPr>
          <a:lstStyle/>
          <a:p>
            <a:pPr algn="l">
              <a:spcAft>
                <a:spcPts val="0"/>
              </a:spcAft>
            </a:pPr>
            <a:r>
              <a:rPr sz="1400" b="1">
                <a:solidFill>
                  <a:srgbClr val="00B8D9"/>
                </a:solidFill>
                <a:latin typeface="Arial"/>
              </a:rPr>
              <a:t>LO4 · K4 · K5 · A7</a:t>
            </a:r>
          </a:p>
        </p:txBody>
      </p:sp>
      <p:sp>
        <p:nvSpPr>
          <p:cNvPr id="8" name="TextBox 7"/>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D7DEE9"/>
                </a:solidFill>
                <a:latin typeface="Arial"/>
              </a:rPr>
              <a:t>Generative-AI-Visuals-in-Photoshop-and-Firefly  ·  TGS-2024045220</a:t>
            </a:r>
          </a:p>
        </p:txBody>
      </p:sp>
      <p:sp>
        <p:nvSpPr>
          <p:cNvPr id="9" name="TextBox 8"/>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D7DEE9"/>
                </a:solidFill>
                <a:latin typeface="Arial"/>
              </a:rPr>
              <a:t>© 2026 Tertiary Infotech Academy Pte Ltd</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D7DEE9"/>
                </a:solidFill>
                <a:latin typeface="Arial"/>
              </a:rPr>
              <a:t>157</a:t>
            </a:r>
          </a:p>
        </p:txBody>
      </p:sp>
    </p:spTree>
  </p:cSld>
  <p:transition spd="med" advClick="1">
    <p:fade/>
  </p:transition>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EDITABLE PALETTE-WEIGHTING CHART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Campaign Colour Roles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158</a:t>
            </a:r>
          </a:p>
        </p:txBody>
      </p:sp>
      <p:graphicFrame>
        <p:nvGraphicFramePr>
          <p:cNvPr id="10" name="Chart 9"/>
          <p:cNvGraphicFramePr>
            <a:graphicFrameLocks noGrp="1"/>
          </p:cNvGraphicFramePr>
          <p:nvPr/>
        </p:nvGraphicFramePr>
        <p:xfrm>
          <a:off x="749808" y="1783080"/>
          <a:ext cx="7360920" cy="4343400"/>
        </p:xfrm>
        <a:graphic>
          <a:graphicData uri="http://schemas.openxmlformats.org/drawingml/2006/chart">
            <c:chart xmlns:c="http://schemas.openxmlformats.org/drawingml/2006/chart" r:id="rId2"/>
          </a:graphicData>
        </a:graphic>
      </p:graphicFrame>
      <p:sp>
        <p:nvSpPr>
          <p:cNvPr id="11" name="Rounded Rectangle 10"/>
          <p:cNvSpPr/>
          <p:nvPr/>
        </p:nvSpPr>
        <p:spPr>
          <a:xfrm>
            <a:off x="8394192" y="1874519"/>
            <a:ext cx="2971800" cy="361188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68512" y="2148840"/>
            <a:ext cx="2423160" cy="411480"/>
          </a:xfrm>
          <a:prstGeom prst="rect">
            <a:avLst/>
          </a:prstGeom>
          <a:noFill/>
        </p:spPr>
        <p:txBody>
          <a:bodyPr wrap="square" anchor="t" lIns="54864" rIns="54864" tIns="54864" bIns="54864">
            <a:spAutoFit/>
          </a:bodyPr>
          <a:lstStyle/>
          <a:p>
            <a:pPr algn="l">
              <a:spcAft>
                <a:spcPts val="0"/>
              </a:spcAft>
            </a:pPr>
            <a:r>
              <a:rPr sz="1200" b="1">
                <a:solidFill>
                  <a:srgbClr val="7C3AED"/>
                </a:solidFill>
                <a:latin typeface="Arial"/>
              </a:rPr>
              <a:t>READ THE CHART</a:t>
            </a:r>
          </a:p>
        </p:txBody>
      </p:sp>
      <p:sp>
        <p:nvSpPr>
          <p:cNvPr id="13" name="TextBox 12"/>
          <p:cNvSpPr txBox="1"/>
          <p:nvPr/>
        </p:nvSpPr>
        <p:spPr>
          <a:xfrm>
            <a:off x="8668512" y="2770632"/>
            <a:ext cx="2423160" cy="2057400"/>
          </a:xfrm>
          <a:prstGeom prst="rect">
            <a:avLst/>
          </a:prstGeom>
          <a:noFill/>
        </p:spPr>
        <p:txBody>
          <a:bodyPr wrap="square" anchor="t" lIns="54864" rIns="54864" tIns="54864" bIns="54864">
            <a:spAutoFit/>
          </a:bodyPr>
          <a:lstStyle/>
          <a:p>
            <a:pPr algn="l">
              <a:spcAft>
                <a:spcPts val="0"/>
              </a:spcAft>
            </a:pPr>
            <a:r>
              <a:rPr sz="1500" b="1">
                <a:solidFill>
                  <a:srgbClr val="161920"/>
                </a:solidFill>
                <a:latin typeface="Arial"/>
              </a:rPr>
              <a:t>Illustrative shares keep the primary colour dominant while secondary, accent and neutral roles support hierarchy rather than compete with it.</a:t>
            </a:r>
          </a:p>
        </p:txBody>
      </p:sp>
      <p:sp>
        <p:nvSpPr>
          <p:cNvPr id="14" name="TextBox 13"/>
          <p:cNvSpPr txBox="1"/>
          <p:nvPr/>
        </p:nvSpPr>
        <p:spPr>
          <a:xfrm>
            <a:off x="8668512" y="5074920"/>
            <a:ext cx="2423160" cy="256032"/>
          </a:xfrm>
          <a:prstGeom prst="rect">
            <a:avLst/>
          </a:prstGeom>
          <a:noFill/>
        </p:spPr>
        <p:txBody>
          <a:bodyPr wrap="square" anchor="t" lIns="54864" rIns="54864" tIns="54864" bIns="54864">
            <a:spAutoFit/>
          </a:bodyPr>
          <a:lstStyle/>
          <a:p>
            <a:pPr algn="l">
              <a:spcAft>
                <a:spcPts val="0"/>
              </a:spcAft>
            </a:pPr>
            <a:r>
              <a:rPr sz="900" b="0">
                <a:solidFill>
                  <a:srgbClr val="5B6372"/>
                </a:solidFill>
                <a:latin typeface="Arial"/>
              </a:rPr>
              <a:t>Editable native PowerPoint chart</a:t>
            </a:r>
          </a:p>
        </p:txBody>
      </p:sp>
    </p:spTree>
  </p:cSld>
  <p:transition spd="med" advClick="1">
    <p:fade/>
  </p:transition>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EDITABLE QA CHART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Output Verification Priority</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159</a:t>
            </a:r>
          </a:p>
        </p:txBody>
      </p:sp>
      <p:graphicFrame>
        <p:nvGraphicFramePr>
          <p:cNvPr id="10" name="Chart 9"/>
          <p:cNvGraphicFramePr>
            <a:graphicFrameLocks noGrp="1"/>
          </p:cNvGraphicFramePr>
          <p:nvPr/>
        </p:nvGraphicFramePr>
        <p:xfrm>
          <a:off x="749808" y="1783080"/>
          <a:ext cx="7360920" cy="4343400"/>
        </p:xfrm>
        <a:graphic>
          <a:graphicData uri="http://schemas.openxmlformats.org/drawingml/2006/chart">
            <c:chart xmlns:c="http://schemas.openxmlformats.org/drawingml/2006/chart" r:id="rId2"/>
          </a:graphicData>
        </a:graphic>
      </p:graphicFrame>
      <p:sp>
        <p:nvSpPr>
          <p:cNvPr id="11" name="Rounded Rectangle 10"/>
          <p:cNvSpPr/>
          <p:nvPr/>
        </p:nvSpPr>
        <p:spPr>
          <a:xfrm>
            <a:off x="8394192" y="1874519"/>
            <a:ext cx="2971800" cy="361188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68512" y="2148840"/>
            <a:ext cx="2423160" cy="41148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READ THE CHART</a:t>
            </a:r>
          </a:p>
        </p:txBody>
      </p:sp>
      <p:sp>
        <p:nvSpPr>
          <p:cNvPr id="13" name="TextBox 12"/>
          <p:cNvSpPr txBox="1"/>
          <p:nvPr/>
        </p:nvSpPr>
        <p:spPr>
          <a:xfrm>
            <a:off x="8668512" y="2770632"/>
            <a:ext cx="2423160" cy="2057400"/>
          </a:xfrm>
          <a:prstGeom prst="rect">
            <a:avLst/>
          </a:prstGeom>
          <a:noFill/>
        </p:spPr>
        <p:txBody>
          <a:bodyPr wrap="square" anchor="t" lIns="54864" rIns="54864" tIns="54864" bIns="54864">
            <a:spAutoFit/>
          </a:bodyPr>
          <a:lstStyle/>
          <a:p>
            <a:pPr algn="l">
              <a:spcAft>
                <a:spcPts val="0"/>
              </a:spcAft>
            </a:pPr>
            <a:r>
              <a:rPr sz="1500" b="1">
                <a:solidFill>
                  <a:srgbClr val="161920"/>
                </a:solidFill>
                <a:latin typeface="Arial"/>
              </a:rPr>
              <a:t>A professional hand-off verifies the exported file and its provenance—not only the layered working canvas.</a:t>
            </a:r>
          </a:p>
        </p:txBody>
      </p:sp>
      <p:sp>
        <p:nvSpPr>
          <p:cNvPr id="14" name="TextBox 13"/>
          <p:cNvSpPr txBox="1"/>
          <p:nvPr/>
        </p:nvSpPr>
        <p:spPr>
          <a:xfrm>
            <a:off x="8668512" y="5074920"/>
            <a:ext cx="2423160" cy="256032"/>
          </a:xfrm>
          <a:prstGeom prst="rect">
            <a:avLst/>
          </a:prstGeom>
          <a:noFill/>
        </p:spPr>
        <p:txBody>
          <a:bodyPr wrap="square" anchor="t" lIns="54864" rIns="54864" tIns="54864" bIns="54864">
            <a:spAutoFit/>
          </a:bodyPr>
          <a:lstStyle/>
          <a:p>
            <a:pPr algn="l">
              <a:spcAft>
                <a:spcPts val="0"/>
              </a:spcAft>
            </a:pPr>
            <a:r>
              <a:rPr sz="900" b="0">
                <a:solidFill>
                  <a:srgbClr val="5B6372"/>
                </a:solidFill>
                <a:latin typeface="Arial"/>
              </a:rPr>
              <a:t>Editable native PowerPoint chart</a:t>
            </a:r>
          </a:p>
        </p:txBody>
      </p:sp>
    </p:spTree>
  </p:cSld>
  <p:transition spd="med" advClick="1">
    <p:fade/>
  </p:transition>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CONCEPT 25 · HOW IT WORKS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Hue, Saturation, Brightness and Value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160</a:t>
            </a:r>
          </a:p>
        </p:txBody>
      </p:sp>
      <p:sp>
        <p:nvSpPr>
          <p:cNvPr id="11" name="Rounded Rectangle 10"/>
          <p:cNvSpPr/>
          <p:nvPr/>
        </p:nvSpPr>
        <p:spPr>
          <a:xfrm>
            <a:off x="685800" y="1755648"/>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755648"/>
            <a:ext cx="73152" cy="212140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1956816"/>
            <a:ext cx="4892040"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How it works</a:t>
            </a:r>
          </a:p>
        </p:txBody>
      </p:sp>
      <p:sp>
        <p:nvSpPr>
          <p:cNvPr id="14" name="TextBox 13"/>
          <p:cNvSpPr txBox="1"/>
          <p:nvPr/>
        </p:nvSpPr>
        <p:spPr>
          <a:xfrm>
            <a:off x="905256" y="2414015"/>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Hue identifies colour family, saturation its intensity, and value/brightness its light-dark position.</a:t>
            </a:r>
          </a:p>
        </p:txBody>
      </p:sp>
      <p:sp>
        <p:nvSpPr>
          <p:cNvPr id="15" name="Rounded Rectangle 14"/>
          <p:cNvSpPr/>
          <p:nvPr/>
        </p:nvSpPr>
        <p:spPr>
          <a:xfrm>
            <a:off x="6181344" y="1755648"/>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81344" y="1755648"/>
            <a:ext cx="73152" cy="212140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956816"/>
            <a:ext cx="4892040"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Best used for</a:t>
            </a:r>
          </a:p>
        </p:txBody>
      </p:sp>
      <p:sp>
        <p:nvSpPr>
          <p:cNvPr id="18" name="TextBox 17"/>
          <p:cNvSpPr txBox="1"/>
          <p:nvPr/>
        </p:nvSpPr>
        <p:spPr>
          <a:xfrm>
            <a:off x="6400800" y="2414015"/>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Diagnosing palette and separation before choosing an adjustment.</a:t>
            </a:r>
          </a:p>
        </p:txBody>
      </p:sp>
      <p:sp>
        <p:nvSpPr>
          <p:cNvPr id="19" name="Rounded Rectangle 18"/>
          <p:cNvSpPr/>
          <p:nvPr/>
        </p:nvSpPr>
        <p:spPr>
          <a:xfrm>
            <a:off x="685800" y="4078224"/>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85800" y="4078224"/>
            <a:ext cx="73152" cy="212140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5256" y="4279392"/>
            <a:ext cx="4892040"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Professional decision</a:t>
            </a:r>
          </a:p>
        </p:txBody>
      </p:sp>
      <p:sp>
        <p:nvSpPr>
          <p:cNvPr id="22" name="TextBox 21"/>
          <p:cNvSpPr txBox="1"/>
          <p:nvPr/>
        </p:nvSpPr>
        <p:spPr>
          <a:xfrm>
            <a:off x="905256" y="4736592"/>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Choose this method when its content model and edge behaviour fit the brief.</a:t>
            </a:r>
          </a:p>
        </p:txBody>
      </p:sp>
      <p:sp>
        <p:nvSpPr>
          <p:cNvPr id="23" name="Rounded Rectangle 22"/>
          <p:cNvSpPr/>
          <p:nvPr/>
        </p:nvSpPr>
        <p:spPr>
          <a:xfrm>
            <a:off x="6181344" y="4078224"/>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81344" y="4078224"/>
            <a:ext cx="73152" cy="21214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4279392"/>
            <a:ext cx="4892040"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Quality signal</a:t>
            </a:r>
          </a:p>
        </p:txBody>
      </p:sp>
      <p:sp>
        <p:nvSpPr>
          <p:cNvPr id="26" name="TextBox 25"/>
          <p:cNvSpPr txBox="1"/>
          <p:nvPr/>
        </p:nvSpPr>
        <p:spPr>
          <a:xfrm>
            <a:off x="6400800" y="4736592"/>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A palette swatch and grayscale review support the colour decision.</a:t>
            </a:r>
          </a:p>
        </p:txBody>
      </p:sp>
    </p:spTree>
  </p:cSld>
  <p:transition spd="med" advClick="1">
    <p:fade/>
  </p:transition>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Hue, Saturation, Brightness and Value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161</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Hue relationship · saturation range · value contrast · skin/brand constraints</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Increasing saturation when the problem is value separation.</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A palette swatch and grayscale review support the colour decision.</a:t>
            </a:r>
          </a:p>
        </p:txBody>
      </p:sp>
      <p:sp>
        <p:nvSpPr>
          <p:cNvPr id="23" name="Rounded Rectangle 22"/>
          <p:cNvSpPr/>
          <p:nvPr/>
        </p:nvSpPr>
        <p:spPr>
          <a:xfrm>
            <a:off x="685800" y="5349240"/>
            <a:ext cx="10771632" cy="65836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Worked Artifact · Hue, Saturation, Brightness and Value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162</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B8D9"/>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Diagnosing palette and separation before choosing an adjustment.</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Hue relationship · saturation range · value contrast · skin/brand constraints</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7C3AED"/>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Increasing saturation when the problem is value separation.</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A palette swatch and grayscale review support the colour decision.</a:t>
            </a:r>
          </a:p>
        </p:txBody>
      </p:sp>
      <p:sp>
        <p:nvSpPr>
          <p:cNvPr id="30" name="Rounded Rectangle 29"/>
          <p:cNvSpPr/>
          <p:nvPr/>
        </p:nvSpPr>
        <p:spPr>
          <a:xfrm>
            <a:off x="804672" y="5532120"/>
            <a:ext cx="10561320" cy="530352"/>
          </a:xfrm>
          <a:prstGeom prst="roundRect">
            <a:avLst/>
          </a:prstGeom>
          <a:solidFill>
            <a:srgbClr val="FFFFFF"/>
          </a:solidFill>
          <a:ln>
            <a:solidFill>
              <a:srgbClr val="00B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00B8D9"/>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Annotated Decision Model · Hue, Saturation, Brightness and Value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163</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Hue relationship</a:t>
            </a:r>
          </a:p>
        </p:txBody>
      </p:sp>
      <p:sp>
        <p:nvSpPr>
          <p:cNvPr id="16" name="Rounded Rectangle 15"/>
          <p:cNvSpPr/>
          <p:nvPr/>
        </p:nvSpPr>
        <p:spPr>
          <a:xfrm>
            <a:off x="896112" y="3099816"/>
            <a:ext cx="384048" cy="38404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saturation range</a:t>
            </a:r>
          </a:p>
        </p:txBody>
      </p:sp>
      <p:sp>
        <p:nvSpPr>
          <p:cNvPr id="19" name="Rounded Rectangle 18"/>
          <p:cNvSpPr/>
          <p:nvPr/>
        </p:nvSpPr>
        <p:spPr>
          <a:xfrm>
            <a:off x="896112" y="3685032"/>
            <a:ext cx="384048"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value contrast</a:t>
            </a:r>
          </a:p>
        </p:txBody>
      </p:sp>
      <p:sp>
        <p:nvSpPr>
          <p:cNvPr id="22" name="Rounded Rectangle 21"/>
          <p:cNvSpPr/>
          <p:nvPr/>
        </p:nvSpPr>
        <p:spPr>
          <a:xfrm>
            <a:off x="896112" y="4270248"/>
            <a:ext cx="384048" cy="38404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skin/brand constraints</a:t>
            </a:r>
          </a:p>
        </p:txBody>
      </p:sp>
      <p:sp>
        <p:nvSpPr>
          <p:cNvPr id="25" name="Rounded Rectangle 24"/>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E11D74"/>
                </a:solidFill>
                <a:latin typeface="Arial"/>
              </a:rPr>
              <a:t>EDITABLE CANVAS / OUTPUT STATE</a:t>
            </a:r>
          </a:p>
        </p:txBody>
      </p:sp>
      <p:sp>
        <p:nvSpPr>
          <p:cNvPr id="28" name="TextBox 27"/>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Hue identifies colour family, saturation its intensity, and value/brightness its light-dark position.</a:t>
            </a:r>
          </a:p>
        </p:txBody>
      </p:sp>
      <p:sp>
        <p:nvSpPr>
          <p:cNvPr id="29" name="Rounded Rectangle 28"/>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1" name="Rounded Rectangle 30"/>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E11D74"/>
                </a:solidFill>
                <a:latin typeface="Arial"/>
              </a:rPr>
              <a:t>PROOF PANEL</a:t>
            </a:r>
          </a:p>
        </p:txBody>
      </p:sp>
      <p:sp>
        <p:nvSpPr>
          <p:cNvPr id="33" name="TextBox 32"/>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A palette swatch and grayscale review support the colour decision.</a:t>
            </a:r>
          </a:p>
        </p:txBody>
      </p:sp>
      <p:sp>
        <p:nvSpPr>
          <p:cNvPr id="34" name="TextBox 33"/>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Diagnostic · Hue, Saturation, Brightness and Value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164</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Increasing saturation when the problem is value separation.</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Hue relationship · saturation range · value contrast · skin/brand constraints.</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A palette swatch and grayscale review support the colour decision.</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7C3AED"/>
                </a:solidFill>
                <a:latin typeface="Arial"/>
              </a:rPr>
              <a:t>Accept only when the defect is reduced and protected content remains intact.</a:t>
            </a:r>
          </a:p>
        </p:txBody>
      </p:sp>
    </p:spTree>
  </p:cSld>
  <p:transition spd="med" advClick="1">
    <p:fade/>
  </p:transition>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CONCEPT 26 · HOW IT WORKS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Adjustment Layers and Masks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Adjustment Layers</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165</a:t>
            </a:r>
          </a:p>
        </p:txBody>
      </p:sp>
      <p:sp>
        <p:nvSpPr>
          <p:cNvPr id="11" name="Rounded Rectangle 10"/>
          <p:cNvSpPr/>
          <p:nvPr/>
        </p:nvSpPr>
        <p:spPr>
          <a:xfrm>
            <a:off x="685800" y="1755648"/>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755648"/>
            <a:ext cx="73152" cy="212140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1956816"/>
            <a:ext cx="4892040"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How it works</a:t>
            </a:r>
          </a:p>
        </p:txBody>
      </p:sp>
      <p:sp>
        <p:nvSpPr>
          <p:cNvPr id="14" name="TextBox 13"/>
          <p:cNvSpPr txBox="1"/>
          <p:nvPr/>
        </p:nvSpPr>
        <p:spPr>
          <a:xfrm>
            <a:off x="905256" y="2414015"/>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Adjustment layers store tonal or colour changes separately; masks control where each adjustment applies.</a:t>
            </a:r>
          </a:p>
        </p:txBody>
      </p:sp>
      <p:sp>
        <p:nvSpPr>
          <p:cNvPr id="15" name="Rounded Rectangle 14"/>
          <p:cNvSpPr/>
          <p:nvPr/>
        </p:nvSpPr>
        <p:spPr>
          <a:xfrm>
            <a:off x="6181344" y="1755648"/>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81344" y="1755648"/>
            <a:ext cx="73152" cy="212140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956816"/>
            <a:ext cx="4892040"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Best used for</a:t>
            </a:r>
          </a:p>
        </p:txBody>
      </p:sp>
      <p:sp>
        <p:nvSpPr>
          <p:cNvPr id="18" name="TextBox 17"/>
          <p:cNvSpPr txBox="1"/>
          <p:nvPr/>
        </p:nvSpPr>
        <p:spPr>
          <a:xfrm>
            <a:off x="6400800" y="2414015"/>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Reversible campaign colour work and local corrections.</a:t>
            </a:r>
          </a:p>
        </p:txBody>
      </p:sp>
      <p:sp>
        <p:nvSpPr>
          <p:cNvPr id="19" name="Rounded Rectangle 18"/>
          <p:cNvSpPr/>
          <p:nvPr/>
        </p:nvSpPr>
        <p:spPr>
          <a:xfrm>
            <a:off x="685800" y="4078224"/>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85800" y="4078224"/>
            <a:ext cx="73152" cy="212140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5256" y="4279392"/>
            <a:ext cx="4892040"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Professional decision</a:t>
            </a:r>
          </a:p>
        </p:txBody>
      </p:sp>
      <p:sp>
        <p:nvSpPr>
          <p:cNvPr id="22" name="TextBox 21"/>
          <p:cNvSpPr txBox="1"/>
          <p:nvPr/>
        </p:nvSpPr>
        <p:spPr>
          <a:xfrm>
            <a:off x="905256" y="4736592"/>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Choose this method when its content model and edge behaviour fit the brief.</a:t>
            </a:r>
          </a:p>
        </p:txBody>
      </p:sp>
      <p:sp>
        <p:nvSpPr>
          <p:cNvPr id="23" name="Rounded Rectangle 22"/>
          <p:cNvSpPr/>
          <p:nvPr/>
        </p:nvSpPr>
        <p:spPr>
          <a:xfrm>
            <a:off x="6181344" y="4078224"/>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81344" y="4078224"/>
            <a:ext cx="73152" cy="21214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4279392"/>
            <a:ext cx="4892040"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Quality signal</a:t>
            </a:r>
          </a:p>
        </p:txBody>
      </p:sp>
      <p:sp>
        <p:nvSpPr>
          <p:cNvPr id="26" name="TextBox 25"/>
          <p:cNvSpPr txBox="1"/>
          <p:nvPr/>
        </p:nvSpPr>
        <p:spPr>
          <a:xfrm>
            <a:off x="6400800" y="4736592"/>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Named adjustment layers and masks remain editable in the PSD.</a:t>
            </a:r>
          </a:p>
        </p:txBody>
      </p:sp>
    </p:spTree>
  </p:cSld>
  <p:transition spd="med" advClick="1">
    <p:fade/>
  </p:transition>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Adjustment Layers and Masks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Adjustment Layers</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166</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Adjustment type · layer order · mask density · blend mode · opacity</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Painting directly on the only copy or leaving masks unnamed.</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Named adjustment layers and masks remain editable in the PSD.</a:t>
            </a:r>
          </a:p>
        </p:txBody>
      </p:sp>
      <p:sp>
        <p:nvSpPr>
          <p:cNvPr id="23" name="Rounded Rectangle 22"/>
          <p:cNvSpPr/>
          <p:nvPr/>
        </p:nvSpPr>
        <p:spPr>
          <a:xfrm>
            <a:off x="685800" y="5349240"/>
            <a:ext cx="10771632" cy="65836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Worked Artifact · Adjustment Layers and Masks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Adjustment Layers</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167</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Reversible campaign colour work and local corrections.</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7C3AED"/>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Adjustment type · layer order · mask density · blend mode · opacity</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Painting directly on the only copy or leaving masks unnamed.</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98500"/>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Named adjustment layers and masks remain editable in the PSD.</a:t>
            </a:r>
          </a:p>
        </p:txBody>
      </p:sp>
      <p:sp>
        <p:nvSpPr>
          <p:cNvPr id="30" name="Rounded Rectangle 29"/>
          <p:cNvSpPr/>
          <p:nvPr/>
        </p:nvSpPr>
        <p:spPr>
          <a:xfrm>
            <a:off x="804672" y="5532120"/>
            <a:ext cx="10561320" cy="530352"/>
          </a:xfrm>
          <a:prstGeom prst="roundRect">
            <a:avLst/>
          </a:prstGeom>
          <a:solidFill>
            <a:srgbClr val="FFFFFF"/>
          </a:solidFill>
          <a:ln>
            <a:solidFill>
              <a:srgbClr val="E11D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E11D74"/>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Annotated Decision Model · Adjustment Layers and Masks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Adjustment Layers</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168</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Adjustment type</a:t>
            </a:r>
          </a:p>
        </p:txBody>
      </p:sp>
      <p:sp>
        <p:nvSpPr>
          <p:cNvPr id="16" name="Rounded Rectangle 15"/>
          <p:cNvSpPr/>
          <p:nvPr/>
        </p:nvSpPr>
        <p:spPr>
          <a:xfrm>
            <a:off x="896112" y="3099816"/>
            <a:ext cx="384048"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layer order</a:t>
            </a:r>
          </a:p>
        </p:txBody>
      </p:sp>
      <p:sp>
        <p:nvSpPr>
          <p:cNvPr id="19" name="Rounded Rectangle 18"/>
          <p:cNvSpPr/>
          <p:nvPr/>
        </p:nvSpPr>
        <p:spPr>
          <a:xfrm>
            <a:off x="896112" y="3685032"/>
            <a:ext cx="384048" cy="38404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mask density</a:t>
            </a:r>
          </a:p>
        </p:txBody>
      </p:sp>
      <p:sp>
        <p:nvSpPr>
          <p:cNvPr id="22" name="Rounded Rectangle 21"/>
          <p:cNvSpPr/>
          <p:nvPr/>
        </p:nvSpPr>
        <p:spPr>
          <a:xfrm>
            <a:off x="896112" y="4270248"/>
            <a:ext cx="384048" cy="38404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blend mode</a:t>
            </a:r>
          </a:p>
        </p:txBody>
      </p:sp>
      <p:sp>
        <p:nvSpPr>
          <p:cNvPr id="25" name="Rounded Rectangle 24"/>
          <p:cNvSpPr/>
          <p:nvPr/>
        </p:nvSpPr>
        <p:spPr>
          <a:xfrm>
            <a:off x="896112" y="4855464"/>
            <a:ext cx="384048" cy="38404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19472"/>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5</a:t>
            </a:r>
          </a:p>
        </p:txBody>
      </p:sp>
      <p:sp>
        <p:nvSpPr>
          <p:cNvPr id="27" name="TextBox 26"/>
          <p:cNvSpPr txBox="1"/>
          <p:nvPr/>
        </p:nvSpPr>
        <p:spPr>
          <a:xfrm>
            <a:off x="1408176" y="4873752"/>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opacity</a:t>
            </a:r>
          </a:p>
        </p:txBody>
      </p:sp>
      <p:sp>
        <p:nvSpPr>
          <p:cNvPr id="28" name="Rounded Rectangle 27"/>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7C3AED"/>
                </a:solidFill>
                <a:latin typeface="Arial"/>
              </a:rPr>
              <a:t>EDITABLE CANVAS / OUTPUT STATE</a:t>
            </a:r>
          </a:p>
        </p:txBody>
      </p:sp>
      <p:sp>
        <p:nvSpPr>
          <p:cNvPr id="31" name="TextBox 30"/>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Adjustment layers store tonal or colour changes separately; masks control where each adjustment applies.</a:t>
            </a:r>
          </a:p>
        </p:txBody>
      </p:sp>
      <p:sp>
        <p:nvSpPr>
          <p:cNvPr id="32" name="Rounded Rectangle 31"/>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4" name="Rounded Rectangle 33"/>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7C3AED"/>
                </a:solidFill>
                <a:latin typeface="Arial"/>
              </a:rPr>
              <a:t>PROOF PANEL</a:t>
            </a:r>
          </a:p>
        </p:txBody>
      </p:sp>
      <p:sp>
        <p:nvSpPr>
          <p:cNvPr id="36" name="TextBox 35"/>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Named adjustment layers and masks remain editable in the PSD.</a:t>
            </a:r>
          </a:p>
        </p:txBody>
      </p:sp>
      <p:sp>
        <p:nvSpPr>
          <p:cNvPr id="37" name="TextBox 36"/>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Diagnostic · Adjustment Layers and Masks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Adjustment Layers</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169</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Painting directly on the only copy or leaving masks unnamed.</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Adjustment type · layer order · mask density · blend mode · opacity.</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Named adjustment layers and masks remain editable in the PSD.</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Accept only when the defect is reduced and protected content remains intact.</a:t>
            </a:r>
          </a:p>
        </p:txBody>
      </p:sp>
    </p:spTree>
  </p:cSld>
  <p:transition spd="med" advClick="1">
    <p:fade/>
  </p:transition>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CONCEPT 27 · HOW IT WORKS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Histogram and Levels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170</a:t>
            </a:r>
          </a:p>
        </p:txBody>
      </p:sp>
      <p:sp>
        <p:nvSpPr>
          <p:cNvPr id="11" name="Rounded Rectangle 10"/>
          <p:cNvSpPr/>
          <p:nvPr/>
        </p:nvSpPr>
        <p:spPr>
          <a:xfrm>
            <a:off x="685800" y="1755648"/>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755648"/>
            <a:ext cx="73152" cy="212140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1956816"/>
            <a:ext cx="4892040"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How it works</a:t>
            </a:r>
          </a:p>
        </p:txBody>
      </p:sp>
      <p:sp>
        <p:nvSpPr>
          <p:cNvPr id="14" name="TextBox 13"/>
          <p:cNvSpPr txBox="1"/>
          <p:nvPr/>
        </p:nvSpPr>
        <p:spPr>
          <a:xfrm>
            <a:off x="905256" y="2414015"/>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The histogram displays tonal distribution; Levels remaps black point, white point and midtones.</a:t>
            </a:r>
          </a:p>
        </p:txBody>
      </p:sp>
      <p:sp>
        <p:nvSpPr>
          <p:cNvPr id="15" name="Rounded Rectangle 14"/>
          <p:cNvSpPr/>
          <p:nvPr/>
        </p:nvSpPr>
        <p:spPr>
          <a:xfrm>
            <a:off x="6181344" y="1755648"/>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81344" y="1755648"/>
            <a:ext cx="73152" cy="212140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956816"/>
            <a:ext cx="4892040"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Best used for</a:t>
            </a:r>
          </a:p>
        </p:txBody>
      </p:sp>
      <p:sp>
        <p:nvSpPr>
          <p:cNvPr id="18" name="TextBox 17"/>
          <p:cNvSpPr txBox="1"/>
          <p:nvPr/>
        </p:nvSpPr>
        <p:spPr>
          <a:xfrm>
            <a:off x="6400800" y="2414015"/>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Correcting global tonal range and identifying clipping.</a:t>
            </a:r>
          </a:p>
        </p:txBody>
      </p:sp>
      <p:sp>
        <p:nvSpPr>
          <p:cNvPr id="19" name="Rounded Rectangle 18"/>
          <p:cNvSpPr/>
          <p:nvPr/>
        </p:nvSpPr>
        <p:spPr>
          <a:xfrm>
            <a:off x="685800" y="4078224"/>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85800" y="4078224"/>
            <a:ext cx="73152" cy="212140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5256" y="4279392"/>
            <a:ext cx="4892040"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Professional decision</a:t>
            </a:r>
          </a:p>
        </p:txBody>
      </p:sp>
      <p:sp>
        <p:nvSpPr>
          <p:cNvPr id="22" name="TextBox 21"/>
          <p:cNvSpPr txBox="1"/>
          <p:nvPr/>
        </p:nvSpPr>
        <p:spPr>
          <a:xfrm>
            <a:off x="905256" y="4736592"/>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Choose this method when its content model and edge behaviour fit the brief.</a:t>
            </a:r>
          </a:p>
        </p:txBody>
      </p:sp>
      <p:sp>
        <p:nvSpPr>
          <p:cNvPr id="23" name="Rounded Rectangle 22"/>
          <p:cNvSpPr/>
          <p:nvPr/>
        </p:nvSpPr>
        <p:spPr>
          <a:xfrm>
            <a:off x="6181344" y="4078224"/>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81344" y="4078224"/>
            <a:ext cx="73152" cy="21214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4279392"/>
            <a:ext cx="4892040"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Quality signal</a:t>
            </a:r>
          </a:p>
        </p:txBody>
      </p:sp>
      <p:sp>
        <p:nvSpPr>
          <p:cNvPr id="26" name="TextBox 25"/>
          <p:cNvSpPr txBox="1"/>
          <p:nvPr/>
        </p:nvSpPr>
        <p:spPr>
          <a:xfrm>
            <a:off x="6400800" y="4736592"/>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Before/after histograms and highlight/shadow checks show controlled range.</a:t>
            </a:r>
          </a:p>
        </p:txBody>
      </p:sp>
    </p:spTree>
  </p:cSld>
  <p:transition spd="med" advClick="1">
    <p:fade/>
  </p:transition>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98500"/>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Histogram and Levels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171</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Channel · black point · gamma · white point · output levels</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Forcing every image to fill the histogram or clipping detail.</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Before/after histograms and highlight/shadow checks show controlled range.</a:t>
            </a:r>
          </a:p>
        </p:txBody>
      </p:sp>
      <p:sp>
        <p:nvSpPr>
          <p:cNvPr id="23" name="Rounded Rectangle 22"/>
          <p:cNvSpPr/>
          <p:nvPr/>
        </p:nvSpPr>
        <p:spPr>
          <a:xfrm>
            <a:off x="685800" y="5349240"/>
            <a:ext cx="10771632" cy="65836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Worked Artifact · Histogram and Levels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172</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7C3AED"/>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Correcting global tonal range and identifying clipping.</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Channel · black point · gamma · white point · output levels</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98500"/>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Forcing every image to fill the histogram or clipping detail.</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Before/after histograms and highlight/shadow checks show controlled range.</a:t>
            </a:r>
          </a:p>
        </p:txBody>
      </p:sp>
      <p:sp>
        <p:nvSpPr>
          <p:cNvPr id="30" name="Rounded Rectangle 29"/>
          <p:cNvSpPr/>
          <p:nvPr/>
        </p:nvSpPr>
        <p:spPr>
          <a:xfrm>
            <a:off x="804672" y="5532120"/>
            <a:ext cx="10561320" cy="530352"/>
          </a:xfrm>
          <a:prstGeom prst="roundRect">
            <a:avLst/>
          </a:prstGeom>
          <a:solidFill>
            <a:srgbClr val="FFFFFF"/>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7C3AED"/>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Annotated Decision Model · Histogram and Levels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173</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Channel</a:t>
            </a:r>
          </a:p>
        </p:txBody>
      </p:sp>
      <p:sp>
        <p:nvSpPr>
          <p:cNvPr id="16" name="Rounded Rectangle 15"/>
          <p:cNvSpPr/>
          <p:nvPr/>
        </p:nvSpPr>
        <p:spPr>
          <a:xfrm>
            <a:off x="896112" y="3099816"/>
            <a:ext cx="384048" cy="38404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black point</a:t>
            </a:r>
          </a:p>
        </p:txBody>
      </p:sp>
      <p:sp>
        <p:nvSpPr>
          <p:cNvPr id="19" name="Rounded Rectangle 18"/>
          <p:cNvSpPr/>
          <p:nvPr/>
        </p:nvSpPr>
        <p:spPr>
          <a:xfrm>
            <a:off x="896112" y="3685032"/>
            <a:ext cx="384048" cy="38404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gamma</a:t>
            </a:r>
          </a:p>
        </p:txBody>
      </p:sp>
      <p:sp>
        <p:nvSpPr>
          <p:cNvPr id="22" name="Rounded Rectangle 21"/>
          <p:cNvSpPr/>
          <p:nvPr/>
        </p:nvSpPr>
        <p:spPr>
          <a:xfrm>
            <a:off x="896112" y="4270248"/>
            <a:ext cx="384048" cy="38404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white point</a:t>
            </a:r>
          </a:p>
        </p:txBody>
      </p:sp>
      <p:sp>
        <p:nvSpPr>
          <p:cNvPr id="25" name="Rounded Rectangle 24"/>
          <p:cNvSpPr/>
          <p:nvPr/>
        </p:nvSpPr>
        <p:spPr>
          <a:xfrm>
            <a:off x="896112" y="4855464"/>
            <a:ext cx="384048" cy="38404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19472"/>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5</a:t>
            </a:r>
          </a:p>
        </p:txBody>
      </p:sp>
      <p:sp>
        <p:nvSpPr>
          <p:cNvPr id="27" name="TextBox 26"/>
          <p:cNvSpPr txBox="1"/>
          <p:nvPr/>
        </p:nvSpPr>
        <p:spPr>
          <a:xfrm>
            <a:off x="1408176" y="4873752"/>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output levels</a:t>
            </a:r>
          </a:p>
        </p:txBody>
      </p:sp>
      <p:sp>
        <p:nvSpPr>
          <p:cNvPr id="28" name="Rounded Rectangle 27"/>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009A78"/>
                </a:solidFill>
                <a:latin typeface="Arial"/>
              </a:rPr>
              <a:t>EDITABLE CANVAS / OUTPUT STATE</a:t>
            </a:r>
          </a:p>
        </p:txBody>
      </p:sp>
      <p:sp>
        <p:nvSpPr>
          <p:cNvPr id="31" name="TextBox 30"/>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The histogram displays tonal distribution; Levels remaps black point, white point and midtones.</a:t>
            </a:r>
          </a:p>
        </p:txBody>
      </p:sp>
      <p:sp>
        <p:nvSpPr>
          <p:cNvPr id="32" name="Rounded Rectangle 31"/>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4" name="Rounded Rectangle 33"/>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009A78"/>
                </a:solidFill>
                <a:latin typeface="Arial"/>
              </a:rPr>
              <a:t>PROOF PANEL</a:t>
            </a:r>
          </a:p>
        </p:txBody>
      </p:sp>
      <p:sp>
        <p:nvSpPr>
          <p:cNvPr id="36" name="TextBox 35"/>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Before/after histograms and highlight/shadow checks show controlled range.</a:t>
            </a:r>
          </a:p>
        </p:txBody>
      </p:sp>
      <p:sp>
        <p:nvSpPr>
          <p:cNvPr id="37" name="TextBox 36"/>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98500"/>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Diagnostic · Histogram and Levels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174</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Forcing every image to fill the histogram or clipping detail.</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Channel · black point · gamma · white point · output levels.</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Before/after histograms and highlight/shadow checks show controlled range.</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E98500"/>
                </a:solidFill>
                <a:latin typeface="Arial"/>
              </a:rPr>
              <a:t>Accept only when the defect is reduced and protected content remains intact.</a:t>
            </a:r>
          </a:p>
        </p:txBody>
      </p:sp>
    </p:spTree>
  </p:cSld>
  <p:transition spd="med" advClick="1">
    <p:fade/>
  </p:transition>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CONCEPT 28 · HOW IT WORKS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Curves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Curves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175</a:t>
            </a:r>
          </a:p>
        </p:txBody>
      </p:sp>
      <p:sp>
        <p:nvSpPr>
          <p:cNvPr id="11" name="Rounded Rectangle 10"/>
          <p:cNvSpPr/>
          <p:nvPr/>
        </p:nvSpPr>
        <p:spPr>
          <a:xfrm>
            <a:off x="685800" y="1755648"/>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755648"/>
            <a:ext cx="73152" cy="212140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1956816"/>
            <a:ext cx="4892040"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How it works</a:t>
            </a:r>
          </a:p>
        </p:txBody>
      </p:sp>
      <p:sp>
        <p:nvSpPr>
          <p:cNvPr id="14" name="TextBox 13"/>
          <p:cNvSpPr txBox="1"/>
          <p:nvPr/>
        </p:nvSpPr>
        <p:spPr>
          <a:xfrm>
            <a:off x="905256" y="2414015"/>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Curves remaps input to output values with points that target overall tone or individual colour channels.</a:t>
            </a:r>
          </a:p>
        </p:txBody>
      </p:sp>
      <p:sp>
        <p:nvSpPr>
          <p:cNvPr id="15" name="Rounded Rectangle 14"/>
          <p:cNvSpPr/>
          <p:nvPr/>
        </p:nvSpPr>
        <p:spPr>
          <a:xfrm>
            <a:off x="6181344" y="1755648"/>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81344" y="1755648"/>
            <a:ext cx="73152" cy="212140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956816"/>
            <a:ext cx="4892040"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Best used for</a:t>
            </a:r>
          </a:p>
        </p:txBody>
      </p:sp>
      <p:sp>
        <p:nvSpPr>
          <p:cNvPr id="18" name="TextBox 17"/>
          <p:cNvSpPr txBox="1"/>
          <p:nvPr/>
        </p:nvSpPr>
        <p:spPr>
          <a:xfrm>
            <a:off x="6400800" y="2414015"/>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Fine contrast shaping and colour-balance correction.</a:t>
            </a:r>
          </a:p>
        </p:txBody>
      </p:sp>
      <p:sp>
        <p:nvSpPr>
          <p:cNvPr id="19" name="Rounded Rectangle 18"/>
          <p:cNvSpPr/>
          <p:nvPr/>
        </p:nvSpPr>
        <p:spPr>
          <a:xfrm>
            <a:off x="685800" y="4078224"/>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85800" y="4078224"/>
            <a:ext cx="73152" cy="212140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5256" y="4279392"/>
            <a:ext cx="4892040"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Professional decision</a:t>
            </a:r>
          </a:p>
        </p:txBody>
      </p:sp>
      <p:sp>
        <p:nvSpPr>
          <p:cNvPr id="22" name="TextBox 21"/>
          <p:cNvSpPr txBox="1"/>
          <p:nvPr/>
        </p:nvSpPr>
        <p:spPr>
          <a:xfrm>
            <a:off x="905256" y="4736592"/>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Choose this method when its content model and edge behaviour fit the brief.</a:t>
            </a:r>
          </a:p>
        </p:txBody>
      </p:sp>
      <p:sp>
        <p:nvSpPr>
          <p:cNvPr id="23" name="Rounded Rectangle 22"/>
          <p:cNvSpPr/>
          <p:nvPr/>
        </p:nvSpPr>
        <p:spPr>
          <a:xfrm>
            <a:off x="6181344" y="4078224"/>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81344" y="4078224"/>
            <a:ext cx="73152" cy="21214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4279392"/>
            <a:ext cx="4892040"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Quality signal</a:t>
            </a:r>
          </a:p>
        </p:txBody>
      </p:sp>
      <p:sp>
        <p:nvSpPr>
          <p:cNvPr id="26" name="TextBox 25"/>
          <p:cNvSpPr txBox="1"/>
          <p:nvPr/>
        </p:nvSpPr>
        <p:spPr>
          <a:xfrm>
            <a:off x="6400800" y="4736592"/>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A labelled Curves layer and before/after comparison show the intended change.</a:t>
            </a:r>
          </a:p>
        </p:txBody>
      </p:sp>
    </p:spTree>
  </p:cSld>
  <p:transition spd="med" advClick="1">
    <p:fade/>
  </p:transition>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Curves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Curves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176</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Anchor points · slope · channel · mask · clipping preview</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Too many points, banding or unwanted colour casts.</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A labelled Curves layer and before/after comparison show the intended change.</a:t>
            </a:r>
          </a:p>
        </p:txBody>
      </p:sp>
      <p:sp>
        <p:nvSpPr>
          <p:cNvPr id="23" name="Rounded Rectangle 22"/>
          <p:cNvSpPr/>
          <p:nvPr/>
        </p:nvSpPr>
        <p:spPr>
          <a:xfrm>
            <a:off x="685800" y="5349240"/>
            <a:ext cx="10771632" cy="65836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Worked Artifact · Curves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Curves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177</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Fine contrast shaping and colour-balance correction.</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98500"/>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Anchor points · slope · channel · mask · clipping preview</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Too many points, banding or unwanted colour casts.</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B8D9"/>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A labelled Curves layer and before/after comparison show the intended change.</a:t>
            </a:r>
          </a:p>
        </p:txBody>
      </p:sp>
      <p:sp>
        <p:nvSpPr>
          <p:cNvPr id="30" name="Rounded Rectangle 29"/>
          <p:cNvSpPr/>
          <p:nvPr/>
        </p:nvSpPr>
        <p:spPr>
          <a:xfrm>
            <a:off x="804672" y="5532120"/>
            <a:ext cx="10561320" cy="530352"/>
          </a:xfrm>
          <a:prstGeom prst="roundRect">
            <a:avLst/>
          </a:prstGeom>
          <a:solidFill>
            <a:srgbClr val="FFFFFF"/>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009A78"/>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98500"/>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Annotated Decision Model · Curves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Curves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178</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Anchor points</a:t>
            </a:r>
          </a:p>
        </p:txBody>
      </p:sp>
      <p:sp>
        <p:nvSpPr>
          <p:cNvPr id="16" name="Rounded Rectangle 15"/>
          <p:cNvSpPr/>
          <p:nvPr/>
        </p:nvSpPr>
        <p:spPr>
          <a:xfrm>
            <a:off x="896112" y="3099816"/>
            <a:ext cx="384048" cy="38404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slope</a:t>
            </a:r>
          </a:p>
        </p:txBody>
      </p:sp>
      <p:sp>
        <p:nvSpPr>
          <p:cNvPr id="19" name="Rounded Rectangle 18"/>
          <p:cNvSpPr/>
          <p:nvPr/>
        </p:nvSpPr>
        <p:spPr>
          <a:xfrm>
            <a:off x="896112" y="3685032"/>
            <a:ext cx="384048" cy="38404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channel</a:t>
            </a:r>
          </a:p>
        </p:txBody>
      </p:sp>
      <p:sp>
        <p:nvSpPr>
          <p:cNvPr id="22" name="Rounded Rectangle 21"/>
          <p:cNvSpPr/>
          <p:nvPr/>
        </p:nvSpPr>
        <p:spPr>
          <a:xfrm>
            <a:off x="896112" y="4270248"/>
            <a:ext cx="384048" cy="38404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mask</a:t>
            </a:r>
          </a:p>
        </p:txBody>
      </p:sp>
      <p:sp>
        <p:nvSpPr>
          <p:cNvPr id="25" name="Rounded Rectangle 24"/>
          <p:cNvSpPr/>
          <p:nvPr/>
        </p:nvSpPr>
        <p:spPr>
          <a:xfrm>
            <a:off x="896112" y="4855464"/>
            <a:ext cx="384048" cy="38404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19472"/>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5</a:t>
            </a:r>
          </a:p>
        </p:txBody>
      </p:sp>
      <p:sp>
        <p:nvSpPr>
          <p:cNvPr id="27" name="TextBox 26"/>
          <p:cNvSpPr txBox="1"/>
          <p:nvPr/>
        </p:nvSpPr>
        <p:spPr>
          <a:xfrm>
            <a:off x="1408176" y="4873752"/>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clipping preview</a:t>
            </a:r>
          </a:p>
        </p:txBody>
      </p:sp>
      <p:sp>
        <p:nvSpPr>
          <p:cNvPr id="28" name="Rounded Rectangle 27"/>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E98500"/>
                </a:solidFill>
                <a:latin typeface="Arial"/>
              </a:rPr>
              <a:t>EDITABLE CANVAS / OUTPUT STATE</a:t>
            </a:r>
          </a:p>
        </p:txBody>
      </p:sp>
      <p:sp>
        <p:nvSpPr>
          <p:cNvPr id="31" name="TextBox 30"/>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Curves remaps input to output values with points that target overall tone or individual colour channels.</a:t>
            </a:r>
          </a:p>
        </p:txBody>
      </p:sp>
      <p:sp>
        <p:nvSpPr>
          <p:cNvPr id="32" name="Rounded Rectangle 31"/>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4" name="Rounded Rectangle 33"/>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E98500"/>
                </a:solidFill>
                <a:latin typeface="Arial"/>
              </a:rPr>
              <a:t>PROOF PANEL</a:t>
            </a:r>
          </a:p>
        </p:txBody>
      </p:sp>
      <p:sp>
        <p:nvSpPr>
          <p:cNvPr id="36" name="TextBox 35"/>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A labelled Curves layer and before/after comparison show the intended change.</a:t>
            </a:r>
          </a:p>
        </p:txBody>
      </p:sp>
      <p:sp>
        <p:nvSpPr>
          <p:cNvPr id="37" name="TextBox 36"/>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Diagnostic · Curves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Curves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179</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Too many points, banding or unwanted colour casts.</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Anchor points · slope · channel · mask · clipping preview.</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A labelled Curves layer and before/after comparison show the intended change.</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224AF4"/>
                </a:solidFill>
                <a:latin typeface="Arial"/>
              </a:rPr>
              <a:t>Accept only when the defect is reduced and protected content remains intact.</a:t>
            </a:r>
          </a:p>
        </p:txBody>
      </p:sp>
    </p:spTree>
  </p:cSld>
  <p:transition spd="med" advClick="1">
    <p:fade/>
  </p:transition>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98500"/>
                </a:solidFill>
                <a:latin typeface="Arial"/>
              </a:rPr>
              <a:t>CONCEPT 29 · HOW IT WORKS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Colour Balance and Hue/Saturation</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180</a:t>
            </a:r>
          </a:p>
        </p:txBody>
      </p:sp>
      <p:sp>
        <p:nvSpPr>
          <p:cNvPr id="11" name="Rounded Rectangle 10"/>
          <p:cNvSpPr/>
          <p:nvPr/>
        </p:nvSpPr>
        <p:spPr>
          <a:xfrm>
            <a:off x="685800" y="1755648"/>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755648"/>
            <a:ext cx="73152" cy="212140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1956816"/>
            <a:ext cx="4892040"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How it works</a:t>
            </a:r>
          </a:p>
        </p:txBody>
      </p:sp>
      <p:sp>
        <p:nvSpPr>
          <p:cNvPr id="14" name="TextBox 13"/>
          <p:cNvSpPr txBox="1"/>
          <p:nvPr/>
        </p:nvSpPr>
        <p:spPr>
          <a:xfrm>
            <a:off x="905256" y="2414015"/>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Colour Balance shifts tonal ranges toward complementary colours; Hue/Saturation targets hue families and intensity.</a:t>
            </a:r>
          </a:p>
        </p:txBody>
      </p:sp>
      <p:sp>
        <p:nvSpPr>
          <p:cNvPr id="15" name="Rounded Rectangle 14"/>
          <p:cNvSpPr/>
          <p:nvPr/>
        </p:nvSpPr>
        <p:spPr>
          <a:xfrm>
            <a:off x="6181344" y="1755648"/>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81344" y="1755648"/>
            <a:ext cx="73152" cy="212140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956816"/>
            <a:ext cx="4892040"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Best used for</a:t>
            </a:r>
          </a:p>
        </p:txBody>
      </p:sp>
      <p:sp>
        <p:nvSpPr>
          <p:cNvPr id="18" name="TextBox 17"/>
          <p:cNvSpPr txBox="1"/>
          <p:nvPr/>
        </p:nvSpPr>
        <p:spPr>
          <a:xfrm>
            <a:off x="6400800" y="2414015"/>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Harmonising composite elements and establishing a campaign palette.</a:t>
            </a:r>
          </a:p>
        </p:txBody>
      </p:sp>
      <p:sp>
        <p:nvSpPr>
          <p:cNvPr id="19" name="Rounded Rectangle 18"/>
          <p:cNvSpPr/>
          <p:nvPr/>
        </p:nvSpPr>
        <p:spPr>
          <a:xfrm>
            <a:off x="685800" y="4078224"/>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85800" y="4078224"/>
            <a:ext cx="73152" cy="212140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5256" y="4279392"/>
            <a:ext cx="4892040"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Professional decision</a:t>
            </a:r>
          </a:p>
        </p:txBody>
      </p:sp>
      <p:sp>
        <p:nvSpPr>
          <p:cNvPr id="22" name="TextBox 21"/>
          <p:cNvSpPr txBox="1"/>
          <p:nvPr/>
        </p:nvSpPr>
        <p:spPr>
          <a:xfrm>
            <a:off x="905256" y="4736592"/>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Choose this method when its content model and edge behaviour fit the brief.</a:t>
            </a:r>
          </a:p>
        </p:txBody>
      </p:sp>
      <p:sp>
        <p:nvSpPr>
          <p:cNvPr id="23" name="Rounded Rectangle 22"/>
          <p:cNvSpPr/>
          <p:nvPr/>
        </p:nvSpPr>
        <p:spPr>
          <a:xfrm>
            <a:off x="6181344" y="4078224"/>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81344" y="4078224"/>
            <a:ext cx="73152" cy="21214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4279392"/>
            <a:ext cx="4892040"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Quality signal</a:t>
            </a:r>
          </a:p>
        </p:txBody>
      </p:sp>
      <p:sp>
        <p:nvSpPr>
          <p:cNvPr id="26" name="TextBox 25"/>
          <p:cNvSpPr txBox="1"/>
          <p:nvPr/>
        </p:nvSpPr>
        <p:spPr>
          <a:xfrm>
            <a:off x="6400800" y="4736592"/>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Sampled swatches and targeted masks demonstrate controlled application.</a:t>
            </a:r>
          </a:p>
        </p:txBody>
      </p:sp>
    </p:spTree>
  </p:cSld>
  <p:transition spd="med" advClick="1">
    <p:fade/>
  </p:transition>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Colour Balance and Hue/Saturation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181</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Shadows/midtones/highlights · target colour range · saturation · mask</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Global shifts that damage skin tones, neutrals or brand colours.</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Sampled swatches and targeted masks demonstrate controlled application.</a:t>
            </a:r>
          </a:p>
        </p:txBody>
      </p:sp>
      <p:sp>
        <p:nvSpPr>
          <p:cNvPr id="23" name="Rounded Rectangle 22"/>
          <p:cNvSpPr/>
          <p:nvPr/>
        </p:nvSpPr>
        <p:spPr>
          <a:xfrm>
            <a:off x="685800" y="5349240"/>
            <a:ext cx="10771632" cy="65836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98500"/>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Worked Artifact · Colour Balance and Hue/Saturation</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182</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98500"/>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Harmonising composite elements and establishing a campaign palette.</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Shadows/midtones/highlights · target colour range · saturation · mask</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B8D9"/>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Global shifts that damage skin tones, neutrals or brand colours.</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Sampled swatches and targeted masks demonstrate controlled application.</a:t>
            </a:r>
          </a:p>
        </p:txBody>
      </p:sp>
      <p:sp>
        <p:nvSpPr>
          <p:cNvPr id="30" name="Rounded Rectangle 29"/>
          <p:cNvSpPr/>
          <p:nvPr/>
        </p:nvSpPr>
        <p:spPr>
          <a:xfrm>
            <a:off x="804672" y="5532120"/>
            <a:ext cx="10561320" cy="530352"/>
          </a:xfrm>
          <a:prstGeom prst="roundRect">
            <a:avLst/>
          </a:prstGeom>
          <a:solidFill>
            <a:srgbClr val="FFFFFF"/>
          </a:solidFill>
          <a:ln>
            <a:solidFill>
              <a:srgbClr val="E98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E98500"/>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Annotated Decision Model · Colour Balance and Hue/Saturation</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183</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Shadows/midtones/highlights</a:t>
            </a:r>
          </a:p>
        </p:txBody>
      </p:sp>
      <p:sp>
        <p:nvSpPr>
          <p:cNvPr id="16" name="Rounded Rectangle 15"/>
          <p:cNvSpPr/>
          <p:nvPr/>
        </p:nvSpPr>
        <p:spPr>
          <a:xfrm>
            <a:off x="896112" y="3099816"/>
            <a:ext cx="384048" cy="38404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target colour range</a:t>
            </a:r>
          </a:p>
        </p:txBody>
      </p:sp>
      <p:sp>
        <p:nvSpPr>
          <p:cNvPr id="19" name="Rounded Rectangle 18"/>
          <p:cNvSpPr/>
          <p:nvPr/>
        </p:nvSpPr>
        <p:spPr>
          <a:xfrm>
            <a:off x="896112" y="3685032"/>
            <a:ext cx="384048" cy="38404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saturation</a:t>
            </a:r>
          </a:p>
        </p:txBody>
      </p:sp>
      <p:sp>
        <p:nvSpPr>
          <p:cNvPr id="22" name="Rounded Rectangle 21"/>
          <p:cNvSpPr/>
          <p:nvPr/>
        </p:nvSpPr>
        <p:spPr>
          <a:xfrm>
            <a:off x="896112" y="4270248"/>
            <a:ext cx="384048" cy="38404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mask</a:t>
            </a:r>
          </a:p>
        </p:txBody>
      </p:sp>
      <p:sp>
        <p:nvSpPr>
          <p:cNvPr id="25" name="Rounded Rectangle 24"/>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224AF4"/>
                </a:solidFill>
                <a:latin typeface="Arial"/>
              </a:rPr>
              <a:t>EDITABLE CANVAS / OUTPUT STATE</a:t>
            </a:r>
          </a:p>
        </p:txBody>
      </p:sp>
      <p:sp>
        <p:nvSpPr>
          <p:cNvPr id="28" name="TextBox 27"/>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Colour Balance shifts tonal ranges toward complementary colours; Hue/Saturation targets hue families and intensity.</a:t>
            </a:r>
          </a:p>
        </p:txBody>
      </p:sp>
      <p:sp>
        <p:nvSpPr>
          <p:cNvPr id="29" name="Rounded Rectangle 28"/>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1" name="Rounded Rectangle 30"/>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224AF4"/>
                </a:solidFill>
                <a:latin typeface="Arial"/>
              </a:rPr>
              <a:t>PROOF PANEL</a:t>
            </a:r>
          </a:p>
        </p:txBody>
      </p:sp>
      <p:sp>
        <p:nvSpPr>
          <p:cNvPr id="33" name="TextBox 32"/>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Sampled swatches and targeted masks demonstrate controlled application.</a:t>
            </a:r>
          </a:p>
        </p:txBody>
      </p:sp>
      <p:sp>
        <p:nvSpPr>
          <p:cNvPr id="34" name="TextBox 33"/>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Diagnostic · Colour Balance and Hue/Saturation</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Photoshop Help</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184</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Global shifts that damage skin tones, neutrals or brand colours.</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Shadows/midtones/highlights · target colour range · saturation · mask.</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Sampled swatches and targeted masks demonstrate controlled application.</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00B8D9"/>
                </a:solidFill>
                <a:latin typeface="Arial"/>
              </a:rPr>
              <a:t>Accept only when the defect is reduced and protected content remains intact.</a:t>
            </a:r>
          </a:p>
        </p:txBody>
      </p:sp>
    </p:spTree>
  </p:cSld>
  <p:transition spd="med" advClick="1">
    <p:fade/>
  </p:transition>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CONCEPT 30 · HOW IT WORKS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Neural Filters and Restoration</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Neural Filters</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185</a:t>
            </a:r>
          </a:p>
        </p:txBody>
      </p:sp>
      <p:sp>
        <p:nvSpPr>
          <p:cNvPr id="11" name="Rounded Rectangle 10"/>
          <p:cNvSpPr/>
          <p:nvPr/>
        </p:nvSpPr>
        <p:spPr>
          <a:xfrm>
            <a:off x="685800" y="1755648"/>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755648"/>
            <a:ext cx="73152" cy="212140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1956816"/>
            <a:ext cx="4892040"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How it works</a:t>
            </a:r>
          </a:p>
        </p:txBody>
      </p:sp>
      <p:sp>
        <p:nvSpPr>
          <p:cNvPr id="14" name="TextBox 13"/>
          <p:cNvSpPr txBox="1"/>
          <p:nvPr/>
        </p:nvSpPr>
        <p:spPr>
          <a:xfrm>
            <a:off x="905256" y="2414015"/>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Neural Filters provide AI-assisted transformations that can output to a new layer for further review.</a:t>
            </a:r>
          </a:p>
        </p:txBody>
      </p:sp>
      <p:sp>
        <p:nvSpPr>
          <p:cNvPr id="15" name="Rounded Rectangle 14"/>
          <p:cNvSpPr/>
          <p:nvPr/>
        </p:nvSpPr>
        <p:spPr>
          <a:xfrm>
            <a:off x="6181344" y="1755648"/>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81344" y="1755648"/>
            <a:ext cx="73152" cy="212140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956816"/>
            <a:ext cx="4892040"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Best used for</a:t>
            </a:r>
          </a:p>
        </p:txBody>
      </p:sp>
      <p:sp>
        <p:nvSpPr>
          <p:cNvPr id="18" name="TextBox 17"/>
          <p:cNvSpPr txBox="1"/>
          <p:nvPr/>
        </p:nvSpPr>
        <p:spPr>
          <a:xfrm>
            <a:off x="6400800" y="2414015"/>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Restoration, colourisation and portrait enhancement where source evidence is incomplete.</a:t>
            </a:r>
          </a:p>
        </p:txBody>
      </p:sp>
      <p:sp>
        <p:nvSpPr>
          <p:cNvPr id="19" name="Rounded Rectangle 18"/>
          <p:cNvSpPr/>
          <p:nvPr/>
        </p:nvSpPr>
        <p:spPr>
          <a:xfrm>
            <a:off x="685800" y="4078224"/>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85800" y="4078224"/>
            <a:ext cx="73152" cy="212140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5256" y="4279392"/>
            <a:ext cx="4892040"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Professional decision</a:t>
            </a:r>
          </a:p>
        </p:txBody>
      </p:sp>
      <p:sp>
        <p:nvSpPr>
          <p:cNvPr id="22" name="TextBox 21"/>
          <p:cNvSpPr txBox="1"/>
          <p:nvPr/>
        </p:nvSpPr>
        <p:spPr>
          <a:xfrm>
            <a:off x="905256" y="4736592"/>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Choose this method when its content model and edge behaviour fit the brief.</a:t>
            </a:r>
          </a:p>
        </p:txBody>
      </p:sp>
      <p:sp>
        <p:nvSpPr>
          <p:cNvPr id="23" name="Rounded Rectangle 22"/>
          <p:cNvSpPr/>
          <p:nvPr/>
        </p:nvSpPr>
        <p:spPr>
          <a:xfrm>
            <a:off x="6181344" y="4078224"/>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81344" y="4078224"/>
            <a:ext cx="73152" cy="21214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4279392"/>
            <a:ext cx="4892040"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Quality signal</a:t>
            </a:r>
          </a:p>
        </p:txBody>
      </p:sp>
      <p:sp>
        <p:nvSpPr>
          <p:cNvPr id="26" name="TextBox 25"/>
          <p:cNvSpPr txBox="1"/>
          <p:nvPr/>
        </p:nvSpPr>
        <p:spPr>
          <a:xfrm>
            <a:off x="6400800" y="4736592"/>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Original, AI output and manual corrections remain separately reviewable.</a:t>
            </a:r>
          </a:p>
        </p:txBody>
      </p:sp>
    </p:spTree>
  </p:cSld>
  <p:transition spd="med" advClick="1">
    <p:fade/>
  </p:transition>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Neural Filters and Restoration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Neural Filters</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186</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Filter model · strength · output method · local cleanup · review</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Invented detail, identity changes or treating an AI result as historical fact.</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Original, AI output and manual corrections remain separately reviewable.</a:t>
            </a:r>
          </a:p>
        </p:txBody>
      </p:sp>
      <p:sp>
        <p:nvSpPr>
          <p:cNvPr id="23" name="Rounded Rectangle 22"/>
          <p:cNvSpPr/>
          <p:nvPr/>
        </p:nvSpPr>
        <p:spPr>
          <a:xfrm>
            <a:off x="685800" y="5349240"/>
            <a:ext cx="10771632" cy="65836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Worked Artifact · Neural Filters and Restoration</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Neural Filters</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187</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Restoration, colourisation and portrait enhancement where source evidence is incomplete.</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B8D9"/>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Filter model · strength · output method · local cleanup · review</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Invented detail, identity changes or treating an AI result as historical fact.</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7C3AED"/>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Original, AI output and manual corrections remain separately reviewable.</a:t>
            </a:r>
          </a:p>
        </p:txBody>
      </p:sp>
      <p:sp>
        <p:nvSpPr>
          <p:cNvPr id="30" name="Rounded Rectangle 29"/>
          <p:cNvSpPr/>
          <p:nvPr/>
        </p:nvSpPr>
        <p:spPr>
          <a:xfrm>
            <a:off x="804672" y="5532120"/>
            <a:ext cx="10561320" cy="530352"/>
          </a:xfrm>
          <a:prstGeom prst="roundRect">
            <a:avLst/>
          </a:prstGeom>
          <a:solidFill>
            <a:srgbClr val="FFFFFF"/>
          </a:solidFill>
          <a:ln>
            <a:solidFill>
              <a:srgbClr val="224AF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224AF4"/>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Annotated Decision Model · Neural Filters and Restoration</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Neural Filters</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188</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Filter model</a:t>
            </a:r>
          </a:p>
        </p:txBody>
      </p:sp>
      <p:sp>
        <p:nvSpPr>
          <p:cNvPr id="16" name="Rounded Rectangle 15"/>
          <p:cNvSpPr/>
          <p:nvPr/>
        </p:nvSpPr>
        <p:spPr>
          <a:xfrm>
            <a:off x="896112" y="3099816"/>
            <a:ext cx="384048" cy="38404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strength</a:t>
            </a:r>
          </a:p>
        </p:txBody>
      </p:sp>
      <p:sp>
        <p:nvSpPr>
          <p:cNvPr id="19" name="Rounded Rectangle 18"/>
          <p:cNvSpPr/>
          <p:nvPr/>
        </p:nvSpPr>
        <p:spPr>
          <a:xfrm>
            <a:off x="896112" y="3685032"/>
            <a:ext cx="384048" cy="38404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output method</a:t>
            </a:r>
          </a:p>
        </p:txBody>
      </p:sp>
      <p:sp>
        <p:nvSpPr>
          <p:cNvPr id="22" name="Rounded Rectangle 21"/>
          <p:cNvSpPr/>
          <p:nvPr/>
        </p:nvSpPr>
        <p:spPr>
          <a:xfrm>
            <a:off x="896112" y="4270248"/>
            <a:ext cx="384048"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local cleanup</a:t>
            </a:r>
          </a:p>
        </p:txBody>
      </p:sp>
      <p:sp>
        <p:nvSpPr>
          <p:cNvPr id="25" name="Rounded Rectangle 24"/>
          <p:cNvSpPr/>
          <p:nvPr/>
        </p:nvSpPr>
        <p:spPr>
          <a:xfrm>
            <a:off x="896112" y="4855464"/>
            <a:ext cx="384048" cy="38404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19472"/>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5</a:t>
            </a:r>
          </a:p>
        </p:txBody>
      </p:sp>
      <p:sp>
        <p:nvSpPr>
          <p:cNvPr id="27" name="TextBox 26"/>
          <p:cNvSpPr txBox="1"/>
          <p:nvPr/>
        </p:nvSpPr>
        <p:spPr>
          <a:xfrm>
            <a:off x="1408176" y="4873752"/>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review</a:t>
            </a:r>
          </a:p>
        </p:txBody>
      </p:sp>
      <p:sp>
        <p:nvSpPr>
          <p:cNvPr id="28" name="Rounded Rectangle 27"/>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00B8D9"/>
                </a:solidFill>
                <a:latin typeface="Arial"/>
              </a:rPr>
              <a:t>EDITABLE CANVAS / OUTPUT STATE</a:t>
            </a:r>
          </a:p>
        </p:txBody>
      </p:sp>
      <p:sp>
        <p:nvSpPr>
          <p:cNvPr id="31" name="TextBox 30"/>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Neural Filters provide AI-assisted transformations that can output to a new layer for further review.</a:t>
            </a:r>
          </a:p>
        </p:txBody>
      </p:sp>
      <p:sp>
        <p:nvSpPr>
          <p:cNvPr id="32" name="Rounded Rectangle 31"/>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4" name="Rounded Rectangle 33"/>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00B8D9"/>
                </a:solidFill>
                <a:latin typeface="Arial"/>
              </a:rPr>
              <a:t>PROOF PANEL</a:t>
            </a:r>
          </a:p>
        </p:txBody>
      </p:sp>
      <p:sp>
        <p:nvSpPr>
          <p:cNvPr id="36" name="TextBox 35"/>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Original, AI output and manual corrections remain separately reviewable.</a:t>
            </a:r>
          </a:p>
        </p:txBody>
      </p:sp>
      <p:sp>
        <p:nvSpPr>
          <p:cNvPr id="37" name="TextBox 36"/>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Diagnostic · Neural Filters and Restoration</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Neural Filters</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189</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Invented detail, identity changes or treating an AI result as historical fact.</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Filter model · strength · output method · local cleanup · review.</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Original, AI output and manual corrections remain separately reviewable.</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E11D74"/>
                </a:solidFill>
                <a:latin typeface="Arial"/>
              </a:rPr>
              <a:t>Accept only when the defect is reduced and protected content remains intact.</a:t>
            </a:r>
          </a:p>
        </p:txBody>
      </p:sp>
    </p:spTree>
  </p:cSld>
  <p:transition spd="med" advClick="1">
    <p:fade/>
  </p:transition>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CONCEPT 31 · HOW IT WORKS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Campaign Colour Consistency</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190</a:t>
            </a:r>
          </a:p>
        </p:txBody>
      </p:sp>
      <p:sp>
        <p:nvSpPr>
          <p:cNvPr id="11" name="Rounded Rectangle 10"/>
          <p:cNvSpPr/>
          <p:nvPr/>
        </p:nvSpPr>
        <p:spPr>
          <a:xfrm>
            <a:off x="685800" y="1755648"/>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755648"/>
            <a:ext cx="73152" cy="212140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1956816"/>
            <a:ext cx="4892040"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How it works</a:t>
            </a:r>
          </a:p>
        </p:txBody>
      </p:sp>
      <p:sp>
        <p:nvSpPr>
          <p:cNvPr id="14" name="TextBox 13"/>
          <p:cNvSpPr txBox="1"/>
          <p:nvPr/>
        </p:nvSpPr>
        <p:spPr>
          <a:xfrm>
            <a:off x="905256" y="2414015"/>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A campaign palette combines role-based colours, contrast targets and adjustment recipes across assets.</a:t>
            </a:r>
          </a:p>
        </p:txBody>
      </p:sp>
      <p:sp>
        <p:nvSpPr>
          <p:cNvPr id="15" name="Rounded Rectangle 14"/>
          <p:cNvSpPr/>
          <p:nvPr/>
        </p:nvSpPr>
        <p:spPr>
          <a:xfrm>
            <a:off x="6181344" y="1755648"/>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81344" y="1755648"/>
            <a:ext cx="73152" cy="212140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956816"/>
            <a:ext cx="4892040"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Best used for</a:t>
            </a:r>
          </a:p>
        </p:txBody>
      </p:sp>
      <p:sp>
        <p:nvSpPr>
          <p:cNvPr id="18" name="TextBox 17"/>
          <p:cNvSpPr txBox="1"/>
          <p:nvPr/>
        </p:nvSpPr>
        <p:spPr>
          <a:xfrm>
            <a:off x="6400800" y="2414015"/>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Keeping storyboard, social and poster outputs recognisably related.</a:t>
            </a:r>
          </a:p>
        </p:txBody>
      </p:sp>
      <p:sp>
        <p:nvSpPr>
          <p:cNvPr id="19" name="Rounded Rectangle 18"/>
          <p:cNvSpPr/>
          <p:nvPr/>
        </p:nvSpPr>
        <p:spPr>
          <a:xfrm>
            <a:off x="685800" y="4078224"/>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85800" y="4078224"/>
            <a:ext cx="73152" cy="212140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5256" y="4279392"/>
            <a:ext cx="4892040"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Professional decision</a:t>
            </a:r>
          </a:p>
        </p:txBody>
      </p:sp>
      <p:sp>
        <p:nvSpPr>
          <p:cNvPr id="22" name="TextBox 21"/>
          <p:cNvSpPr txBox="1"/>
          <p:nvPr/>
        </p:nvSpPr>
        <p:spPr>
          <a:xfrm>
            <a:off x="905256" y="4736592"/>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Choose this method when its content model and edge behaviour fit the brief.</a:t>
            </a:r>
          </a:p>
        </p:txBody>
      </p:sp>
      <p:sp>
        <p:nvSpPr>
          <p:cNvPr id="23" name="Rounded Rectangle 22"/>
          <p:cNvSpPr/>
          <p:nvPr/>
        </p:nvSpPr>
        <p:spPr>
          <a:xfrm>
            <a:off x="6181344" y="4078224"/>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81344" y="4078224"/>
            <a:ext cx="73152" cy="21214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4279392"/>
            <a:ext cx="4892040"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Quality signal</a:t>
            </a:r>
          </a:p>
        </p:txBody>
      </p:sp>
      <p:sp>
        <p:nvSpPr>
          <p:cNvPr id="26" name="TextBox 25"/>
          <p:cNvSpPr txBox="1"/>
          <p:nvPr/>
        </p:nvSpPr>
        <p:spPr>
          <a:xfrm>
            <a:off x="6400800" y="4736592"/>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A palette sheet and three channel exports show consistent roles.</a:t>
            </a:r>
          </a:p>
        </p:txBody>
      </p:sp>
    </p:spTree>
  </p:cSld>
  <p:transition spd="med" advClick="1">
    <p:fade/>
  </p:transition>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Campaign Colour Consistency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191</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Primary/secondary/accent roles · value range · accessibility · export profile</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Matching hex values while ignoring surrounding colour and output profile.</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A palette sheet and three channel exports show consistent roles.</a:t>
            </a:r>
          </a:p>
        </p:txBody>
      </p:sp>
      <p:sp>
        <p:nvSpPr>
          <p:cNvPr id="23" name="Rounded Rectangle 22"/>
          <p:cNvSpPr/>
          <p:nvPr/>
        </p:nvSpPr>
        <p:spPr>
          <a:xfrm>
            <a:off x="685800" y="5349240"/>
            <a:ext cx="10771632" cy="65836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Worked Artifact · Campaign Colour Consistency</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192</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B8D9"/>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Keeping storyboard, social and poster outputs recognisably related.</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Primary/secondary/accent roles · value range · accessibility · export profile</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7C3AED"/>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Matching hex values while ignoring surrounding colour and output profile.</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A palette sheet and three channel exports show consistent roles.</a:t>
            </a:r>
          </a:p>
        </p:txBody>
      </p:sp>
      <p:sp>
        <p:nvSpPr>
          <p:cNvPr id="30" name="Rounded Rectangle 29"/>
          <p:cNvSpPr/>
          <p:nvPr/>
        </p:nvSpPr>
        <p:spPr>
          <a:xfrm>
            <a:off x="804672" y="5532120"/>
            <a:ext cx="10561320" cy="530352"/>
          </a:xfrm>
          <a:prstGeom prst="roundRect">
            <a:avLst/>
          </a:prstGeom>
          <a:solidFill>
            <a:srgbClr val="FFFFFF"/>
          </a:solidFill>
          <a:ln>
            <a:solidFill>
              <a:srgbClr val="00B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00B8D9"/>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Annotated Decision Model · Campaign Colour Consistency</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193</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Primary/secondary/accent roles</a:t>
            </a:r>
          </a:p>
        </p:txBody>
      </p:sp>
      <p:sp>
        <p:nvSpPr>
          <p:cNvPr id="16" name="Rounded Rectangle 15"/>
          <p:cNvSpPr/>
          <p:nvPr/>
        </p:nvSpPr>
        <p:spPr>
          <a:xfrm>
            <a:off x="896112" y="3099816"/>
            <a:ext cx="384048" cy="38404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value range</a:t>
            </a:r>
          </a:p>
        </p:txBody>
      </p:sp>
      <p:sp>
        <p:nvSpPr>
          <p:cNvPr id="19" name="Rounded Rectangle 18"/>
          <p:cNvSpPr/>
          <p:nvPr/>
        </p:nvSpPr>
        <p:spPr>
          <a:xfrm>
            <a:off x="896112" y="3685032"/>
            <a:ext cx="384048"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accessibility</a:t>
            </a:r>
          </a:p>
        </p:txBody>
      </p:sp>
      <p:sp>
        <p:nvSpPr>
          <p:cNvPr id="22" name="Rounded Rectangle 21"/>
          <p:cNvSpPr/>
          <p:nvPr/>
        </p:nvSpPr>
        <p:spPr>
          <a:xfrm>
            <a:off x="896112" y="4270248"/>
            <a:ext cx="384048" cy="38404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export profile</a:t>
            </a:r>
          </a:p>
        </p:txBody>
      </p:sp>
      <p:sp>
        <p:nvSpPr>
          <p:cNvPr id="25" name="Rounded Rectangle 24"/>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E11D74"/>
                </a:solidFill>
                <a:latin typeface="Arial"/>
              </a:rPr>
              <a:t>EDITABLE CANVAS / OUTPUT STATE</a:t>
            </a:r>
          </a:p>
        </p:txBody>
      </p:sp>
      <p:sp>
        <p:nvSpPr>
          <p:cNvPr id="28" name="TextBox 27"/>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A campaign palette combines role-based colours, contrast targets and adjustment recipes across assets.</a:t>
            </a:r>
          </a:p>
        </p:txBody>
      </p:sp>
      <p:sp>
        <p:nvSpPr>
          <p:cNvPr id="29" name="Rounded Rectangle 28"/>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1" name="Rounded Rectangle 30"/>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E11D74"/>
                </a:solidFill>
                <a:latin typeface="Arial"/>
              </a:rPr>
              <a:t>PROOF PANEL</a:t>
            </a:r>
          </a:p>
        </p:txBody>
      </p:sp>
      <p:sp>
        <p:nvSpPr>
          <p:cNvPr id="33" name="TextBox 32"/>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A palette sheet and three channel exports show consistent roles.</a:t>
            </a:r>
          </a:p>
        </p:txBody>
      </p:sp>
      <p:sp>
        <p:nvSpPr>
          <p:cNvPr id="34" name="TextBox 33"/>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Diagnostic · Campaign Colour Consistency</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Legacy trainer slides v6</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194</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Matching hex values while ignoring surrounding colour and output profile.</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Primary/secondary/accent roles · value range · accessibility · export profile.</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A palette sheet and three channel exports show consistent roles.</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7C3AED"/>
                </a:solidFill>
                <a:latin typeface="Arial"/>
              </a:rPr>
              <a:t>Accept only when the defect is reduced and protected content remains intact.</a:t>
            </a:r>
          </a:p>
        </p:txBody>
      </p:sp>
    </p:spTree>
  </p:cSld>
  <p:transition spd="med" advClick="1">
    <p:fade/>
  </p:transition>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CONCEPT 32 · HOW IT WORKS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Output Verification and Content Credentials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Content Credentials</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195</a:t>
            </a:r>
          </a:p>
        </p:txBody>
      </p:sp>
      <p:sp>
        <p:nvSpPr>
          <p:cNvPr id="11" name="Rounded Rectangle 10"/>
          <p:cNvSpPr/>
          <p:nvPr/>
        </p:nvSpPr>
        <p:spPr>
          <a:xfrm>
            <a:off x="685800" y="1755648"/>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755648"/>
            <a:ext cx="73152" cy="212140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1956816"/>
            <a:ext cx="4892040"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How it works</a:t>
            </a:r>
          </a:p>
        </p:txBody>
      </p:sp>
      <p:sp>
        <p:nvSpPr>
          <p:cNvPr id="14" name="TextBox 13"/>
          <p:cNvSpPr txBox="1"/>
          <p:nvPr/>
        </p:nvSpPr>
        <p:spPr>
          <a:xfrm>
            <a:off x="905256" y="2414015"/>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Professional delivery includes export settings, reopen checks, provenance and a retained editable master.</a:t>
            </a:r>
          </a:p>
        </p:txBody>
      </p:sp>
      <p:sp>
        <p:nvSpPr>
          <p:cNvPr id="15" name="Rounded Rectangle 14"/>
          <p:cNvSpPr/>
          <p:nvPr/>
        </p:nvSpPr>
        <p:spPr>
          <a:xfrm>
            <a:off x="6181344" y="1755648"/>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81344" y="1755648"/>
            <a:ext cx="73152" cy="212140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956816"/>
            <a:ext cx="4892040"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Best used for</a:t>
            </a:r>
          </a:p>
        </p:txBody>
      </p:sp>
      <p:sp>
        <p:nvSpPr>
          <p:cNvPr id="18" name="TextBox 17"/>
          <p:cNvSpPr txBox="1"/>
          <p:nvPr/>
        </p:nvSpPr>
        <p:spPr>
          <a:xfrm>
            <a:off x="6400800" y="2414015"/>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Hand-off to stakeholders, publication and audit-ready delivery.</a:t>
            </a:r>
          </a:p>
        </p:txBody>
      </p:sp>
      <p:sp>
        <p:nvSpPr>
          <p:cNvPr id="19" name="Rounded Rectangle 18"/>
          <p:cNvSpPr/>
          <p:nvPr/>
        </p:nvSpPr>
        <p:spPr>
          <a:xfrm>
            <a:off x="685800" y="4078224"/>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85800" y="4078224"/>
            <a:ext cx="73152" cy="212140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5256" y="4279392"/>
            <a:ext cx="4892040"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Professional decision</a:t>
            </a:r>
          </a:p>
        </p:txBody>
      </p:sp>
      <p:sp>
        <p:nvSpPr>
          <p:cNvPr id="22" name="TextBox 21"/>
          <p:cNvSpPr txBox="1"/>
          <p:nvPr/>
        </p:nvSpPr>
        <p:spPr>
          <a:xfrm>
            <a:off x="905256" y="4736592"/>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Choose this method when its content model and edge behaviour fit the brief.</a:t>
            </a:r>
          </a:p>
        </p:txBody>
      </p:sp>
      <p:sp>
        <p:nvSpPr>
          <p:cNvPr id="23" name="Rounded Rectangle 22"/>
          <p:cNvSpPr/>
          <p:nvPr/>
        </p:nvSpPr>
        <p:spPr>
          <a:xfrm>
            <a:off x="6181344" y="4078224"/>
            <a:ext cx="5294376"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81344" y="4078224"/>
            <a:ext cx="73152" cy="21214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4279392"/>
            <a:ext cx="4892040"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Quality signal</a:t>
            </a:r>
          </a:p>
        </p:txBody>
      </p:sp>
      <p:sp>
        <p:nvSpPr>
          <p:cNvPr id="26" name="TextBox 25"/>
          <p:cNvSpPr txBox="1"/>
          <p:nvPr/>
        </p:nvSpPr>
        <p:spPr>
          <a:xfrm>
            <a:off x="6400800" y="4736592"/>
            <a:ext cx="4892040"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PSD, verified JPEG and provenance/read-me record form one evidence package.</a:t>
            </a:r>
          </a:p>
        </p:txBody>
      </p:sp>
    </p:spTree>
  </p:cSld>
  <p:transition spd="med" advClick="1">
    <p:fade/>
  </p:transition>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KEY CONTROLS · FAILURE MODE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Output Verification and Content Credentials · control and judgement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Content Credentials</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196</a:t>
            </a:r>
          </a:p>
        </p:txBody>
      </p:sp>
      <p:sp>
        <p:nvSpPr>
          <p:cNvPr id="11" name="Rounded Rectangle 10"/>
          <p:cNvSpPr/>
          <p:nvPr/>
        </p:nvSpPr>
        <p:spPr>
          <a:xfrm>
            <a:off x="6858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828800"/>
            <a:ext cx="3456432" cy="10972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224AF4"/>
                </a:solidFill>
                <a:latin typeface="Arial"/>
              </a:rPr>
              <a:t>CONTROL MAP</a:t>
            </a:r>
          </a:p>
        </p:txBody>
      </p:sp>
      <p:sp>
        <p:nvSpPr>
          <p:cNvPr id="14" name="TextBox 13"/>
          <p:cNvSpPr txBox="1"/>
          <p:nvPr/>
        </p:nvSpPr>
        <p:spPr>
          <a:xfrm>
            <a:off x="9235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Format · dimensions · profile · compression · metadata · Content Credentials</a:t>
            </a:r>
          </a:p>
        </p:txBody>
      </p:sp>
      <p:sp>
        <p:nvSpPr>
          <p:cNvPr id="15" name="Rounded Rectangle 14"/>
          <p:cNvSpPr/>
          <p:nvPr/>
        </p:nvSpPr>
        <p:spPr>
          <a:xfrm>
            <a:off x="43434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828800"/>
            <a:ext cx="3456432"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WATCH FOR</a:t>
            </a:r>
          </a:p>
        </p:txBody>
      </p:sp>
      <p:sp>
        <p:nvSpPr>
          <p:cNvPr id="18" name="TextBox 17"/>
          <p:cNvSpPr txBox="1"/>
          <p:nvPr/>
        </p:nvSpPr>
        <p:spPr>
          <a:xfrm>
            <a:off x="45811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Assuming an exported file is correct without reopening it.</a:t>
            </a:r>
          </a:p>
        </p:txBody>
      </p:sp>
      <p:sp>
        <p:nvSpPr>
          <p:cNvPr id="19" name="Rounded Rectangle 18"/>
          <p:cNvSpPr/>
          <p:nvPr/>
        </p:nvSpPr>
        <p:spPr>
          <a:xfrm>
            <a:off x="8001000" y="1828800"/>
            <a:ext cx="3456432" cy="32461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828800"/>
            <a:ext cx="3456432"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2148840"/>
            <a:ext cx="2944368" cy="32004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QUALITY PROOF</a:t>
            </a:r>
          </a:p>
        </p:txBody>
      </p:sp>
      <p:sp>
        <p:nvSpPr>
          <p:cNvPr id="22" name="TextBox 21"/>
          <p:cNvSpPr txBox="1"/>
          <p:nvPr/>
        </p:nvSpPr>
        <p:spPr>
          <a:xfrm>
            <a:off x="8238744" y="2697480"/>
            <a:ext cx="2944368" cy="1965960"/>
          </a:xfrm>
          <a:prstGeom prst="rect">
            <a:avLst/>
          </a:prstGeom>
          <a:noFill/>
        </p:spPr>
        <p:txBody>
          <a:bodyPr wrap="square" anchor="t" lIns="54864" rIns="54864" tIns="54864" bIns="54864">
            <a:spAutoFit/>
          </a:bodyPr>
          <a:lstStyle/>
          <a:p>
            <a:pPr algn="l">
              <a:spcAft>
                <a:spcPts val="0"/>
              </a:spcAft>
            </a:pPr>
            <a:r>
              <a:rPr sz="1600" b="1">
                <a:solidFill>
                  <a:srgbClr val="161920"/>
                </a:solidFill>
                <a:latin typeface="Arial"/>
              </a:rPr>
              <a:t>PSD, verified JPEG and provenance/read-me record form one evidence package.</a:t>
            </a:r>
          </a:p>
        </p:txBody>
      </p:sp>
      <p:sp>
        <p:nvSpPr>
          <p:cNvPr id="23" name="Rounded Rectangle 22"/>
          <p:cNvSpPr/>
          <p:nvPr/>
        </p:nvSpPr>
        <p:spPr>
          <a:xfrm>
            <a:off x="685800" y="5349240"/>
            <a:ext cx="10771632" cy="65836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22976"/>
            <a:ext cx="10287000" cy="274320"/>
          </a:xfrm>
          <a:prstGeom prst="rect">
            <a:avLst/>
          </a:prstGeom>
          <a:noFill/>
        </p:spPr>
        <p:txBody>
          <a:bodyPr wrap="square" anchor="t" lIns="54864" rIns="54864" tIns="54864" bIns="54864">
            <a:spAutoFit/>
          </a:bodyPr>
          <a:lstStyle/>
          <a:p>
            <a:pPr algn="ctr">
              <a:spcAft>
                <a:spcPts val="0"/>
              </a:spcAft>
            </a:pPr>
            <a:r>
              <a:rPr sz="1400" b="1">
                <a:solidFill>
                  <a:srgbClr val="FFFFFF"/>
                </a:solidFill>
                <a:latin typeface="Arial"/>
              </a:rPr>
              <a:t>Decision rule · preserve a baseline, isolate the intended change, then inspect at the delivery size.</a:t>
            </a:r>
          </a:p>
        </p:txBody>
      </p:sp>
    </p:spTree>
  </p:cSld>
  <p:transition spd="med" advClick="1">
    <p:fade/>
  </p:transition>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INPUT → DECISION → OUTPUT</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Worked Artifact · Output Verification and Content Credentials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Content Credentials</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197</a:t>
            </a:r>
          </a:p>
        </p:txBody>
      </p:sp>
      <p:sp>
        <p:nvSpPr>
          <p:cNvPr id="11" name="Rounded Rectangle 10"/>
          <p:cNvSpPr/>
          <p:nvPr/>
        </p:nvSpPr>
        <p:spPr>
          <a:xfrm>
            <a:off x="6583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2578608" cy="10972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11D74"/>
                </a:solidFill>
                <a:latin typeface="Arial"/>
              </a:rPr>
              <a:t>01 · INTENT</a:t>
            </a:r>
          </a:p>
        </p:txBody>
      </p:sp>
      <p:sp>
        <p:nvSpPr>
          <p:cNvPr id="14" name="TextBox 13"/>
          <p:cNvSpPr txBox="1"/>
          <p:nvPr/>
        </p:nvSpPr>
        <p:spPr>
          <a:xfrm>
            <a:off x="841247"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Hand-off to stakeholders, publication and audit-ready delivery.</a:t>
            </a:r>
          </a:p>
        </p:txBody>
      </p:sp>
      <p:sp>
        <p:nvSpPr>
          <p:cNvPr id="15" name="TextBox 14"/>
          <p:cNvSpPr txBox="1"/>
          <p:nvPr/>
        </p:nvSpPr>
        <p:spPr>
          <a:xfrm>
            <a:off x="32461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16" name="Rounded Rectangle 15"/>
          <p:cNvSpPr/>
          <p:nvPr/>
        </p:nvSpPr>
        <p:spPr>
          <a:xfrm>
            <a:off x="34015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1828800"/>
            <a:ext cx="257860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7C3AED"/>
                </a:solidFill>
                <a:latin typeface="Arial"/>
              </a:rPr>
              <a:t>02 · CONTROL SET</a:t>
            </a:r>
          </a:p>
        </p:txBody>
      </p:sp>
      <p:sp>
        <p:nvSpPr>
          <p:cNvPr id="19" name="TextBox 18"/>
          <p:cNvSpPr txBox="1"/>
          <p:nvPr/>
        </p:nvSpPr>
        <p:spPr>
          <a:xfrm>
            <a:off x="35844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Format · dimensions · profile · compression · metadata · Content Credentials</a:t>
            </a:r>
          </a:p>
        </p:txBody>
      </p:sp>
      <p:sp>
        <p:nvSpPr>
          <p:cNvPr id="20" name="TextBox 19"/>
          <p:cNvSpPr txBox="1"/>
          <p:nvPr/>
        </p:nvSpPr>
        <p:spPr>
          <a:xfrm>
            <a:off x="59893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1" name="Rounded Rectangle 20"/>
          <p:cNvSpPr/>
          <p:nvPr/>
        </p:nvSpPr>
        <p:spPr>
          <a:xfrm>
            <a:off x="61447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44768" y="1828800"/>
            <a:ext cx="2578608" cy="10972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009A78"/>
                </a:solidFill>
                <a:latin typeface="Arial"/>
              </a:rPr>
              <a:t>03 · REVIEW GATE</a:t>
            </a:r>
          </a:p>
        </p:txBody>
      </p:sp>
      <p:sp>
        <p:nvSpPr>
          <p:cNvPr id="24" name="TextBox 23"/>
          <p:cNvSpPr txBox="1"/>
          <p:nvPr/>
        </p:nvSpPr>
        <p:spPr>
          <a:xfrm>
            <a:off x="63276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Assuming an exported file is correct without reopening it.</a:t>
            </a:r>
          </a:p>
        </p:txBody>
      </p:sp>
      <p:sp>
        <p:nvSpPr>
          <p:cNvPr id="25" name="TextBox 24"/>
          <p:cNvSpPr txBox="1"/>
          <p:nvPr/>
        </p:nvSpPr>
        <p:spPr>
          <a:xfrm>
            <a:off x="8732520" y="3200400"/>
            <a:ext cx="146304" cy="365760"/>
          </a:xfrm>
          <a:prstGeom prst="rect">
            <a:avLst/>
          </a:prstGeom>
          <a:noFill/>
        </p:spPr>
        <p:txBody>
          <a:bodyPr wrap="square" anchor="t" lIns="54864" rIns="54864" tIns="54864" bIns="54864">
            <a:spAutoFit/>
          </a:bodyPr>
          <a:lstStyle/>
          <a:p>
            <a:pPr algn="ctr">
              <a:spcAft>
                <a:spcPts val="0"/>
              </a:spcAft>
            </a:pPr>
            <a:r>
              <a:rPr sz="2600" b="1">
                <a:solidFill>
                  <a:srgbClr val="5B6372"/>
                </a:solidFill>
                <a:latin typeface="Arial"/>
              </a:rPr>
              <a:t>›</a:t>
            </a:r>
          </a:p>
        </p:txBody>
      </p:sp>
      <p:sp>
        <p:nvSpPr>
          <p:cNvPr id="26" name="Rounded Rectangle 25"/>
          <p:cNvSpPr/>
          <p:nvPr/>
        </p:nvSpPr>
        <p:spPr>
          <a:xfrm>
            <a:off x="8887968" y="1828800"/>
            <a:ext cx="2578608" cy="352044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87968" y="1828800"/>
            <a:ext cx="2578608" cy="10972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0848" y="2121408"/>
            <a:ext cx="2212848" cy="411480"/>
          </a:xfrm>
          <a:prstGeom prst="rect">
            <a:avLst/>
          </a:prstGeom>
          <a:noFill/>
        </p:spPr>
        <p:txBody>
          <a:bodyPr wrap="square" anchor="t" lIns="54864" rIns="54864" tIns="54864" bIns="54864">
            <a:spAutoFit/>
          </a:bodyPr>
          <a:lstStyle/>
          <a:p>
            <a:pPr algn="l">
              <a:spcAft>
                <a:spcPts val="0"/>
              </a:spcAft>
            </a:pPr>
            <a:r>
              <a:rPr sz="1200" b="1">
                <a:solidFill>
                  <a:srgbClr val="E98500"/>
                </a:solidFill>
                <a:latin typeface="Arial"/>
              </a:rPr>
              <a:t>04 · RETAINED EVIDENCE</a:t>
            </a:r>
          </a:p>
        </p:txBody>
      </p:sp>
      <p:sp>
        <p:nvSpPr>
          <p:cNvPr id="29" name="TextBox 28"/>
          <p:cNvSpPr txBox="1"/>
          <p:nvPr/>
        </p:nvSpPr>
        <p:spPr>
          <a:xfrm>
            <a:off x="9070848" y="2688336"/>
            <a:ext cx="2212848" cy="2057400"/>
          </a:xfrm>
          <a:prstGeom prst="rect">
            <a:avLst/>
          </a:prstGeom>
          <a:noFill/>
        </p:spPr>
        <p:txBody>
          <a:bodyPr wrap="square" anchor="t" lIns="54864" rIns="54864" tIns="54864" bIns="54864">
            <a:spAutoFit/>
          </a:bodyPr>
          <a:lstStyle/>
          <a:p>
            <a:pPr algn="l">
              <a:spcAft>
                <a:spcPts val="0"/>
              </a:spcAft>
            </a:pPr>
            <a:r>
              <a:rPr sz="1400" b="0">
                <a:solidFill>
                  <a:srgbClr val="161920"/>
                </a:solidFill>
                <a:latin typeface="Arial"/>
              </a:rPr>
              <a:t>PSD, verified JPEG and provenance/read-me record form one evidence package.</a:t>
            </a:r>
          </a:p>
        </p:txBody>
      </p:sp>
      <p:sp>
        <p:nvSpPr>
          <p:cNvPr id="30" name="Rounded Rectangle 29"/>
          <p:cNvSpPr/>
          <p:nvPr/>
        </p:nvSpPr>
        <p:spPr>
          <a:xfrm>
            <a:off x="804672" y="5532120"/>
            <a:ext cx="10561320" cy="530352"/>
          </a:xfrm>
          <a:prstGeom prst="roundRect">
            <a:avLst/>
          </a:prstGeom>
          <a:solidFill>
            <a:srgbClr val="FFFFFF"/>
          </a:solidFill>
          <a:ln>
            <a:solidFill>
              <a:srgbClr val="E11D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650992"/>
            <a:ext cx="10241280" cy="246888"/>
          </a:xfrm>
          <a:prstGeom prst="rect">
            <a:avLst/>
          </a:prstGeom>
          <a:noFill/>
        </p:spPr>
        <p:txBody>
          <a:bodyPr wrap="square" anchor="t" lIns="54864" rIns="54864" tIns="54864" bIns="54864">
            <a:spAutoFit/>
          </a:bodyPr>
          <a:lstStyle/>
          <a:p>
            <a:pPr algn="ctr">
              <a:spcAft>
                <a:spcPts val="0"/>
              </a:spcAft>
            </a:pPr>
            <a:r>
              <a:rPr sz="1250" b="1">
                <a:solidFill>
                  <a:srgbClr val="E11D74"/>
                </a:solidFill>
                <a:latin typeface="Arial"/>
              </a:rPr>
              <a:t>Acceptance trace: explain the final visual from intent, through named controls, to retained evidence.</a:t>
            </a:r>
          </a:p>
        </p:txBody>
      </p:sp>
    </p:spTree>
  </p:cSld>
  <p:transition spd="med" advClick="1">
    <p:fade/>
  </p:transition>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7C3AED"/>
                </a:solidFill>
                <a:latin typeface="Arial"/>
              </a:rPr>
              <a:t>CONTROL SURFACE + CANVAS + PROOF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Annotated Decision Model · Output Verification and Content Credentials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Content Credentials</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198</a:t>
            </a:r>
          </a:p>
        </p:txBody>
      </p:sp>
      <p:sp>
        <p:nvSpPr>
          <p:cNvPr id="11" name="Rounded Rectangle 10"/>
          <p:cNvSpPr/>
          <p:nvPr/>
        </p:nvSpPr>
        <p:spPr>
          <a:xfrm>
            <a:off x="658368" y="1783080"/>
            <a:ext cx="2743200" cy="4224528"/>
          </a:xfrm>
          <a:prstGeom prst="roundRect">
            <a:avLst/>
          </a:prstGeom>
          <a:solidFill>
            <a:srgbClr val="16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975104"/>
            <a:ext cx="2304288" cy="310896"/>
          </a:xfrm>
          <a:prstGeom prst="rect">
            <a:avLst/>
          </a:prstGeom>
          <a:noFill/>
        </p:spPr>
        <p:txBody>
          <a:bodyPr wrap="square" anchor="t" lIns="54864" rIns="54864" tIns="54864" bIns="54864">
            <a:spAutoFit/>
          </a:bodyPr>
          <a:lstStyle/>
          <a:p>
            <a:pPr algn="l">
              <a:spcAft>
                <a:spcPts val="0"/>
              </a:spcAft>
            </a:pPr>
            <a:r>
              <a:rPr sz="1300" b="1">
                <a:solidFill>
                  <a:srgbClr val="FFFFFF"/>
                </a:solidFill>
                <a:latin typeface="Arial"/>
              </a:rPr>
              <a:t>CONTROL SURFACE</a:t>
            </a:r>
          </a:p>
        </p:txBody>
      </p:sp>
      <p:sp>
        <p:nvSpPr>
          <p:cNvPr id="13" name="Rounded Rectangle 12"/>
          <p:cNvSpPr/>
          <p:nvPr/>
        </p:nvSpPr>
        <p:spPr>
          <a:xfrm>
            <a:off x="896112" y="2514600"/>
            <a:ext cx="384048" cy="384048"/>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78608"/>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1</a:t>
            </a:r>
          </a:p>
        </p:txBody>
      </p:sp>
      <p:sp>
        <p:nvSpPr>
          <p:cNvPr id="15" name="TextBox 14"/>
          <p:cNvSpPr txBox="1"/>
          <p:nvPr/>
        </p:nvSpPr>
        <p:spPr>
          <a:xfrm>
            <a:off x="1408176" y="2532888"/>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Format</a:t>
            </a:r>
          </a:p>
        </p:txBody>
      </p:sp>
      <p:sp>
        <p:nvSpPr>
          <p:cNvPr id="16" name="Rounded Rectangle 15"/>
          <p:cNvSpPr/>
          <p:nvPr/>
        </p:nvSpPr>
        <p:spPr>
          <a:xfrm>
            <a:off x="896112" y="3099816"/>
            <a:ext cx="384048"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163824"/>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2</a:t>
            </a:r>
          </a:p>
        </p:txBody>
      </p:sp>
      <p:sp>
        <p:nvSpPr>
          <p:cNvPr id="18" name="TextBox 17"/>
          <p:cNvSpPr txBox="1"/>
          <p:nvPr/>
        </p:nvSpPr>
        <p:spPr>
          <a:xfrm>
            <a:off x="1408176" y="3118104"/>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dimensions</a:t>
            </a:r>
          </a:p>
        </p:txBody>
      </p:sp>
      <p:sp>
        <p:nvSpPr>
          <p:cNvPr id="19" name="Rounded Rectangle 18"/>
          <p:cNvSpPr/>
          <p:nvPr/>
        </p:nvSpPr>
        <p:spPr>
          <a:xfrm>
            <a:off x="896112" y="3685032"/>
            <a:ext cx="384048" cy="38404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49040"/>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3</a:t>
            </a:r>
          </a:p>
        </p:txBody>
      </p:sp>
      <p:sp>
        <p:nvSpPr>
          <p:cNvPr id="21" name="TextBox 20"/>
          <p:cNvSpPr txBox="1"/>
          <p:nvPr/>
        </p:nvSpPr>
        <p:spPr>
          <a:xfrm>
            <a:off x="1408176" y="3703320"/>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profile</a:t>
            </a:r>
          </a:p>
        </p:txBody>
      </p:sp>
      <p:sp>
        <p:nvSpPr>
          <p:cNvPr id="22" name="Rounded Rectangle 21"/>
          <p:cNvSpPr/>
          <p:nvPr/>
        </p:nvSpPr>
        <p:spPr>
          <a:xfrm>
            <a:off x="896112" y="4270248"/>
            <a:ext cx="384048" cy="38404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334256"/>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4</a:t>
            </a:r>
          </a:p>
        </p:txBody>
      </p:sp>
      <p:sp>
        <p:nvSpPr>
          <p:cNvPr id="24" name="TextBox 23"/>
          <p:cNvSpPr txBox="1"/>
          <p:nvPr/>
        </p:nvSpPr>
        <p:spPr>
          <a:xfrm>
            <a:off x="1408176" y="4288536"/>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compression</a:t>
            </a:r>
          </a:p>
        </p:txBody>
      </p:sp>
      <p:sp>
        <p:nvSpPr>
          <p:cNvPr id="25" name="Rounded Rectangle 24"/>
          <p:cNvSpPr/>
          <p:nvPr/>
        </p:nvSpPr>
        <p:spPr>
          <a:xfrm>
            <a:off x="896112" y="4855464"/>
            <a:ext cx="384048" cy="38404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19472"/>
            <a:ext cx="384048" cy="182880"/>
          </a:xfrm>
          <a:prstGeom prst="rect">
            <a:avLst/>
          </a:prstGeom>
          <a:noFill/>
        </p:spPr>
        <p:txBody>
          <a:bodyPr wrap="square" anchor="t" lIns="54864" rIns="54864" tIns="54864" bIns="54864">
            <a:spAutoFit/>
          </a:bodyPr>
          <a:lstStyle/>
          <a:p>
            <a:pPr algn="ctr">
              <a:spcAft>
                <a:spcPts val="0"/>
              </a:spcAft>
            </a:pPr>
            <a:r>
              <a:rPr sz="900" b="1">
                <a:solidFill>
                  <a:srgbClr val="FFFFFF"/>
                </a:solidFill>
                <a:latin typeface="Arial"/>
              </a:rPr>
              <a:t>5</a:t>
            </a:r>
          </a:p>
        </p:txBody>
      </p:sp>
      <p:sp>
        <p:nvSpPr>
          <p:cNvPr id="27" name="TextBox 26"/>
          <p:cNvSpPr txBox="1"/>
          <p:nvPr/>
        </p:nvSpPr>
        <p:spPr>
          <a:xfrm>
            <a:off x="1408176" y="4873752"/>
            <a:ext cx="1700784" cy="310896"/>
          </a:xfrm>
          <a:prstGeom prst="rect">
            <a:avLst/>
          </a:prstGeom>
          <a:noFill/>
        </p:spPr>
        <p:txBody>
          <a:bodyPr wrap="square" anchor="t" lIns="54864" rIns="54864" tIns="54864" bIns="54864">
            <a:spAutoFit/>
          </a:bodyPr>
          <a:lstStyle/>
          <a:p>
            <a:pPr algn="l">
              <a:spcAft>
                <a:spcPts val="0"/>
              </a:spcAft>
            </a:pPr>
            <a:r>
              <a:rPr sz="1150" b="1">
                <a:solidFill>
                  <a:srgbClr val="FFFFFF"/>
                </a:solidFill>
                <a:latin typeface="Arial"/>
              </a:rPr>
              <a:t>metadata</a:t>
            </a:r>
          </a:p>
        </p:txBody>
      </p:sp>
      <p:sp>
        <p:nvSpPr>
          <p:cNvPr id="28" name="Rounded Rectangle 27"/>
          <p:cNvSpPr/>
          <p:nvPr/>
        </p:nvSpPr>
        <p:spPr>
          <a:xfrm>
            <a:off x="3730752" y="1783080"/>
            <a:ext cx="4645152" cy="4224528"/>
          </a:xfrm>
          <a:prstGeom prst="roundRect">
            <a:avLst/>
          </a:prstGeom>
          <a:solidFill>
            <a:srgbClr val="FFFFFF"/>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959352" y="2011680"/>
            <a:ext cx="4187952" cy="278892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24528" y="2304288"/>
            <a:ext cx="3657600" cy="420624"/>
          </a:xfrm>
          <a:prstGeom prst="rect">
            <a:avLst/>
          </a:prstGeom>
          <a:noFill/>
        </p:spPr>
        <p:txBody>
          <a:bodyPr wrap="square" anchor="t" lIns="54864" rIns="54864" tIns="54864" bIns="54864">
            <a:spAutoFit/>
          </a:bodyPr>
          <a:lstStyle/>
          <a:p>
            <a:pPr algn="ctr">
              <a:spcAft>
                <a:spcPts val="0"/>
              </a:spcAft>
            </a:pPr>
            <a:r>
              <a:rPr sz="1400" b="1">
                <a:solidFill>
                  <a:srgbClr val="7C3AED"/>
                </a:solidFill>
                <a:latin typeface="Arial"/>
              </a:rPr>
              <a:t>EDITABLE CANVAS / OUTPUT STATE</a:t>
            </a:r>
          </a:p>
        </p:txBody>
      </p:sp>
      <p:sp>
        <p:nvSpPr>
          <p:cNvPr id="31" name="TextBox 30"/>
          <p:cNvSpPr txBox="1"/>
          <p:nvPr/>
        </p:nvSpPr>
        <p:spPr>
          <a:xfrm>
            <a:off x="4261104" y="2944368"/>
            <a:ext cx="3584448" cy="1097280"/>
          </a:xfrm>
          <a:prstGeom prst="rect">
            <a:avLst/>
          </a:prstGeom>
          <a:noFill/>
        </p:spPr>
        <p:txBody>
          <a:bodyPr wrap="square" anchor="ctr" lIns="54864" rIns="54864" tIns="54864" bIns="54864">
            <a:spAutoFit/>
          </a:bodyPr>
          <a:lstStyle/>
          <a:p>
            <a:pPr algn="ctr">
              <a:spcAft>
                <a:spcPts val="0"/>
              </a:spcAft>
            </a:pPr>
            <a:r>
              <a:rPr sz="1400" b="0">
                <a:solidFill>
                  <a:srgbClr val="161920"/>
                </a:solidFill>
                <a:latin typeface="Arial"/>
              </a:rPr>
              <a:t>Professional delivery includes export settings, reopen checks, provenance and a retained editable master.</a:t>
            </a:r>
          </a:p>
        </p:txBody>
      </p:sp>
      <p:sp>
        <p:nvSpPr>
          <p:cNvPr id="32" name="Rounded Rectangle 31"/>
          <p:cNvSpPr/>
          <p:nvPr/>
        </p:nvSpPr>
        <p:spPr>
          <a:xfrm>
            <a:off x="3959352" y="4992624"/>
            <a:ext cx="4187952" cy="713232"/>
          </a:xfrm>
          <a:prstGeom prst="roundRect">
            <a:avLst/>
          </a:prstGeom>
          <a:solidFill>
            <a:srgbClr val="E9F8F3"/>
          </a:solidFill>
          <a:ln>
            <a:solidFill>
              <a:srgbClr val="009A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60520" y="5175504"/>
            <a:ext cx="3785615" cy="292608"/>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Inspect at working view and delivery view</a:t>
            </a:r>
          </a:p>
        </p:txBody>
      </p:sp>
      <p:sp>
        <p:nvSpPr>
          <p:cNvPr id="34" name="Rounded Rectangle 33"/>
          <p:cNvSpPr/>
          <p:nvPr/>
        </p:nvSpPr>
        <p:spPr>
          <a:xfrm>
            <a:off x="8705088" y="1783080"/>
            <a:ext cx="2578608" cy="42245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42832" y="1993392"/>
            <a:ext cx="2103120" cy="310896"/>
          </a:xfrm>
          <a:prstGeom prst="rect">
            <a:avLst/>
          </a:prstGeom>
          <a:noFill/>
        </p:spPr>
        <p:txBody>
          <a:bodyPr wrap="square" anchor="t" lIns="54864" rIns="54864" tIns="54864" bIns="54864">
            <a:spAutoFit/>
          </a:bodyPr>
          <a:lstStyle/>
          <a:p>
            <a:pPr algn="l">
              <a:spcAft>
                <a:spcPts val="0"/>
              </a:spcAft>
            </a:pPr>
            <a:r>
              <a:rPr sz="1300" b="1">
                <a:solidFill>
                  <a:srgbClr val="7C3AED"/>
                </a:solidFill>
                <a:latin typeface="Arial"/>
              </a:rPr>
              <a:t>PROOF PANEL</a:t>
            </a:r>
          </a:p>
        </p:txBody>
      </p:sp>
      <p:sp>
        <p:nvSpPr>
          <p:cNvPr id="36" name="TextBox 35"/>
          <p:cNvSpPr txBox="1"/>
          <p:nvPr/>
        </p:nvSpPr>
        <p:spPr>
          <a:xfrm>
            <a:off x="8942832" y="2542032"/>
            <a:ext cx="2103120" cy="1965960"/>
          </a:xfrm>
          <a:prstGeom prst="rect">
            <a:avLst/>
          </a:prstGeom>
          <a:noFill/>
        </p:spPr>
        <p:txBody>
          <a:bodyPr wrap="square" anchor="t" lIns="54864" rIns="54864" tIns="54864" bIns="54864">
            <a:spAutoFit/>
          </a:bodyPr>
          <a:lstStyle/>
          <a:p>
            <a:pPr algn="l">
              <a:spcAft>
                <a:spcPts val="0"/>
              </a:spcAft>
            </a:pPr>
            <a:r>
              <a:rPr sz="1300" b="0">
                <a:solidFill>
                  <a:srgbClr val="161920"/>
                </a:solidFill>
                <a:latin typeface="Arial"/>
              </a:rPr>
              <a:t>PSD, verified JPEG and provenance/read-me record form one evidence package.</a:t>
            </a:r>
          </a:p>
        </p:txBody>
      </p:sp>
      <p:sp>
        <p:nvSpPr>
          <p:cNvPr id="37" name="TextBox 36"/>
          <p:cNvSpPr txBox="1"/>
          <p:nvPr/>
        </p:nvSpPr>
        <p:spPr>
          <a:xfrm>
            <a:off x="8942832" y="4892040"/>
            <a:ext cx="2103120" cy="603504"/>
          </a:xfrm>
          <a:prstGeom prst="rect">
            <a:avLst/>
          </a:prstGeom>
          <a:noFill/>
        </p:spPr>
        <p:txBody>
          <a:bodyPr wrap="square" anchor="t" lIns="54864" rIns="54864" tIns="54864" bIns="54864">
            <a:spAutoFit/>
          </a:bodyPr>
          <a:lstStyle/>
          <a:p>
            <a:pPr algn="l">
              <a:spcAft>
                <a:spcPts val="0"/>
              </a:spcAft>
            </a:pPr>
            <a:r>
              <a:rPr sz="1150" b="1">
                <a:solidFill>
                  <a:srgbClr val="5B6372"/>
                </a:solidFill>
                <a:latin typeface="Arial"/>
              </a:rPr>
              <a:t>Keep source, selected state and export together.</a:t>
            </a:r>
          </a:p>
        </p:txBody>
      </p:sp>
    </p:spTree>
  </p:cSld>
  <p:transition spd="med" advClick="1">
    <p:fade/>
  </p:transition>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SYMPTOM → CAUSE → CORRECTION → VERIFY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300" b="1">
                <a:solidFill>
                  <a:srgbClr val="161920"/>
                </a:solidFill>
                <a:latin typeface="Arial"/>
              </a:rPr>
              <a:t>Diagnostic · Output Verification and Content Credentials</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Content Credentials</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199</a:t>
            </a:r>
          </a:p>
        </p:txBody>
      </p:sp>
      <p:sp>
        <p:nvSpPr>
          <p:cNvPr id="11" name="Rounded Rectangle 10"/>
          <p:cNvSpPr/>
          <p:nvPr/>
        </p:nvSpPr>
        <p:spPr>
          <a:xfrm>
            <a:off x="713232" y="1737360"/>
            <a:ext cx="1417320" cy="749808"/>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65960"/>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OBSERVE</a:t>
            </a:r>
          </a:p>
        </p:txBody>
      </p:sp>
      <p:sp>
        <p:nvSpPr>
          <p:cNvPr id="13" name="Rounded Rectangle 12"/>
          <p:cNvSpPr/>
          <p:nvPr/>
        </p:nvSpPr>
        <p:spPr>
          <a:xfrm>
            <a:off x="2304288" y="1737360"/>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Assuming an exported file is correct without reopening it.</a:t>
            </a:r>
          </a:p>
        </p:txBody>
      </p:sp>
      <p:sp>
        <p:nvSpPr>
          <p:cNvPr id="15" name="Rounded Rectangle 14"/>
          <p:cNvSpPr/>
          <p:nvPr/>
        </p:nvSpPr>
        <p:spPr>
          <a:xfrm>
            <a:off x="713232" y="2807208"/>
            <a:ext cx="1417320" cy="749808"/>
          </a:xfrm>
          <a:prstGeom prst="round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035808"/>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ISOLATE</a:t>
            </a:r>
          </a:p>
        </p:txBody>
      </p:sp>
      <p:sp>
        <p:nvSpPr>
          <p:cNvPr id="17" name="Rounded Rectangle 16"/>
          <p:cNvSpPr/>
          <p:nvPr/>
        </p:nvSpPr>
        <p:spPr>
          <a:xfrm>
            <a:off x="2304288" y="2807208"/>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32888" y="2944368"/>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Hold the brief and baseline constant; inspect: Format · dimensions · profile · compression · metadata · Content Credentials.</a:t>
            </a:r>
          </a:p>
        </p:txBody>
      </p:sp>
      <p:sp>
        <p:nvSpPr>
          <p:cNvPr id="19" name="Rounded Rectangle 18"/>
          <p:cNvSpPr/>
          <p:nvPr/>
        </p:nvSpPr>
        <p:spPr>
          <a:xfrm>
            <a:off x="713232" y="3877056"/>
            <a:ext cx="1417320" cy="749808"/>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105656"/>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CORRECT</a:t>
            </a:r>
          </a:p>
        </p:txBody>
      </p:sp>
      <p:sp>
        <p:nvSpPr>
          <p:cNvPr id="21" name="Rounded Rectangle 20"/>
          <p:cNvSpPr/>
          <p:nvPr/>
        </p:nvSpPr>
        <p:spPr>
          <a:xfrm>
            <a:off x="2304288" y="3877056"/>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32888" y="4014216"/>
            <a:ext cx="8503920" cy="475488"/>
          </a:xfrm>
          <a:prstGeom prst="rect">
            <a:avLst/>
          </a:prstGeom>
          <a:noFill/>
        </p:spPr>
        <p:txBody>
          <a:bodyPr wrap="square" anchor="t" lIns="54864" rIns="54864" tIns="54864" bIns="54864">
            <a:spAutoFit/>
          </a:bodyPr>
          <a:lstStyle/>
          <a:p>
            <a:pPr algn="l">
              <a:spcAft>
                <a:spcPts val="0"/>
              </a:spcAft>
            </a:pPr>
            <a:r>
              <a:rPr sz="1250" b="0">
                <a:solidFill>
                  <a:srgbClr val="161920"/>
                </a:solidFill>
                <a:latin typeface="Arial"/>
              </a:rPr>
              <a:t>Change one control, preserve the editable source, and revise only the affected state.</a:t>
            </a:r>
          </a:p>
        </p:txBody>
      </p:sp>
      <p:sp>
        <p:nvSpPr>
          <p:cNvPr id="23" name="Rounded Rectangle 22"/>
          <p:cNvSpPr/>
          <p:nvPr/>
        </p:nvSpPr>
        <p:spPr>
          <a:xfrm>
            <a:off x="713232" y="4946904"/>
            <a:ext cx="1417320" cy="749808"/>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1307592" cy="256032"/>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VERIFY</a:t>
            </a:r>
          </a:p>
        </p:txBody>
      </p:sp>
      <p:sp>
        <p:nvSpPr>
          <p:cNvPr id="25" name="Rounded Rectangle 24"/>
          <p:cNvSpPr/>
          <p:nvPr/>
        </p:nvSpPr>
        <p:spPr>
          <a:xfrm>
            <a:off x="2304288" y="4946904"/>
            <a:ext cx="8979408" cy="7498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32888" y="5084064"/>
            <a:ext cx="8503920" cy="475488"/>
          </a:xfrm>
          <a:prstGeom prst="rect">
            <a:avLst/>
          </a:prstGeom>
          <a:noFill/>
        </p:spPr>
        <p:txBody>
          <a:bodyPr wrap="square" anchor="t" lIns="54864" rIns="54864" tIns="54864" bIns="54864">
            <a:spAutoFit/>
          </a:bodyPr>
          <a:lstStyle/>
          <a:p>
            <a:pPr algn="l">
              <a:spcAft>
                <a:spcPts val="0"/>
              </a:spcAft>
            </a:pPr>
            <a:r>
              <a:rPr sz="1250" b="1">
                <a:solidFill>
                  <a:srgbClr val="161920"/>
                </a:solidFill>
                <a:latin typeface="Arial"/>
              </a:rPr>
              <a:t>PSD, verified JPEG and provenance/read-me record form one evidence package.</a:t>
            </a:r>
          </a:p>
        </p:txBody>
      </p:sp>
      <p:sp>
        <p:nvSpPr>
          <p:cNvPr id="27" name="TextBox 26"/>
          <p:cNvSpPr txBox="1"/>
          <p:nvPr/>
        </p:nvSpPr>
        <p:spPr>
          <a:xfrm>
            <a:off x="822960" y="6117336"/>
            <a:ext cx="10332720" cy="228600"/>
          </a:xfrm>
          <a:prstGeom prst="rect">
            <a:avLst/>
          </a:prstGeom>
          <a:noFill/>
        </p:spPr>
        <p:txBody>
          <a:bodyPr wrap="square" anchor="t" lIns="54864" rIns="54864" tIns="54864" bIns="54864">
            <a:spAutoFit/>
          </a:bodyPr>
          <a:lstStyle/>
          <a:p>
            <a:pPr algn="ctr">
              <a:spcAft>
                <a:spcPts val="0"/>
              </a:spcAft>
            </a:pPr>
            <a:r>
              <a:rPr sz="1150" b="1">
                <a:solidFill>
                  <a:srgbClr val="009A78"/>
                </a:solidFill>
                <a:latin typeface="Arial"/>
              </a:rPr>
              <a:t>Accept only when the defect is reduced and protected content remains intact.</a:t>
            </a:r>
          </a:p>
        </p:txBody>
      </p:sp>
    </p:spTree>
  </p:cSld>
  <p:transition spd="med" advClick="1">
    <p:fade/>
  </p:transition>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HANDS-ON APPLICATION · TOPIC 4</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Lab 09 · Restoration, Critique and Colour Strategy</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200</a:t>
            </a:r>
          </a:p>
        </p:txBody>
      </p:sp>
      <p:sp>
        <p:nvSpPr>
          <p:cNvPr id="10" name="Rounded Rectangle 9"/>
          <p:cNvSpPr/>
          <p:nvPr/>
        </p:nvSpPr>
        <p:spPr>
          <a:xfrm>
            <a:off x="685800" y="1755648"/>
            <a:ext cx="3749039" cy="4462272"/>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model.jpeg"/>
          <p:cNvPicPr>
            <a:picLocks noChangeAspect="1"/>
          </p:cNvPicPr>
          <p:nvPr/>
        </p:nvPicPr>
        <p:blipFill>
          <a:blip r:embed="rId2"/>
          <a:srcRect l="7578" r="7578"/>
          <a:stretch>
            <a:fillRect/>
          </a:stretch>
        </p:blipFill>
        <p:spPr>
          <a:xfrm>
            <a:off x="758952" y="1828800"/>
            <a:ext cx="3602736" cy="2834640"/>
          </a:xfrm>
          <a:prstGeom prst="rect">
            <a:avLst/>
          </a:prstGeom>
        </p:spPr>
      </p:pic>
      <p:sp>
        <p:nvSpPr>
          <p:cNvPr id="12" name="TextBox 11"/>
          <p:cNvSpPr txBox="1"/>
          <p:nvPr/>
        </p:nvSpPr>
        <p:spPr>
          <a:xfrm>
            <a:off x="914400" y="4892040"/>
            <a:ext cx="3246120" cy="1024128"/>
          </a:xfrm>
          <a:prstGeom prst="rect">
            <a:avLst/>
          </a:prstGeom>
          <a:noFill/>
        </p:spPr>
        <p:txBody>
          <a:bodyPr wrap="square" anchor="t" lIns="54864" rIns="54864" tIns="54864" bIns="54864">
            <a:spAutoFit/>
          </a:bodyPr>
          <a:lstStyle/>
          <a:p>
            <a:pPr algn="l">
              <a:spcAft>
                <a:spcPts val="0"/>
              </a:spcAft>
            </a:pPr>
            <a:r>
              <a:rPr sz="1220" b="0">
                <a:solidFill>
                  <a:srgbClr val="5B6372"/>
                </a:solidFill>
                <a:latin typeface="Arial"/>
              </a:rPr>
              <a:t>An archive image will support a heritage-wellness story but must not imply certainty where AI reconstructs missing detail.</a:t>
            </a:r>
          </a:p>
        </p:txBody>
      </p:sp>
      <p:sp>
        <p:nvSpPr>
          <p:cNvPr id="13" name="TextBox 12"/>
          <p:cNvSpPr txBox="1"/>
          <p:nvPr/>
        </p:nvSpPr>
        <p:spPr>
          <a:xfrm>
            <a:off x="4709160" y="1783080"/>
            <a:ext cx="6537960" cy="658368"/>
          </a:xfrm>
          <a:prstGeom prst="rect">
            <a:avLst/>
          </a:prstGeom>
          <a:noFill/>
        </p:spPr>
        <p:txBody>
          <a:bodyPr wrap="square" anchor="t" lIns="54864" rIns="54864" tIns="54864" bIns="54864">
            <a:spAutoFit/>
          </a:bodyPr>
          <a:lstStyle/>
          <a:p>
            <a:pPr algn="l">
              <a:spcAft>
                <a:spcPts val="0"/>
              </a:spcAft>
            </a:pPr>
            <a:r>
              <a:rPr sz="1500" b="1">
                <a:solidFill>
                  <a:srgbClr val="161920"/>
                </a:solidFill>
                <a:latin typeface="Arial"/>
              </a:rPr>
              <a:t>Restore a damaged image, evaluate invented detail and develop a reversible colour treatment.</a:t>
            </a:r>
          </a:p>
        </p:txBody>
      </p:sp>
      <p:sp>
        <p:nvSpPr>
          <p:cNvPr id="14" name="Rounded Rectangle 13"/>
          <p:cNvSpPr/>
          <p:nvPr/>
        </p:nvSpPr>
        <p:spPr>
          <a:xfrm>
            <a:off x="470916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818888" y="2816352"/>
            <a:ext cx="402336" cy="402336"/>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888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1</a:t>
            </a:r>
          </a:p>
        </p:txBody>
      </p:sp>
      <p:sp>
        <p:nvSpPr>
          <p:cNvPr id="17" name="TextBox 16"/>
          <p:cNvSpPr txBox="1"/>
          <p:nvPr/>
        </p:nvSpPr>
        <p:spPr>
          <a:xfrm>
            <a:off x="4800600"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Analyse</a:t>
            </a:r>
          </a:p>
        </p:txBody>
      </p:sp>
      <p:sp>
        <p:nvSpPr>
          <p:cNvPr id="18" name="Rounded Rectangle 17"/>
          <p:cNvSpPr/>
          <p:nvPr/>
        </p:nvSpPr>
        <p:spPr>
          <a:xfrm>
            <a:off x="603504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144768" y="2816352"/>
            <a:ext cx="402336" cy="402336"/>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4476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2</a:t>
            </a:r>
          </a:p>
        </p:txBody>
      </p:sp>
      <p:sp>
        <p:nvSpPr>
          <p:cNvPr id="21" name="TextBox 20"/>
          <p:cNvSpPr txBox="1"/>
          <p:nvPr/>
        </p:nvSpPr>
        <p:spPr>
          <a:xfrm>
            <a:off x="6126479"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Choose</a:t>
            </a:r>
          </a:p>
        </p:txBody>
      </p:sp>
      <p:sp>
        <p:nvSpPr>
          <p:cNvPr id="22" name="Rounded Rectangle 21"/>
          <p:cNvSpPr/>
          <p:nvPr/>
        </p:nvSpPr>
        <p:spPr>
          <a:xfrm>
            <a:off x="736092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470648" y="2816352"/>
            <a:ext cx="402336" cy="402336"/>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7064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3</a:t>
            </a:r>
          </a:p>
        </p:txBody>
      </p:sp>
      <p:sp>
        <p:nvSpPr>
          <p:cNvPr id="25" name="TextBox 24"/>
          <p:cNvSpPr txBox="1"/>
          <p:nvPr/>
        </p:nvSpPr>
        <p:spPr>
          <a:xfrm>
            <a:off x="7452360"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Apply</a:t>
            </a:r>
          </a:p>
        </p:txBody>
      </p:sp>
      <p:sp>
        <p:nvSpPr>
          <p:cNvPr id="26" name="Rounded Rectangle 25"/>
          <p:cNvSpPr/>
          <p:nvPr/>
        </p:nvSpPr>
        <p:spPr>
          <a:xfrm>
            <a:off x="868680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796528" y="2816352"/>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9652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4</a:t>
            </a:r>
          </a:p>
        </p:txBody>
      </p:sp>
      <p:sp>
        <p:nvSpPr>
          <p:cNvPr id="29" name="TextBox 28"/>
          <p:cNvSpPr txBox="1"/>
          <p:nvPr/>
        </p:nvSpPr>
        <p:spPr>
          <a:xfrm>
            <a:off x="8778240"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Inspect</a:t>
            </a:r>
          </a:p>
        </p:txBody>
      </p:sp>
      <p:sp>
        <p:nvSpPr>
          <p:cNvPr id="30" name="Rounded Rectangle 29"/>
          <p:cNvSpPr/>
          <p:nvPr/>
        </p:nvSpPr>
        <p:spPr>
          <a:xfrm>
            <a:off x="1001268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22407" y="2816352"/>
            <a:ext cx="402336" cy="402336"/>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122407"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5</a:t>
            </a:r>
          </a:p>
        </p:txBody>
      </p:sp>
      <p:sp>
        <p:nvSpPr>
          <p:cNvPr id="33" name="TextBox 32"/>
          <p:cNvSpPr txBox="1"/>
          <p:nvPr/>
        </p:nvSpPr>
        <p:spPr>
          <a:xfrm>
            <a:off x="10104119"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Evidence</a:t>
            </a:r>
          </a:p>
        </p:txBody>
      </p:sp>
      <p:sp>
        <p:nvSpPr>
          <p:cNvPr id="34" name="Rounded Rectangle 33"/>
          <p:cNvSpPr/>
          <p:nvPr/>
        </p:nvSpPr>
        <p:spPr>
          <a:xfrm>
            <a:off x="4709160" y="4443984"/>
            <a:ext cx="6510528" cy="1216152"/>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0" y="4636008"/>
            <a:ext cx="1325880" cy="256032"/>
          </a:xfrm>
          <a:prstGeom prst="rect">
            <a:avLst/>
          </a:prstGeom>
          <a:noFill/>
        </p:spPr>
        <p:txBody>
          <a:bodyPr wrap="square" anchor="t" lIns="54864" rIns="54864" tIns="54864" bIns="54864">
            <a:spAutoFit/>
          </a:bodyPr>
          <a:lstStyle/>
          <a:p>
            <a:pPr algn="l">
              <a:spcAft>
                <a:spcPts val="0"/>
              </a:spcAft>
            </a:pPr>
            <a:r>
              <a:rPr sz="1050" b="1">
                <a:solidFill>
                  <a:srgbClr val="FFFFFF"/>
                </a:solidFill>
                <a:latin typeface="Arial"/>
              </a:rPr>
              <a:t>EVIDENCE</a:t>
            </a:r>
          </a:p>
        </p:txBody>
      </p:sp>
      <p:sp>
        <p:nvSpPr>
          <p:cNvPr id="36" name="TextBox 35"/>
          <p:cNvSpPr txBox="1"/>
          <p:nvPr/>
        </p:nvSpPr>
        <p:spPr>
          <a:xfrm>
            <a:off x="6144768" y="4572000"/>
            <a:ext cx="4828032" cy="731520"/>
          </a:xfrm>
          <a:prstGeom prst="rect">
            <a:avLst/>
          </a:prstGeom>
          <a:noFill/>
        </p:spPr>
        <p:txBody>
          <a:bodyPr wrap="square" anchor="t" lIns="54864" rIns="54864" tIns="54864" bIns="54864">
            <a:spAutoFit/>
          </a:bodyPr>
          <a:lstStyle/>
          <a:p>
            <a:pPr algn="l">
              <a:spcAft>
                <a:spcPts val="0"/>
              </a:spcAft>
            </a:pPr>
            <a:r>
              <a:rPr sz="1220" b="1">
                <a:solidFill>
                  <a:srgbClr val="FFFFFF"/>
                </a:solidFill>
                <a:latin typeface="Arial"/>
              </a:rPr>
              <a:t>Layered restoration PSD, verified JPEG, palette swatches and critique of AI-inferred detail.</a:t>
            </a:r>
          </a:p>
        </p:txBody>
      </p:sp>
      <p:sp>
        <p:nvSpPr>
          <p:cNvPr id="37" name="TextBox 36"/>
          <p:cNvSpPr txBox="1"/>
          <p:nvPr/>
        </p:nvSpPr>
        <p:spPr>
          <a:xfrm>
            <a:off x="4800600" y="5833872"/>
            <a:ext cx="6309360" cy="274320"/>
          </a:xfrm>
          <a:prstGeom prst="rect">
            <a:avLst/>
          </a:prstGeom>
          <a:noFill/>
        </p:spPr>
        <p:txBody>
          <a:bodyPr wrap="square" anchor="t" lIns="54864" rIns="54864" tIns="54864" bIns="54864">
            <a:spAutoFit/>
          </a:bodyPr>
          <a:lstStyle/>
          <a:p>
            <a:pPr algn="l">
              <a:spcAft>
                <a:spcPts val="0"/>
              </a:spcAft>
            </a:pPr>
            <a:r>
              <a:rPr sz="1100" b="1">
                <a:solidFill>
                  <a:srgbClr val="161920"/>
                </a:solidFill>
                <a:latin typeface="Arial"/>
              </a:rPr>
              <a:t>Full procedure · Learner Guide / Lab 09</a:t>
            </a:r>
          </a:p>
        </p:txBody>
      </p:sp>
    </p:spTree>
  </p:cSld>
  <p:transition spd="med" advClick="1">
    <p:fade/>
  </p:transition>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HANDS-ON APPLICATION · TOPIC 4</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Lab 10 · Wellness Campaign Capstone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201</a:t>
            </a:r>
          </a:p>
        </p:txBody>
      </p:sp>
      <p:sp>
        <p:nvSpPr>
          <p:cNvPr id="10" name="Rounded Rectangle 9"/>
          <p:cNvSpPr/>
          <p:nvPr/>
        </p:nvSpPr>
        <p:spPr>
          <a:xfrm>
            <a:off x="685800" y="1755648"/>
            <a:ext cx="3749039" cy="4462272"/>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P - Generative AI (GenAI).jpg"/>
          <p:cNvPicPr>
            <a:picLocks noChangeAspect="1"/>
          </p:cNvPicPr>
          <p:nvPr/>
        </p:nvPicPr>
        <p:blipFill>
          <a:blip r:embed="rId2"/>
          <a:srcRect t="825" b="825"/>
          <a:stretch>
            <a:fillRect/>
          </a:stretch>
        </p:blipFill>
        <p:spPr>
          <a:xfrm>
            <a:off x="758952" y="1828800"/>
            <a:ext cx="3602736" cy="2834640"/>
          </a:xfrm>
          <a:prstGeom prst="rect">
            <a:avLst/>
          </a:prstGeom>
        </p:spPr>
      </p:pic>
      <p:sp>
        <p:nvSpPr>
          <p:cNvPr id="12" name="TextBox 11"/>
          <p:cNvSpPr txBox="1"/>
          <p:nvPr/>
        </p:nvSpPr>
        <p:spPr>
          <a:xfrm>
            <a:off x="914400" y="4892040"/>
            <a:ext cx="3246120" cy="1024128"/>
          </a:xfrm>
          <a:prstGeom prst="rect">
            <a:avLst/>
          </a:prstGeom>
          <a:noFill/>
        </p:spPr>
        <p:txBody>
          <a:bodyPr wrap="square" anchor="t" lIns="54864" rIns="54864" tIns="54864" bIns="54864">
            <a:spAutoFit/>
          </a:bodyPr>
          <a:lstStyle/>
          <a:p>
            <a:pPr algn="l">
              <a:spcAft>
                <a:spcPts val="0"/>
              </a:spcAft>
            </a:pPr>
            <a:r>
              <a:rPr sz="1220" b="0">
                <a:solidFill>
                  <a:srgbClr val="5B6372"/>
                </a:solidFill>
                <a:latin typeface="Arial"/>
              </a:rPr>
              <a:t>Fictional Wellness Week Singapore 2026 needs a coherent hero visual and three channel exports for a positive, inclusive message.</a:t>
            </a:r>
          </a:p>
        </p:txBody>
      </p:sp>
      <p:sp>
        <p:nvSpPr>
          <p:cNvPr id="13" name="TextBox 12"/>
          <p:cNvSpPr txBox="1"/>
          <p:nvPr/>
        </p:nvSpPr>
        <p:spPr>
          <a:xfrm>
            <a:off x="4709160" y="1783080"/>
            <a:ext cx="6537960" cy="658368"/>
          </a:xfrm>
          <a:prstGeom prst="rect">
            <a:avLst/>
          </a:prstGeom>
          <a:noFill/>
        </p:spPr>
        <p:txBody>
          <a:bodyPr wrap="square" anchor="t" lIns="54864" rIns="54864" tIns="54864" bIns="54864">
            <a:spAutoFit/>
          </a:bodyPr>
          <a:lstStyle/>
          <a:p>
            <a:pPr algn="l">
              <a:spcAft>
                <a:spcPts val="0"/>
              </a:spcAft>
            </a:pPr>
            <a:r>
              <a:rPr sz="1500" b="1">
                <a:solidFill>
                  <a:srgbClr val="161920"/>
                </a:solidFill>
                <a:latin typeface="Arial"/>
              </a:rPr>
              <a:t>Integrate A1–A7 into an editable campaign visual, storyboard summary, critique and colour-delivery package.</a:t>
            </a:r>
          </a:p>
        </p:txBody>
      </p:sp>
      <p:sp>
        <p:nvSpPr>
          <p:cNvPr id="14" name="Rounded Rectangle 13"/>
          <p:cNvSpPr/>
          <p:nvPr/>
        </p:nvSpPr>
        <p:spPr>
          <a:xfrm>
            <a:off x="470916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818888" y="2816352"/>
            <a:ext cx="402336" cy="402336"/>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888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1</a:t>
            </a:r>
          </a:p>
        </p:txBody>
      </p:sp>
      <p:sp>
        <p:nvSpPr>
          <p:cNvPr id="17" name="TextBox 16"/>
          <p:cNvSpPr txBox="1"/>
          <p:nvPr/>
        </p:nvSpPr>
        <p:spPr>
          <a:xfrm>
            <a:off x="4800600"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Analyse</a:t>
            </a:r>
          </a:p>
        </p:txBody>
      </p:sp>
      <p:sp>
        <p:nvSpPr>
          <p:cNvPr id="18" name="Rounded Rectangle 17"/>
          <p:cNvSpPr/>
          <p:nvPr/>
        </p:nvSpPr>
        <p:spPr>
          <a:xfrm>
            <a:off x="603504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144768" y="2816352"/>
            <a:ext cx="402336" cy="402336"/>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4476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2</a:t>
            </a:r>
          </a:p>
        </p:txBody>
      </p:sp>
      <p:sp>
        <p:nvSpPr>
          <p:cNvPr id="21" name="TextBox 20"/>
          <p:cNvSpPr txBox="1"/>
          <p:nvPr/>
        </p:nvSpPr>
        <p:spPr>
          <a:xfrm>
            <a:off x="6126479"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Choose</a:t>
            </a:r>
          </a:p>
        </p:txBody>
      </p:sp>
      <p:sp>
        <p:nvSpPr>
          <p:cNvPr id="22" name="Rounded Rectangle 21"/>
          <p:cNvSpPr/>
          <p:nvPr/>
        </p:nvSpPr>
        <p:spPr>
          <a:xfrm>
            <a:off x="736092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470648" y="2816352"/>
            <a:ext cx="402336" cy="402336"/>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7064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3</a:t>
            </a:r>
          </a:p>
        </p:txBody>
      </p:sp>
      <p:sp>
        <p:nvSpPr>
          <p:cNvPr id="25" name="TextBox 24"/>
          <p:cNvSpPr txBox="1"/>
          <p:nvPr/>
        </p:nvSpPr>
        <p:spPr>
          <a:xfrm>
            <a:off x="7452360"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Apply</a:t>
            </a:r>
          </a:p>
        </p:txBody>
      </p:sp>
      <p:sp>
        <p:nvSpPr>
          <p:cNvPr id="26" name="Rounded Rectangle 25"/>
          <p:cNvSpPr/>
          <p:nvPr/>
        </p:nvSpPr>
        <p:spPr>
          <a:xfrm>
            <a:off x="868680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796528" y="2816352"/>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96528"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4</a:t>
            </a:r>
          </a:p>
        </p:txBody>
      </p:sp>
      <p:sp>
        <p:nvSpPr>
          <p:cNvPr id="29" name="TextBox 28"/>
          <p:cNvSpPr txBox="1"/>
          <p:nvPr/>
        </p:nvSpPr>
        <p:spPr>
          <a:xfrm>
            <a:off x="8778240"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Inspect</a:t>
            </a:r>
          </a:p>
        </p:txBody>
      </p:sp>
      <p:sp>
        <p:nvSpPr>
          <p:cNvPr id="30" name="Rounded Rectangle 29"/>
          <p:cNvSpPr/>
          <p:nvPr/>
        </p:nvSpPr>
        <p:spPr>
          <a:xfrm>
            <a:off x="10012680" y="2670048"/>
            <a:ext cx="1207007" cy="148132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22407" y="2816352"/>
            <a:ext cx="402336" cy="402336"/>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122407" y="2898648"/>
            <a:ext cx="402336" cy="182880"/>
          </a:xfrm>
          <a:prstGeom prst="rect">
            <a:avLst/>
          </a:prstGeom>
          <a:noFill/>
        </p:spPr>
        <p:txBody>
          <a:bodyPr wrap="square" anchor="t" lIns="54864" rIns="54864" tIns="54864" bIns="54864">
            <a:spAutoFit/>
          </a:bodyPr>
          <a:lstStyle/>
          <a:p>
            <a:pPr algn="ctr">
              <a:spcAft>
                <a:spcPts val="0"/>
              </a:spcAft>
            </a:pPr>
            <a:r>
              <a:rPr sz="950" b="1">
                <a:solidFill>
                  <a:srgbClr val="FFFFFF"/>
                </a:solidFill>
                <a:latin typeface="Arial"/>
              </a:rPr>
              <a:t>5</a:t>
            </a:r>
          </a:p>
        </p:txBody>
      </p:sp>
      <p:sp>
        <p:nvSpPr>
          <p:cNvPr id="33" name="TextBox 32"/>
          <p:cNvSpPr txBox="1"/>
          <p:nvPr/>
        </p:nvSpPr>
        <p:spPr>
          <a:xfrm>
            <a:off x="10104119" y="3429000"/>
            <a:ext cx="1024127" cy="438912"/>
          </a:xfrm>
          <a:prstGeom prst="rect">
            <a:avLst/>
          </a:prstGeom>
          <a:noFill/>
        </p:spPr>
        <p:txBody>
          <a:bodyPr wrap="square" anchor="t" lIns="54864" rIns="54864" tIns="54864" bIns="54864">
            <a:spAutoFit/>
          </a:bodyPr>
          <a:lstStyle/>
          <a:p>
            <a:pPr algn="ctr">
              <a:spcAft>
                <a:spcPts val="0"/>
              </a:spcAft>
            </a:pPr>
            <a:r>
              <a:rPr sz="1130" b="1">
                <a:solidFill>
                  <a:srgbClr val="161920"/>
                </a:solidFill>
                <a:latin typeface="Arial"/>
              </a:rPr>
              <a:t>Evidence</a:t>
            </a:r>
          </a:p>
        </p:txBody>
      </p:sp>
      <p:sp>
        <p:nvSpPr>
          <p:cNvPr id="34" name="Rounded Rectangle 33"/>
          <p:cNvSpPr/>
          <p:nvPr/>
        </p:nvSpPr>
        <p:spPr>
          <a:xfrm>
            <a:off x="4709160" y="4443984"/>
            <a:ext cx="6510528" cy="1216152"/>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0" y="4636008"/>
            <a:ext cx="1325880" cy="256032"/>
          </a:xfrm>
          <a:prstGeom prst="rect">
            <a:avLst/>
          </a:prstGeom>
          <a:noFill/>
        </p:spPr>
        <p:txBody>
          <a:bodyPr wrap="square" anchor="t" lIns="54864" rIns="54864" tIns="54864" bIns="54864">
            <a:spAutoFit/>
          </a:bodyPr>
          <a:lstStyle/>
          <a:p>
            <a:pPr algn="l">
              <a:spcAft>
                <a:spcPts val="0"/>
              </a:spcAft>
            </a:pPr>
            <a:r>
              <a:rPr sz="1050" b="1">
                <a:solidFill>
                  <a:srgbClr val="FFFFFF"/>
                </a:solidFill>
                <a:latin typeface="Arial"/>
              </a:rPr>
              <a:t>EVIDENCE</a:t>
            </a:r>
          </a:p>
        </p:txBody>
      </p:sp>
      <p:sp>
        <p:nvSpPr>
          <p:cNvPr id="36" name="TextBox 35"/>
          <p:cNvSpPr txBox="1"/>
          <p:nvPr/>
        </p:nvSpPr>
        <p:spPr>
          <a:xfrm>
            <a:off x="6144768" y="4572000"/>
            <a:ext cx="4828032" cy="731520"/>
          </a:xfrm>
          <a:prstGeom prst="rect">
            <a:avLst/>
          </a:prstGeom>
          <a:noFill/>
        </p:spPr>
        <p:txBody>
          <a:bodyPr wrap="square" anchor="t" lIns="54864" rIns="54864" tIns="54864" bIns="54864">
            <a:spAutoFit/>
          </a:bodyPr>
          <a:lstStyle/>
          <a:p>
            <a:pPr algn="l">
              <a:spcAft>
                <a:spcPts val="0"/>
              </a:spcAft>
            </a:pPr>
            <a:r>
              <a:rPr sz="1220" b="1">
                <a:solidFill>
                  <a:srgbClr val="FFFFFF"/>
                </a:solidFill>
                <a:latin typeface="Arial"/>
              </a:rPr>
              <a:t>Layered master PSD, prompt log, storyboard strip, peer critique, enhancement record, palette and three verified JPEGs.</a:t>
            </a:r>
          </a:p>
        </p:txBody>
      </p:sp>
      <p:sp>
        <p:nvSpPr>
          <p:cNvPr id="37" name="TextBox 36"/>
          <p:cNvSpPr txBox="1"/>
          <p:nvPr/>
        </p:nvSpPr>
        <p:spPr>
          <a:xfrm>
            <a:off x="4800600" y="5833872"/>
            <a:ext cx="6309360" cy="274320"/>
          </a:xfrm>
          <a:prstGeom prst="rect">
            <a:avLst/>
          </a:prstGeom>
          <a:noFill/>
        </p:spPr>
        <p:txBody>
          <a:bodyPr wrap="square" anchor="t" lIns="54864" rIns="54864" tIns="54864" bIns="54864">
            <a:spAutoFit/>
          </a:bodyPr>
          <a:lstStyle/>
          <a:p>
            <a:pPr algn="l">
              <a:spcAft>
                <a:spcPts val="0"/>
              </a:spcAft>
            </a:pPr>
            <a:r>
              <a:rPr sz="1100" b="1">
                <a:solidFill>
                  <a:srgbClr val="161920"/>
                </a:solidFill>
                <a:latin typeface="Arial"/>
              </a:rPr>
              <a:t>Full procedure · Learner Guide / Lab 10</a:t>
            </a:r>
          </a:p>
        </p:txBody>
      </p:sp>
    </p:spTree>
  </p:cSld>
  <p:transition spd="med" advClick="1">
    <p:fade/>
  </p:transition>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9A78"/>
                </a:solidFill>
                <a:latin typeface="Arial"/>
              </a:rPr>
              <a:t>EXPLAIN THE DECISION</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Topic 4 Checkpoint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202</a:t>
            </a:r>
          </a:p>
        </p:txBody>
      </p:sp>
      <p:sp>
        <p:nvSpPr>
          <p:cNvPr id="10" name="Rounded Rectangle 9"/>
          <p:cNvSpPr/>
          <p:nvPr/>
        </p:nvSpPr>
        <p:spPr>
          <a:xfrm>
            <a:off x="685800"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755648"/>
            <a:ext cx="73152" cy="212140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Purpose</a:t>
            </a:r>
          </a:p>
        </p:txBody>
      </p:sp>
      <p:sp>
        <p:nvSpPr>
          <p:cNvPr id="13" name="TextBox 12"/>
          <p:cNvSpPr txBox="1"/>
          <p:nvPr/>
        </p:nvSpPr>
        <p:spPr>
          <a:xfrm>
            <a:off x="905256"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What does the audience need to notice?</a:t>
            </a:r>
          </a:p>
        </p:txBody>
      </p:sp>
      <p:sp>
        <p:nvSpPr>
          <p:cNvPr id="14" name="Rounded Rectangle 13"/>
          <p:cNvSpPr/>
          <p:nvPr/>
        </p:nvSpPr>
        <p:spPr>
          <a:xfrm>
            <a:off x="4349496"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9496" y="1755648"/>
            <a:ext cx="73152" cy="212140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68952"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Method</a:t>
            </a:r>
          </a:p>
        </p:txBody>
      </p:sp>
      <p:sp>
        <p:nvSpPr>
          <p:cNvPr id="17" name="TextBox 16"/>
          <p:cNvSpPr txBox="1"/>
          <p:nvPr/>
        </p:nvSpPr>
        <p:spPr>
          <a:xfrm>
            <a:off x="4568952"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Why does this technique fit the content and edge?</a:t>
            </a:r>
          </a:p>
        </p:txBody>
      </p:sp>
      <p:sp>
        <p:nvSpPr>
          <p:cNvPr id="18" name="Rounded Rectangle 17"/>
          <p:cNvSpPr/>
          <p:nvPr/>
        </p:nvSpPr>
        <p:spPr>
          <a:xfrm>
            <a:off x="8013192"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3192" y="1755648"/>
            <a:ext cx="73152" cy="212140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32648"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Control</a:t>
            </a:r>
          </a:p>
        </p:txBody>
      </p:sp>
      <p:sp>
        <p:nvSpPr>
          <p:cNvPr id="21" name="TextBox 20"/>
          <p:cNvSpPr txBox="1"/>
          <p:nvPr/>
        </p:nvSpPr>
        <p:spPr>
          <a:xfrm>
            <a:off x="8232648"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Which setting most changes the outcome?</a:t>
            </a:r>
          </a:p>
        </p:txBody>
      </p:sp>
      <p:sp>
        <p:nvSpPr>
          <p:cNvPr id="22" name="Rounded Rectangle 21"/>
          <p:cNvSpPr/>
          <p:nvPr/>
        </p:nvSpPr>
        <p:spPr>
          <a:xfrm>
            <a:off x="685800"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5800" y="4078224"/>
            <a:ext cx="73152" cy="21214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Failure</a:t>
            </a:r>
          </a:p>
        </p:txBody>
      </p:sp>
      <p:sp>
        <p:nvSpPr>
          <p:cNvPr id="25" name="TextBox 24"/>
          <p:cNvSpPr txBox="1"/>
          <p:nvPr/>
        </p:nvSpPr>
        <p:spPr>
          <a:xfrm>
            <a:off x="905256"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What defect would make the result unacceptable?</a:t>
            </a:r>
          </a:p>
        </p:txBody>
      </p:sp>
      <p:sp>
        <p:nvSpPr>
          <p:cNvPr id="26" name="Rounded Rectangle 25"/>
          <p:cNvSpPr/>
          <p:nvPr/>
        </p:nvSpPr>
        <p:spPr>
          <a:xfrm>
            <a:off x="4349496"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49496" y="4078224"/>
            <a:ext cx="73152" cy="212140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68952"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009A78"/>
                </a:solidFill>
                <a:latin typeface="Arial"/>
              </a:rPr>
              <a:t>Proof</a:t>
            </a:r>
          </a:p>
        </p:txBody>
      </p:sp>
      <p:sp>
        <p:nvSpPr>
          <p:cNvPr id="29" name="TextBox 28"/>
          <p:cNvSpPr txBox="1"/>
          <p:nvPr/>
        </p:nvSpPr>
        <p:spPr>
          <a:xfrm>
            <a:off x="4568952"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Which view and evidence demonstrate quality?</a:t>
            </a:r>
          </a:p>
        </p:txBody>
      </p:sp>
      <p:sp>
        <p:nvSpPr>
          <p:cNvPr id="30" name="Rounded Rectangle 29"/>
          <p:cNvSpPr/>
          <p:nvPr/>
        </p:nvSpPr>
        <p:spPr>
          <a:xfrm>
            <a:off x="8013192"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13192" y="4078224"/>
            <a:ext cx="73152" cy="212140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32648"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E98500"/>
                </a:solidFill>
                <a:latin typeface="Arial"/>
              </a:rPr>
              <a:t>Next</a:t>
            </a:r>
          </a:p>
        </p:txBody>
      </p:sp>
      <p:sp>
        <p:nvSpPr>
          <p:cNvPr id="33" name="TextBox 32"/>
          <p:cNvSpPr txBox="1"/>
          <p:nvPr/>
        </p:nvSpPr>
        <p:spPr>
          <a:xfrm>
            <a:off x="8232648"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What controlled variation would improve the result?</a:t>
            </a:r>
          </a:p>
        </p:txBody>
      </p:sp>
    </p:spTree>
  </p:cSld>
  <p:transition spd="med" advClick="1">
    <p:fade/>
  </p:transition>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COURSE SYNTHESIS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Professional Editing Loop</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203</a:t>
            </a:r>
          </a:p>
        </p:txBody>
      </p:sp>
      <p:sp>
        <p:nvSpPr>
          <p:cNvPr id="10" name="Rounded Rectangle 9"/>
          <p:cNvSpPr/>
          <p:nvPr/>
        </p:nvSpPr>
        <p:spPr>
          <a:xfrm>
            <a:off x="685800"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755648"/>
            <a:ext cx="73152" cy="212140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Brief</a:t>
            </a:r>
          </a:p>
        </p:txBody>
      </p:sp>
      <p:sp>
        <p:nvSpPr>
          <p:cNvPr id="13" name="TextBox 12"/>
          <p:cNvSpPr txBox="1"/>
          <p:nvPr/>
        </p:nvSpPr>
        <p:spPr>
          <a:xfrm>
            <a:off x="905256"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Clarify purpose, audience, channel and constraints.</a:t>
            </a:r>
          </a:p>
        </p:txBody>
      </p:sp>
      <p:sp>
        <p:nvSpPr>
          <p:cNvPr id="14" name="Rounded Rectangle 13"/>
          <p:cNvSpPr/>
          <p:nvPr/>
        </p:nvSpPr>
        <p:spPr>
          <a:xfrm>
            <a:off x="4349496"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9496" y="1755648"/>
            <a:ext cx="73152" cy="212140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68952"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Source</a:t>
            </a:r>
          </a:p>
        </p:txBody>
      </p:sp>
      <p:sp>
        <p:nvSpPr>
          <p:cNvPr id="17" name="TextBox 16"/>
          <p:cNvSpPr txBox="1"/>
          <p:nvPr/>
        </p:nvSpPr>
        <p:spPr>
          <a:xfrm>
            <a:off x="4568952"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Choose sufficient, rights-cleared assets.</a:t>
            </a:r>
          </a:p>
        </p:txBody>
      </p:sp>
      <p:sp>
        <p:nvSpPr>
          <p:cNvPr id="18" name="Rounded Rectangle 17"/>
          <p:cNvSpPr/>
          <p:nvPr/>
        </p:nvSpPr>
        <p:spPr>
          <a:xfrm>
            <a:off x="8013192"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3192" y="1755648"/>
            <a:ext cx="73152" cy="212140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32648"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Construct</a:t>
            </a:r>
          </a:p>
        </p:txBody>
      </p:sp>
      <p:sp>
        <p:nvSpPr>
          <p:cNvPr id="21" name="TextBox 20"/>
          <p:cNvSpPr txBox="1"/>
          <p:nvPr/>
        </p:nvSpPr>
        <p:spPr>
          <a:xfrm>
            <a:off x="8232648"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Use layers, masks and Smart Objects.</a:t>
            </a:r>
          </a:p>
        </p:txBody>
      </p:sp>
      <p:sp>
        <p:nvSpPr>
          <p:cNvPr id="22" name="Rounded Rectangle 21"/>
          <p:cNvSpPr/>
          <p:nvPr/>
        </p:nvSpPr>
        <p:spPr>
          <a:xfrm>
            <a:off x="685800"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5800" y="4078224"/>
            <a:ext cx="73152" cy="21214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Experiment</a:t>
            </a:r>
          </a:p>
        </p:txBody>
      </p:sp>
      <p:sp>
        <p:nvSpPr>
          <p:cNvPr id="25" name="TextBox 24"/>
          <p:cNvSpPr txBox="1"/>
          <p:nvPr/>
        </p:nvSpPr>
        <p:spPr>
          <a:xfrm>
            <a:off x="905256"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Vary one factor against a baseline.</a:t>
            </a:r>
          </a:p>
        </p:txBody>
      </p:sp>
      <p:sp>
        <p:nvSpPr>
          <p:cNvPr id="26" name="Rounded Rectangle 25"/>
          <p:cNvSpPr/>
          <p:nvPr/>
        </p:nvSpPr>
        <p:spPr>
          <a:xfrm>
            <a:off x="4349496"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49496" y="4078224"/>
            <a:ext cx="73152" cy="212140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68952"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009A78"/>
                </a:solidFill>
                <a:latin typeface="Arial"/>
              </a:rPr>
              <a:t>Evaluate</a:t>
            </a:r>
          </a:p>
        </p:txBody>
      </p:sp>
      <p:sp>
        <p:nvSpPr>
          <p:cNvPr id="29" name="TextBox 28"/>
          <p:cNvSpPr txBox="1"/>
          <p:nvPr/>
        </p:nvSpPr>
        <p:spPr>
          <a:xfrm>
            <a:off x="4568952"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Inspect visual, technical and rights criteria.</a:t>
            </a:r>
          </a:p>
        </p:txBody>
      </p:sp>
      <p:sp>
        <p:nvSpPr>
          <p:cNvPr id="30" name="Rounded Rectangle 29"/>
          <p:cNvSpPr/>
          <p:nvPr/>
        </p:nvSpPr>
        <p:spPr>
          <a:xfrm>
            <a:off x="8013192"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13192" y="4078224"/>
            <a:ext cx="73152" cy="212140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32648"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E98500"/>
                </a:solidFill>
                <a:latin typeface="Arial"/>
              </a:rPr>
              <a:t>Deliver</a:t>
            </a:r>
          </a:p>
        </p:txBody>
      </p:sp>
      <p:sp>
        <p:nvSpPr>
          <p:cNvPr id="33" name="TextBox 32"/>
          <p:cNvSpPr txBox="1"/>
          <p:nvPr/>
        </p:nvSpPr>
        <p:spPr>
          <a:xfrm>
            <a:off x="8232648"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Export, reopen and retain the master.</a:t>
            </a:r>
          </a:p>
        </p:txBody>
      </p:sp>
    </p:spTree>
  </p:cSld>
  <p:transition spd="med" advClick="1">
    <p:fade/>
  </p:transition>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C92828"/>
                </a:solidFill>
                <a:latin typeface="Arial"/>
              </a:rPr>
              <a:t>RESPONSIBLE VISUAL PRACTICE</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Copyright and Asset Permission</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8229600" y="6473952"/>
            <a:ext cx="2926080" cy="201168"/>
          </a:xfrm>
          <a:prstGeom prst="rect">
            <a:avLst/>
          </a:prstGeom>
          <a:noFill/>
        </p:spPr>
        <p:txBody>
          <a:bodyPr wrap="square" anchor="t" lIns="54864" rIns="54864" tIns="54864" bIns="54864">
            <a:spAutoFit/>
          </a:bodyPr>
          <a:lstStyle/>
          <a:p>
            <a:pPr algn="r">
              <a:spcAft>
                <a:spcPts val="0"/>
              </a:spcAft>
            </a:pPr>
            <a:r>
              <a:rPr sz="720" b="0">
                <a:solidFill>
                  <a:srgbClr val="5B6372"/>
                </a:solidFill>
                <a:latin typeface="Arial"/>
              </a:rPr>
              <a:t>Adobe Firefly Terms · not legal advice</a:t>
            </a:r>
          </a:p>
        </p:txBody>
      </p:sp>
      <p:sp>
        <p:nvSpPr>
          <p:cNvPr id="10" name="TextBox 9"/>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204</a:t>
            </a:r>
          </a:p>
        </p:txBody>
      </p:sp>
      <p:sp>
        <p:nvSpPr>
          <p:cNvPr id="11" name="Rounded Rectangle 10"/>
          <p:cNvSpPr/>
          <p:nvPr/>
        </p:nvSpPr>
        <p:spPr>
          <a:xfrm>
            <a:off x="685800"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1755648"/>
            <a:ext cx="73152" cy="212140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Ownership</a:t>
            </a:r>
          </a:p>
        </p:txBody>
      </p:sp>
      <p:sp>
        <p:nvSpPr>
          <p:cNvPr id="14" name="TextBox 13"/>
          <p:cNvSpPr txBox="1"/>
          <p:nvPr/>
        </p:nvSpPr>
        <p:spPr>
          <a:xfrm>
            <a:off x="905256"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Identify the creator/owner.</a:t>
            </a:r>
          </a:p>
        </p:txBody>
      </p:sp>
      <p:sp>
        <p:nvSpPr>
          <p:cNvPr id="15" name="Rounded Rectangle 14"/>
          <p:cNvSpPr/>
          <p:nvPr/>
        </p:nvSpPr>
        <p:spPr>
          <a:xfrm>
            <a:off x="4349496"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9496" y="1755648"/>
            <a:ext cx="73152" cy="212140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68952"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Permission</a:t>
            </a:r>
          </a:p>
        </p:txBody>
      </p:sp>
      <p:sp>
        <p:nvSpPr>
          <p:cNvPr id="18" name="TextBox 17"/>
          <p:cNvSpPr txBox="1"/>
          <p:nvPr/>
        </p:nvSpPr>
        <p:spPr>
          <a:xfrm>
            <a:off x="4568952"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Public visibility does not grant reuse.</a:t>
            </a:r>
          </a:p>
        </p:txBody>
      </p:sp>
      <p:sp>
        <p:nvSpPr>
          <p:cNvPr id="19" name="Rounded Rectangle 18"/>
          <p:cNvSpPr/>
          <p:nvPr/>
        </p:nvSpPr>
        <p:spPr>
          <a:xfrm>
            <a:off x="8013192"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3192" y="1755648"/>
            <a:ext cx="73152" cy="212140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2648"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Scope</a:t>
            </a:r>
          </a:p>
        </p:txBody>
      </p:sp>
      <p:sp>
        <p:nvSpPr>
          <p:cNvPr id="22" name="TextBox 21"/>
          <p:cNvSpPr txBox="1"/>
          <p:nvPr/>
        </p:nvSpPr>
        <p:spPr>
          <a:xfrm>
            <a:off x="8232648"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Check modification, commercial and redistribution rights.</a:t>
            </a:r>
          </a:p>
        </p:txBody>
      </p:sp>
      <p:sp>
        <p:nvSpPr>
          <p:cNvPr id="23" name="Rounded Rectangle 22"/>
          <p:cNvSpPr/>
          <p:nvPr/>
        </p:nvSpPr>
        <p:spPr>
          <a:xfrm>
            <a:off x="685800"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85800" y="4078224"/>
            <a:ext cx="73152" cy="21214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5256"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People</a:t>
            </a:r>
          </a:p>
        </p:txBody>
      </p:sp>
      <p:sp>
        <p:nvSpPr>
          <p:cNvPr id="26" name="TextBox 25"/>
          <p:cNvSpPr txBox="1"/>
          <p:nvPr/>
        </p:nvSpPr>
        <p:spPr>
          <a:xfrm>
            <a:off x="905256"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Confirm consent and privacy context.</a:t>
            </a:r>
          </a:p>
        </p:txBody>
      </p:sp>
      <p:sp>
        <p:nvSpPr>
          <p:cNvPr id="27" name="Rounded Rectangle 26"/>
          <p:cNvSpPr/>
          <p:nvPr/>
        </p:nvSpPr>
        <p:spPr>
          <a:xfrm>
            <a:off x="4349496"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349496" y="4078224"/>
            <a:ext cx="73152" cy="212140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68952"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009A78"/>
                </a:solidFill>
                <a:latin typeface="Arial"/>
              </a:rPr>
              <a:t>Attribution</a:t>
            </a:r>
          </a:p>
        </p:txBody>
      </p:sp>
      <p:sp>
        <p:nvSpPr>
          <p:cNvPr id="30" name="TextBox 29"/>
          <p:cNvSpPr txBox="1"/>
          <p:nvPr/>
        </p:nvSpPr>
        <p:spPr>
          <a:xfrm>
            <a:off x="4568952"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Credit as the licence requires.</a:t>
            </a:r>
          </a:p>
        </p:txBody>
      </p:sp>
      <p:sp>
        <p:nvSpPr>
          <p:cNvPr id="31" name="Rounded Rectangle 30"/>
          <p:cNvSpPr/>
          <p:nvPr/>
        </p:nvSpPr>
        <p:spPr>
          <a:xfrm>
            <a:off x="8013192"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13192" y="4078224"/>
            <a:ext cx="73152" cy="212140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32648"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E98500"/>
                </a:solidFill>
                <a:latin typeface="Arial"/>
              </a:rPr>
              <a:t>Record</a:t>
            </a:r>
          </a:p>
        </p:txBody>
      </p:sp>
      <p:sp>
        <p:nvSpPr>
          <p:cNvPr id="34" name="TextBox 33"/>
          <p:cNvSpPr txBox="1"/>
          <p:nvPr/>
        </p:nvSpPr>
        <p:spPr>
          <a:xfrm>
            <a:off x="8232648"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Retain source, licence, consent, date and use.</a:t>
            </a:r>
          </a:p>
        </p:txBody>
      </p:sp>
    </p:spTree>
  </p:cSld>
  <p:transition spd="med" advClick="1">
    <p:fade/>
  </p:transition>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PROVENANCE AND REVIEW</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Responsible Generative AI</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205</a:t>
            </a:r>
          </a:p>
        </p:txBody>
      </p:sp>
      <p:sp>
        <p:nvSpPr>
          <p:cNvPr id="10" name="Rounded Rectangle 9"/>
          <p:cNvSpPr/>
          <p:nvPr/>
        </p:nvSpPr>
        <p:spPr>
          <a:xfrm>
            <a:off x="685800"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755648"/>
            <a:ext cx="73152" cy="212140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Inputs</a:t>
            </a:r>
          </a:p>
        </p:txBody>
      </p:sp>
      <p:sp>
        <p:nvSpPr>
          <p:cNvPr id="13" name="TextBox 12"/>
          <p:cNvSpPr txBox="1"/>
          <p:nvPr/>
        </p:nvSpPr>
        <p:spPr>
          <a:xfrm>
            <a:off x="905256"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Use only material you may provide.</a:t>
            </a:r>
          </a:p>
        </p:txBody>
      </p:sp>
      <p:sp>
        <p:nvSpPr>
          <p:cNvPr id="14" name="Rounded Rectangle 13"/>
          <p:cNvSpPr/>
          <p:nvPr/>
        </p:nvSpPr>
        <p:spPr>
          <a:xfrm>
            <a:off x="4349496"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9496" y="1755648"/>
            <a:ext cx="73152" cy="212140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68952"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Log</a:t>
            </a:r>
          </a:p>
        </p:txBody>
      </p:sp>
      <p:sp>
        <p:nvSpPr>
          <p:cNvPr id="17" name="TextBox 16"/>
          <p:cNvSpPr txBox="1"/>
          <p:nvPr/>
        </p:nvSpPr>
        <p:spPr>
          <a:xfrm>
            <a:off x="4568952"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Record prompt and selected variation.</a:t>
            </a:r>
          </a:p>
        </p:txBody>
      </p:sp>
      <p:sp>
        <p:nvSpPr>
          <p:cNvPr id="18" name="Rounded Rectangle 17"/>
          <p:cNvSpPr/>
          <p:nvPr/>
        </p:nvSpPr>
        <p:spPr>
          <a:xfrm>
            <a:off x="8013192"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3192" y="1755648"/>
            <a:ext cx="73152" cy="212140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32648"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Review</a:t>
            </a:r>
          </a:p>
        </p:txBody>
      </p:sp>
      <p:sp>
        <p:nvSpPr>
          <p:cNvPr id="21" name="TextBox 20"/>
          <p:cNvSpPr txBox="1"/>
          <p:nvPr/>
        </p:nvSpPr>
        <p:spPr>
          <a:xfrm>
            <a:off x="8232648"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Check plausibility, bias and artefacts.</a:t>
            </a:r>
          </a:p>
        </p:txBody>
      </p:sp>
      <p:sp>
        <p:nvSpPr>
          <p:cNvPr id="22" name="Rounded Rectangle 21"/>
          <p:cNvSpPr/>
          <p:nvPr/>
        </p:nvSpPr>
        <p:spPr>
          <a:xfrm>
            <a:off x="685800"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5800" y="4078224"/>
            <a:ext cx="73152" cy="21214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Terms</a:t>
            </a:r>
          </a:p>
        </p:txBody>
      </p:sp>
      <p:sp>
        <p:nvSpPr>
          <p:cNvPr id="25" name="TextBox 24"/>
          <p:cNvSpPr txBox="1"/>
          <p:nvPr/>
        </p:nvSpPr>
        <p:spPr>
          <a:xfrm>
            <a:off x="905256"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Confirm current feature terms.</a:t>
            </a:r>
          </a:p>
        </p:txBody>
      </p:sp>
      <p:sp>
        <p:nvSpPr>
          <p:cNvPr id="26" name="Rounded Rectangle 25"/>
          <p:cNvSpPr/>
          <p:nvPr/>
        </p:nvSpPr>
        <p:spPr>
          <a:xfrm>
            <a:off x="4349496"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49496" y="4078224"/>
            <a:ext cx="73152" cy="212140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68952"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009A78"/>
                </a:solidFill>
                <a:latin typeface="Arial"/>
              </a:rPr>
              <a:t>Credentials</a:t>
            </a:r>
          </a:p>
        </p:txBody>
      </p:sp>
      <p:sp>
        <p:nvSpPr>
          <p:cNvPr id="29" name="TextBox 28"/>
          <p:cNvSpPr txBox="1"/>
          <p:nvPr/>
        </p:nvSpPr>
        <p:spPr>
          <a:xfrm>
            <a:off x="4568952"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Retain provenance where appropriate.</a:t>
            </a:r>
          </a:p>
        </p:txBody>
      </p:sp>
      <p:sp>
        <p:nvSpPr>
          <p:cNvPr id="30" name="Rounded Rectangle 29"/>
          <p:cNvSpPr/>
          <p:nvPr/>
        </p:nvSpPr>
        <p:spPr>
          <a:xfrm>
            <a:off x="8013192"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13192" y="4078224"/>
            <a:ext cx="73152" cy="212140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32648"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E98500"/>
                </a:solidFill>
                <a:latin typeface="Arial"/>
              </a:rPr>
              <a:t>Responsibility</a:t>
            </a:r>
          </a:p>
        </p:txBody>
      </p:sp>
      <p:sp>
        <p:nvSpPr>
          <p:cNvPr id="33" name="TextBox 32"/>
          <p:cNvSpPr txBox="1"/>
          <p:nvPr/>
        </p:nvSpPr>
        <p:spPr>
          <a:xfrm>
            <a:off x="8232648"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The editor owns the publication decision.</a:t>
            </a:r>
          </a:p>
        </p:txBody>
      </p:sp>
    </p:spTree>
  </p:cSld>
  <p:transition spd="med" advClick="1">
    <p:fade/>
  </p:transition>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A4 · DISCUSS THE PROCESS</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Peer Review</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206</a:t>
            </a:r>
          </a:p>
        </p:txBody>
      </p:sp>
      <p:sp>
        <p:nvSpPr>
          <p:cNvPr id="10" name="Rounded Rectangle 9"/>
          <p:cNvSpPr/>
          <p:nvPr/>
        </p:nvSpPr>
        <p:spPr>
          <a:xfrm>
            <a:off x="685800"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755648"/>
            <a:ext cx="73152" cy="212140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Describe</a:t>
            </a:r>
          </a:p>
        </p:txBody>
      </p:sp>
      <p:sp>
        <p:nvSpPr>
          <p:cNvPr id="13" name="TextBox 12"/>
          <p:cNvSpPr txBox="1"/>
          <p:nvPr/>
        </p:nvSpPr>
        <p:spPr>
          <a:xfrm>
            <a:off x="905256"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State purpose and key decisions.</a:t>
            </a:r>
          </a:p>
        </p:txBody>
      </p:sp>
      <p:sp>
        <p:nvSpPr>
          <p:cNvPr id="14" name="Rounded Rectangle 13"/>
          <p:cNvSpPr/>
          <p:nvPr/>
        </p:nvSpPr>
        <p:spPr>
          <a:xfrm>
            <a:off x="4349496"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9496" y="1755648"/>
            <a:ext cx="73152" cy="212140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68952"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Show</a:t>
            </a:r>
          </a:p>
        </p:txBody>
      </p:sp>
      <p:sp>
        <p:nvSpPr>
          <p:cNvPr id="17" name="TextBox 16"/>
          <p:cNvSpPr txBox="1"/>
          <p:nvPr/>
        </p:nvSpPr>
        <p:spPr>
          <a:xfrm>
            <a:off x="4568952"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Reveal layers, masks and before/after.</a:t>
            </a:r>
          </a:p>
        </p:txBody>
      </p:sp>
      <p:sp>
        <p:nvSpPr>
          <p:cNvPr id="18" name="Rounded Rectangle 17"/>
          <p:cNvSpPr/>
          <p:nvPr/>
        </p:nvSpPr>
        <p:spPr>
          <a:xfrm>
            <a:off x="8013192"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3192" y="1755648"/>
            <a:ext cx="73152" cy="212140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32648"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Ask</a:t>
            </a:r>
          </a:p>
        </p:txBody>
      </p:sp>
      <p:sp>
        <p:nvSpPr>
          <p:cNvPr id="21" name="TextBox 20"/>
          <p:cNvSpPr txBox="1"/>
          <p:nvPr/>
        </p:nvSpPr>
        <p:spPr>
          <a:xfrm>
            <a:off x="8232648"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Use explicit criteria.</a:t>
            </a:r>
          </a:p>
        </p:txBody>
      </p:sp>
      <p:sp>
        <p:nvSpPr>
          <p:cNvPr id="22" name="Rounded Rectangle 21"/>
          <p:cNvSpPr/>
          <p:nvPr/>
        </p:nvSpPr>
        <p:spPr>
          <a:xfrm>
            <a:off x="685800"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5800" y="4078224"/>
            <a:ext cx="73152" cy="21214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Record</a:t>
            </a:r>
          </a:p>
        </p:txBody>
      </p:sp>
      <p:sp>
        <p:nvSpPr>
          <p:cNvPr id="25" name="TextBox 24"/>
          <p:cNvSpPr txBox="1"/>
          <p:nvPr/>
        </p:nvSpPr>
        <p:spPr>
          <a:xfrm>
            <a:off x="905256"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Capture what the reviewer noticed.</a:t>
            </a:r>
          </a:p>
        </p:txBody>
      </p:sp>
      <p:sp>
        <p:nvSpPr>
          <p:cNvPr id="26" name="Rounded Rectangle 25"/>
          <p:cNvSpPr/>
          <p:nvPr/>
        </p:nvSpPr>
        <p:spPr>
          <a:xfrm>
            <a:off x="4349496"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49496" y="4078224"/>
            <a:ext cx="73152" cy="212140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68952"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009A78"/>
                </a:solidFill>
                <a:latin typeface="Arial"/>
              </a:rPr>
              <a:t>Decide</a:t>
            </a:r>
          </a:p>
        </p:txBody>
      </p:sp>
      <p:sp>
        <p:nvSpPr>
          <p:cNvPr id="29" name="TextBox 28"/>
          <p:cNvSpPr txBox="1"/>
          <p:nvPr/>
        </p:nvSpPr>
        <p:spPr>
          <a:xfrm>
            <a:off x="4568952"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Accept, adapt or reject with reason.</a:t>
            </a:r>
          </a:p>
        </p:txBody>
      </p:sp>
      <p:sp>
        <p:nvSpPr>
          <p:cNvPr id="30" name="Rounded Rectangle 29"/>
          <p:cNvSpPr/>
          <p:nvPr/>
        </p:nvSpPr>
        <p:spPr>
          <a:xfrm>
            <a:off x="8013192"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13192" y="4078224"/>
            <a:ext cx="73152" cy="212140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32648"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E98500"/>
                </a:solidFill>
                <a:latin typeface="Arial"/>
              </a:rPr>
              <a:t>Revise</a:t>
            </a:r>
          </a:p>
        </p:txBody>
      </p:sp>
      <p:sp>
        <p:nvSpPr>
          <p:cNvPr id="33" name="TextBox 32"/>
          <p:cNvSpPr txBox="1"/>
          <p:nvPr/>
        </p:nvSpPr>
        <p:spPr>
          <a:xfrm>
            <a:off x="8232648"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Make one traceable improvement.</a:t>
            </a:r>
          </a:p>
        </p:txBody>
      </p:sp>
    </p:spTree>
  </p:cSld>
  <p:transition spd="med" advClick="1">
    <p:fade/>
  </p:transition>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224AF4"/>
                </a:solidFill>
                <a:latin typeface="Arial"/>
              </a:rPr>
              <a:t>AFTER THE COURSE</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Support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207</a:t>
            </a:r>
          </a:p>
        </p:txBody>
      </p:sp>
      <p:sp>
        <p:nvSpPr>
          <p:cNvPr id="10" name="Rounded Rectangle 9"/>
          <p:cNvSpPr/>
          <p:nvPr/>
        </p:nvSpPr>
        <p:spPr>
          <a:xfrm>
            <a:off x="685800"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755648"/>
            <a:ext cx="73152" cy="2121408"/>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Email</a:t>
            </a:r>
          </a:p>
        </p:txBody>
      </p:sp>
      <p:sp>
        <p:nvSpPr>
          <p:cNvPr id="13" name="TextBox 12"/>
          <p:cNvSpPr txBox="1"/>
          <p:nvPr/>
        </p:nvSpPr>
        <p:spPr>
          <a:xfrm>
            <a:off x="905256"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enquiry@tertiaryinfotech.com</a:t>
            </a:r>
          </a:p>
        </p:txBody>
      </p:sp>
      <p:sp>
        <p:nvSpPr>
          <p:cNvPr id="14" name="Rounded Rectangle 13"/>
          <p:cNvSpPr/>
          <p:nvPr/>
        </p:nvSpPr>
        <p:spPr>
          <a:xfrm>
            <a:off x="4349496"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9496" y="1755648"/>
            <a:ext cx="73152" cy="2121408"/>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68952"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Telephone</a:t>
            </a:r>
          </a:p>
        </p:txBody>
      </p:sp>
      <p:sp>
        <p:nvSpPr>
          <p:cNvPr id="17" name="TextBox 16"/>
          <p:cNvSpPr txBox="1"/>
          <p:nvPr/>
        </p:nvSpPr>
        <p:spPr>
          <a:xfrm>
            <a:off x="4568952"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+65 6100 0613</a:t>
            </a:r>
          </a:p>
        </p:txBody>
      </p:sp>
      <p:sp>
        <p:nvSpPr>
          <p:cNvPr id="18" name="Rounded Rectangle 17"/>
          <p:cNvSpPr/>
          <p:nvPr/>
        </p:nvSpPr>
        <p:spPr>
          <a:xfrm>
            <a:off x="8013192" y="1755648"/>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3192" y="1755648"/>
            <a:ext cx="73152" cy="2121408"/>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32648"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Portal</a:t>
            </a:r>
          </a:p>
        </p:txBody>
      </p:sp>
      <p:sp>
        <p:nvSpPr>
          <p:cNvPr id="21" name="TextBox 20"/>
          <p:cNvSpPr txBox="1"/>
          <p:nvPr/>
        </p:nvSpPr>
        <p:spPr>
          <a:xfrm>
            <a:off x="8232648" y="2414015"/>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https://lms-tms.tertiaryinfotech.com/</a:t>
            </a:r>
          </a:p>
        </p:txBody>
      </p:sp>
      <p:sp>
        <p:nvSpPr>
          <p:cNvPr id="22" name="Rounded Rectangle 21"/>
          <p:cNvSpPr/>
          <p:nvPr/>
        </p:nvSpPr>
        <p:spPr>
          <a:xfrm>
            <a:off x="685800"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5800" y="4078224"/>
            <a:ext cx="73152" cy="21214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7C3AED"/>
                </a:solidFill>
                <a:latin typeface="Arial"/>
              </a:rPr>
              <a:t>Provider</a:t>
            </a:r>
          </a:p>
        </p:txBody>
      </p:sp>
      <p:sp>
        <p:nvSpPr>
          <p:cNvPr id="25" name="TextBox 24"/>
          <p:cNvSpPr txBox="1"/>
          <p:nvPr/>
        </p:nvSpPr>
        <p:spPr>
          <a:xfrm>
            <a:off x="905256"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Tertiary Infotech Academy Pte Ltd</a:t>
            </a:r>
          </a:p>
        </p:txBody>
      </p:sp>
      <p:sp>
        <p:nvSpPr>
          <p:cNvPr id="26" name="Rounded Rectangle 25"/>
          <p:cNvSpPr/>
          <p:nvPr/>
        </p:nvSpPr>
        <p:spPr>
          <a:xfrm>
            <a:off x="4349496"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49496" y="4078224"/>
            <a:ext cx="73152" cy="2121408"/>
          </a:xfrm>
          <a:prstGeom prst="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68952"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009A78"/>
                </a:solidFill>
                <a:latin typeface="Arial"/>
              </a:rPr>
              <a:t>Website</a:t>
            </a:r>
          </a:p>
        </p:txBody>
      </p:sp>
      <p:sp>
        <p:nvSpPr>
          <p:cNvPr id="29" name="TextBox 28"/>
          <p:cNvSpPr txBox="1"/>
          <p:nvPr/>
        </p:nvSpPr>
        <p:spPr>
          <a:xfrm>
            <a:off x="4568952"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www.tertiarycourses.com.sg</a:t>
            </a:r>
          </a:p>
        </p:txBody>
      </p:sp>
      <p:sp>
        <p:nvSpPr>
          <p:cNvPr id="30" name="Rounded Rectangle 29"/>
          <p:cNvSpPr/>
          <p:nvPr/>
        </p:nvSpPr>
        <p:spPr>
          <a:xfrm>
            <a:off x="8013192" y="4078224"/>
            <a:ext cx="3462528" cy="2121408"/>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13192" y="4078224"/>
            <a:ext cx="73152" cy="2121408"/>
          </a:xfrm>
          <a:prstGeom prst="rect">
            <a:avLst/>
          </a:prstGeom>
          <a:solidFill>
            <a:srgbClr val="E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32648" y="4279392"/>
            <a:ext cx="3060192" cy="384048"/>
          </a:xfrm>
          <a:prstGeom prst="rect">
            <a:avLst/>
          </a:prstGeom>
          <a:noFill/>
        </p:spPr>
        <p:txBody>
          <a:bodyPr wrap="square" anchor="t" lIns="54864" rIns="54864" tIns="54864" bIns="54864">
            <a:spAutoFit/>
          </a:bodyPr>
          <a:lstStyle/>
          <a:p>
            <a:pPr algn="l">
              <a:spcAft>
                <a:spcPts val="0"/>
              </a:spcAft>
            </a:pPr>
            <a:r>
              <a:rPr sz="1500" b="1">
                <a:solidFill>
                  <a:srgbClr val="E98500"/>
                </a:solidFill>
                <a:latin typeface="Arial"/>
              </a:rPr>
              <a:t>Privacy</a:t>
            </a:r>
          </a:p>
        </p:txBody>
      </p:sp>
      <p:sp>
        <p:nvSpPr>
          <p:cNvPr id="33" name="TextBox 32"/>
          <p:cNvSpPr txBox="1"/>
          <p:nvPr/>
        </p:nvSpPr>
        <p:spPr>
          <a:xfrm>
            <a:off x="8232648" y="4736592"/>
            <a:ext cx="3060192" cy="1280160"/>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Do not send assessment content publicly.</a:t>
            </a:r>
          </a:p>
        </p:txBody>
      </p:sp>
    </p:spTree>
  </p:cSld>
  <p:transition spd="med" advClick="1">
    <p:fade/>
  </p:transition>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C92828"/>
                </a:solidFill>
                <a:latin typeface="Arial"/>
              </a:rPr>
              <a:t>WA + PP</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Final Assessment</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208</a:t>
            </a:r>
          </a:p>
        </p:txBody>
      </p:sp>
      <p:sp>
        <p:nvSpPr>
          <p:cNvPr id="10" name="Rounded Rectangle 9"/>
          <p:cNvSpPr/>
          <p:nvPr/>
        </p:nvSpPr>
        <p:spPr>
          <a:xfrm>
            <a:off x="685800" y="1874519"/>
            <a:ext cx="1997049" cy="228600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50392" y="2039112"/>
            <a:ext cx="548640" cy="548640"/>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2167127"/>
            <a:ext cx="548640" cy="219456"/>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1</a:t>
            </a:r>
          </a:p>
        </p:txBody>
      </p:sp>
      <p:sp>
        <p:nvSpPr>
          <p:cNvPr id="13" name="TextBox 12"/>
          <p:cNvSpPr txBox="1"/>
          <p:nvPr/>
        </p:nvSpPr>
        <p:spPr>
          <a:xfrm>
            <a:off x="850392" y="2816352"/>
            <a:ext cx="1667865" cy="594360"/>
          </a:xfrm>
          <a:prstGeom prst="rect">
            <a:avLst/>
          </a:prstGeom>
          <a:noFill/>
        </p:spPr>
        <p:txBody>
          <a:bodyPr wrap="square" anchor="t" lIns="54864" rIns="54864" tIns="54864" bIns="54864">
            <a:spAutoFit/>
          </a:bodyPr>
          <a:lstStyle/>
          <a:p>
            <a:pPr algn="ctr">
              <a:spcAft>
                <a:spcPts val="0"/>
              </a:spcAft>
            </a:pPr>
            <a:r>
              <a:rPr sz="1500" b="1">
                <a:solidFill>
                  <a:srgbClr val="161920"/>
                </a:solidFill>
                <a:latin typeface="Arial"/>
              </a:rPr>
              <a:t>Briefing</a:t>
            </a:r>
          </a:p>
        </p:txBody>
      </p:sp>
      <p:sp>
        <p:nvSpPr>
          <p:cNvPr id="14" name="Chevron 13"/>
          <p:cNvSpPr/>
          <p:nvPr/>
        </p:nvSpPr>
        <p:spPr>
          <a:xfrm>
            <a:off x="2714853" y="2816352"/>
            <a:ext cx="137160" cy="457200"/>
          </a:xfrm>
          <a:prstGeom prst="chevron">
            <a:avLst/>
          </a:prstGeom>
          <a:solidFill>
            <a:srgbClr val="C9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884017" y="1874519"/>
            <a:ext cx="1997049" cy="228600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048609" y="2039112"/>
            <a:ext cx="548640" cy="548640"/>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48609" y="2167127"/>
            <a:ext cx="548640" cy="219456"/>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2</a:t>
            </a:r>
          </a:p>
        </p:txBody>
      </p:sp>
      <p:sp>
        <p:nvSpPr>
          <p:cNvPr id="18" name="TextBox 17"/>
          <p:cNvSpPr txBox="1"/>
          <p:nvPr/>
        </p:nvSpPr>
        <p:spPr>
          <a:xfrm>
            <a:off x="3048609" y="2816352"/>
            <a:ext cx="1667865" cy="594360"/>
          </a:xfrm>
          <a:prstGeom prst="rect">
            <a:avLst/>
          </a:prstGeom>
          <a:noFill/>
        </p:spPr>
        <p:txBody>
          <a:bodyPr wrap="square" anchor="t" lIns="54864" rIns="54864" tIns="54864" bIns="54864">
            <a:spAutoFit/>
          </a:bodyPr>
          <a:lstStyle/>
          <a:p>
            <a:pPr algn="ctr">
              <a:spcAft>
                <a:spcPts val="0"/>
              </a:spcAft>
            </a:pPr>
            <a:r>
              <a:rPr sz="1500" b="1">
                <a:solidFill>
                  <a:srgbClr val="161920"/>
                </a:solidFill>
                <a:latin typeface="Arial"/>
              </a:rPr>
              <a:t>WA · 60 min</a:t>
            </a:r>
          </a:p>
        </p:txBody>
      </p:sp>
      <p:sp>
        <p:nvSpPr>
          <p:cNvPr id="19" name="Chevron 18"/>
          <p:cNvSpPr/>
          <p:nvPr/>
        </p:nvSpPr>
        <p:spPr>
          <a:xfrm>
            <a:off x="4913071" y="2816352"/>
            <a:ext cx="137160" cy="457200"/>
          </a:xfrm>
          <a:prstGeom prst="chevron">
            <a:avLst/>
          </a:prstGeom>
          <a:solidFill>
            <a:srgbClr val="C9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82235" y="1874519"/>
            <a:ext cx="1997049" cy="228600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46827" y="2039112"/>
            <a:ext cx="548640" cy="548640"/>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6827" y="2167127"/>
            <a:ext cx="548640" cy="219456"/>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3</a:t>
            </a:r>
          </a:p>
        </p:txBody>
      </p:sp>
      <p:sp>
        <p:nvSpPr>
          <p:cNvPr id="23" name="TextBox 22"/>
          <p:cNvSpPr txBox="1"/>
          <p:nvPr/>
        </p:nvSpPr>
        <p:spPr>
          <a:xfrm>
            <a:off x="5246827" y="2816352"/>
            <a:ext cx="1667865" cy="594360"/>
          </a:xfrm>
          <a:prstGeom prst="rect">
            <a:avLst/>
          </a:prstGeom>
          <a:noFill/>
        </p:spPr>
        <p:txBody>
          <a:bodyPr wrap="square" anchor="t" lIns="54864" rIns="54864" tIns="54864" bIns="54864">
            <a:spAutoFit/>
          </a:bodyPr>
          <a:lstStyle/>
          <a:p>
            <a:pPr algn="ctr">
              <a:spcAft>
                <a:spcPts val="0"/>
              </a:spcAft>
            </a:pPr>
            <a:r>
              <a:rPr sz="1500" b="1">
                <a:solidFill>
                  <a:srgbClr val="161920"/>
                </a:solidFill>
                <a:latin typeface="Arial"/>
              </a:rPr>
              <a:t>Transition</a:t>
            </a:r>
          </a:p>
        </p:txBody>
      </p:sp>
      <p:sp>
        <p:nvSpPr>
          <p:cNvPr id="24" name="Chevron 23"/>
          <p:cNvSpPr/>
          <p:nvPr/>
        </p:nvSpPr>
        <p:spPr>
          <a:xfrm>
            <a:off x="7111288" y="2816352"/>
            <a:ext cx="137160" cy="457200"/>
          </a:xfrm>
          <a:prstGeom prst="chevron">
            <a:avLst/>
          </a:prstGeom>
          <a:solidFill>
            <a:srgbClr val="C9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80452" y="1874519"/>
            <a:ext cx="1997049" cy="228600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445044" y="2039112"/>
            <a:ext cx="548640" cy="54864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45044" y="2167127"/>
            <a:ext cx="548640" cy="219456"/>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4</a:t>
            </a:r>
          </a:p>
        </p:txBody>
      </p:sp>
      <p:sp>
        <p:nvSpPr>
          <p:cNvPr id="28" name="TextBox 27"/>
          <p:cNvSpPr txBox="1"/>
          <p:nvPr/>
        </p:nvSpPr>
        <p:spPr>
          <a:xfrm>
            <a:off x="7445044" y="2816352"/>
            <a:ext cx="1667865" cy="594360"/>
          </a:xfrm>
          <a:prstGeom prst="rect">
            <a:avLst/>
          </a:prstGeom>
          <a:noFill/>
        </p:spPr>
        <p:txBody>
          <a:bodyPr wrap="square" anchor="t" lIns="54864" rIns="54864" tIns="54864" bIns="54864">
            <a:spAutoFit/>
          </a:bodyPr>
          <a:lstStyle/>
          <a:p>
            <a:pPr algn="ctr">
              <a:spcAft>
                <a:spcPts val="0"/>
              </a:spcAft>
            </a:pPr>
            <a:r>
              <a:rPr sz="1500" b="1">
                <a:solidFill>
                  <a:srgbClr val="161920"/>
                </a:solidFill>
                <a:latin typeface="Arial"/>
              </a:rPr>
              <a:t>PP · 60 min</a:t>
            </a:r>
          </a:p>
        </p:txBody>
      </p:sp>
      <p:sp>
        <p:nvSpPr>
          <p:cNvPr id="29" name="Chevron 28"/>
          <p:cNvSpPr/>
          <p:nvPr/>
        </p:nvSpPr>
        <p:spPr>
          <a:xfrm>
            <a:off x="9309506" y="2816352"/>
            <a:ext cx="137160" cy="457200"/>
          </a:xfrm>
          <a:prstGeom prst="chevron">
            <a:avLst/>
          </a:prstGeom>
          <a:solidFill>
            <a:srgbClr val="C9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478670" y="1874519"/>
            <a:ext cx="1997049" cy="228600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643262" y="2039112"/>
            <a:ext cx="548640" cy="548640"/>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43262" y="2167127"/>
            <a:ext cx="548640" cy="219456"/>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5</a:t>
            </a:r>
          </a:p>
        </p:txBody>
      </p:sp>
      <p:sp>
        <p:nvSpPr>
          <p:cNvPr id="33" name="TextBox 32"/>
          <p:cNvSpPr txBox="1"/>
          <p:nvPr/>
        </p:nvSpPr>
        <p:spPr>
          <a:xfrm>
            <a:off x="9643262" y="2816352"/>
            <a:ext cx="1667865" cy="594360"/>
          </a:xfrm>
          <a:prstGeom prst="rect">
            <a:avLst/>
          </a:prstGeom>
          <a:noFill/>
        </p:spPr>
        <p:txBody>
          <a:bodyPr wrap="square" anchor="t" lIns="54864" rIns="54864" tIns="54864" bIns="54864">
            <a:spAutoFit/>
          </a:bodyPr>
          <a:lstStyle/>
          <a:p>
            <a:pPr algn="ctr">
              <a:spcAft>
                <a:spcPts val="0"/>
              </a:spcAft>
            </a:pPr>
            <a:r>
              <a:rPr sz="1500" b="1">
                <a:solidFill>
                  <a:srgbClr val="161920"/>
                </a:solidFill>
                <a:latin typeface="Arial"/>
              </a:rPr>
              <a:t>Submit</a:t>
            </a:r>
          </a:p>
        </p:txBody>
      </p:sp>
      <p:sp>
        <p:nvSpPr>
          <p:cNvPr id="34" name="Rounded Rectangle 33"/>
          <p:cNvSpPr/>
          <p:nvPr/>
        </p:nvSpPr>
        <p:spPr>
          <a:xfrm>
            <a:off x="685800" y="4617720"/>
            <a:ext cx="10789920" cy="1133856"/>
          </a:xfrm>
          <a:prstGeom prst="roundRect">
            <a:avLst/>
          </a:prstGeom>
          <a:solidFill>
            <a:srgbClr val="C9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14400" y="4846320"/>
            <a:ext cx="1508760" cy="228600"/>
          </a:xfrm>
          <a:prstGeom prst="rect">
            <a:avLst/>
          </a:prstGeom>
          <a:noFill/>
        </p:spPr>
        <p:txBody>
          <a:bodyPr wrap="square" anchor="t" lIns="54864" rIns="54864" tIns="54864" bIns="54864">
            <a:spAutoFit/>
          </a:bodyPr>
          <a:lstStyle/>
          <a:p>
            <a:pPr algn="l">
              <a:spcAft>
                <a:spcPts val="0"/>
              </a:spcAft>
            </a:pPr>
            <a:r>
              <a:rPr sz="1100" b="1">
                <a:solidFill>
                  <a:srgbClr val="FFFFFF"/>
                </a:solidFill>
                <a:latin typeface="Arial"/>
              </a:rPr>
              <a:t>OUTCOME</a:t>
            </a:r>
          </a:p>
        </p:txBody>
      </p:sp>
      <p:sp>
        <p:nvSpPr>
          <p:cNvPr id="36" name="TextBox 35"/>
          <p:cNvSpPr txBox="1"/>
          <p:nvPr/>
        </p:nvSpPr>
        <p:spPr>
          <a:xfrm>
            <a:off x="2240280" y="4773168"/>
            <a:ext cx="8915400" cy="621792"/>
          </a:xfrm>
          <a:prstGeom prst="rect">
            <a:avLst/>
          </a:prstGeom>
          <a:noFill/>
        </p:spPr>
        <p:txBody>
          <a:bodyPr wrap="square" anchor="t" lIns="54864" rIns="54864" tIns="54864" bIns="54864">
            <a:spAutoFit/>
          </a:bodyPr>
          <a:lstStyle/>
          <a:p>
            <a:pPr algn="l">
              <a:spcAft>
                <a:spcPts val="0"/>
              </a:spcAft>
            </a:pPr>
            <a:r>
              <a:rPr sz="1600" b="1">
                <a:solidFill>
                  <a:srgbClr val="FFFFFF"/>
                </a:solidFill>
                <a:latin typeface="Arial"/>
              </a:rPr>
              <a:t>Complete your own open-book evidence and submit when time is called.</a:t>
            </a:r>
          </a:p>
        </p:txBody>
      </p:sp>
    </p:spTree>
  </p:cSld>
  <p:transition spd="med" advClick="1">
    <p:fade/>
  </p:transition>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E11D74"/>
                </a:solidFill>
                <a:latin typeface="Arial"/>
              </a:rPr>
              <a:t>COMPETENCY SIGN-OFF</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Assessment Flow</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209</a:t>
            </a:r>
          </a:p>
        </p:txBody>
      </p:sp>
      <p:sp>
        <p:nvSpPr>
          <p:cNvPr id="10" name="Rounded Rectangle 9"/>
          <p:cNvSpPr/>
          <p:nvPr/>
        </p:nvSpPr>
        <p:spPr>
          <a:xfrm>
            <a:off x="685800" y="1874519"/>
            <a:ext cx="1997049" cy="228600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50392" y="2039112"/>
            <a:ext cx="548640" cy="548640"/>
          </a:xfrm>
          <a:prstGeom prst="round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2167127"/>
            <a:ext cx="548640" cy="219456"/>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1</a:t>
            </a:r>
          </a:p>
        </p:txBody>
      </p:sp>
      <p:sp>
        <p:nvSpPr>
          <p:cNvPr id="13" name="TextBox 12"/>
          <p:cNvSpPr txBox="1"/>
          <p:nvPr/>
        </p:nvSpPr>
        <p:spPr>
          <a:xfrm>
            <a:off x="850392" y="2816352"/>
            <a:ext cx="1667865" cy="594360"/>
          </a:xfrm>
          <a:prstGeom prst="rect">
            <a:avLst/>
          </a:prstGeom>
          <a:noFill/>
        </p:spPr>
        <p:txBody>
          <a:bodyPr wrap="square" anchor="t" lIns="54864" rIns="54864" tIns="54864" bIns="54864">
            <a:spAutoFit/>
          </a:bodyPr>
          <a:lstStyle/>
          <a:p>
            <a:pPr algn="ctr">
              <a:spcAft>
                <a:spcPts val="0"/>
              </a:spcAft>
            </a:pPr>
            <a:r>
              <a:rPr sz="1500" b="1">
                <a:solidFill>
                  <a:srgbClr val="161920"/>
                </a:solidFill>
                <a:latin typeface="Arial"/>
              </a:rPr>
              <a:t>TRAQOM</a:t>
            </a:r>
          </a:p>
        </p:txBody>
      </p:sp>
      <p:sp>
        <p:nvSpPr>
          <p:cNvPr id="14" name="Chevron 13"/>
          <p:cNvSpPr/>
          <p:nvPr/>
        </p:nvSpPr>
        <p:spPr>
          <a:xfrm>
            <a:off x="2714853" y="2816352"/>
            <a:ext cx="137160" cy="457200"/>
          </a:xfrm>
          <a:prstGeom prst="chevron">
            <a:avLst/>
          </a:prstGeom>
          <a:solidFill>
            <a:srgbClr val="E11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884017" y="1874519"/>
            <a:ext cx="1997049" cy="228600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048609" y="2039112"/>
            <a:ext cx="548640" cy="548640"/>
          </a:xfrm>
          <a:prstGeom prst="round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48609" y="2167127"/>
            <a:ext cx="548640" cy="219456"/>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2</a:t>
            </a:r>
          </a:p>
        </p:txBody>
      </p:sp>
      <p:sp>
        <p:nvSpPr>
          <p:cNvPr id="18" name="TextBox 17"/>
          <p:cNvSpPr txBox="1"/>
          <p:nvPr/>
        </p:nvSpPr>
        <p:spPr>
          <a:xfrm>
            <a:off x="3048609" y="2816352"/>
            <a:ext cx="1667865" cy="594360"/>
          </a:xfrm>
          <a:prstGeom prst="rect">
            <a:avLst/>
          </a:prstGeom>
          <a:noFill/>
        </p:spPr>
        <p:txBody>
          <a:bodyPr wrap="square" anchor="t" lIns="54864" rIns="54864" tIns="54864" bIns="54864">
            <a:spAutoFit/>
          </a:bodyPr>
          <a:lstStyle/>
          <a:p>
            <a:pPr algn="ctr">
              <a:spcAft>
                <a:spcPts val="0"/>
              </a:spcAft>
            </a:pPr>
            <a:r>
              <a:rPr sz="1500" b="1">
                <a:solidFill>
                  <a:srgbClr val="161920"/>
                </a:solidFill>
                <a:latin typeface="Arial"/>
              </a:rPr>
              <a:t>Assessment digital attendance</a:t>
            </a:r>
          </a:p>
        </p:txBody>
      </p:sp>
      <p:sp>
        <p:nvSpPr>
          <p:cNvPr id="19" name="Chevron 18"/>
          <p:cNvSpPr/>
          <p:nvPr/>
        </p:nvSpPr>
        <p:spPr>
          <a:xfrm>
            <a:off x="4913071" y="2816352"/>
            <a:ext cx="137160" cy="457200"/>
          </a:xfrm>
          <a:prstGeom prst="chevron">
            <a:avLst/>
          </a:prstGeom>
          <a:solidFill>
            <a:srgbClr val="E11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82235" y="1874519"/>
            <a:ext cx="1997049" cy="228600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46827" y="2039112"/>
            <a:ext cx="548640" cy="548640"/>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6827" y="2167127"/>
            <a:ext cx="548640" cy="219456"/>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3</a:t>
            </a:r>
          </a:p>
        </p:txBody>
      </p:sp>
      <p:sp>
        <p:nvSpPr>
          <p:cNvPr id="23" name="TextBox 22"/>
          <p:cNvSpPr txBox="1"/>
          <p:nvPr/>
        </p:nvSpPr>
        <p:spPr>
          <a:xfrm>
            <a:off x="5246827" y="2816352"/>
            <a:ext cx="1667865" cy="594360"/>
          </a:xfrm>
          <a:prstGeom prst="rect">
            <a:avLst/>
          </a:prstGeom>
          <a:noFill/>
        </p:spPr>
        <p:txBody>
          <a:bodyPr wrap="square" anchor="t" lIns="54864" rIns="54864" tIns="54864" bIns="54864">
            <a:spAutoFit/>
          </a:bodyPr>
          <a:lstStyle/>
          <a:p>
            <a:pPr algn="ctr">
              <a:spcAft>
                <a:spcPts val="0"/>
              </a:spcAft>
            </a:pPr>
            <a:r>
              <a:rPr sz="1500" b="1">
                <a:solidFill>
                  <a:srgbClr val="161920"/>
                </a:solidFill>
                <a:latin typeface="Arial"/>
              </a:rPr>
              <a:t>WA then PP</a:t>
            </a:r>
          </a:p>
        </p:txBody>
      </p:sp>
      <p:sp>
        <p:nvSpPr>
          <p:cNvPr id="24" name="Chevron 23"/>
          <p:cNvSpPr/>
          <p:nvPr/>
        </p:nvSpPr>
        <p:spPr>
          <a:xfrm>
            <a:off x="7111288" y="2816352"/>
            <a:ext cx="137160" cy="457200"/>
          </a:xfrm>
          <a:prstGeom prst="chevron">
            <a:avLst/>
          </a:prstGeom>
          <a:solidFill>
            <a:srgbClr val="E11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80452" y="1874519"/>
            <a:ext cx="1997049" cy="228600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445044" y="2039112"/>
            <a:ext cx="548640" cy="54864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45044" y="2167127"/>
            <a:ext cx="548640" cy="219456"/>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4</a:t>
            </a:r>
          </a:p>
        </p:txBody>
      </p:sp>
      <p:sp>
        <p:nvSpPr>
          <p:cNvPr id="28" name="TextBox 27"/>
          <p:cNvSpPr txBox="1"/>
          <p:nvPr/>
        </p:nvSpPr>
        <p:spPr>
          <a:xfrm>
            <a:off x="7445044" y="2816352"/>
            <a:ext cx="1667865" cy="594360"/>
          </a:xfrm>
          <a:prstGeom prst="rect">
            <a:avLst/>
          </a:prstGeom>
          <a:noFill/>
        </p:spPr>
        <p:txBody>
          <a:bodyPr wrap="square" anchor="t" lIns="54864" rIns="54864" tIns="54864" bIns="54864">
            <a:spAutoFit/>
          </a:bodyPr>
          <a:lstStyle/>
          <a:p>
            <a:pPr algn="ctr">
              <a:spcAft>
                <a:spcPts val="0"/>
              </a:spcAft>
            </a:pPr>
            <a:r>
              <a:rPr sz="1500" b="1">
                <a:solidFill>
                  <a:srgbClr val="161920"/>
                </a:solidFill>
                <a:latin typeface="Arial"/>
              </a:rPr>
              <a:t>Submit on LMS</a:t>
            </a:r>
          </a:p>
        </p:txBody>
      </p:sp>
      <p:sp>
        <p:nvSpPr>
          <p:cNvPr id="29" name="Chevron 28"/>
          <p:cNvSpPr/>
          <p:nvPr/>
        </p:nvSpPr>
        <p:spPr>
          <a:xfrm>
            <a:off x="9309506" y="2816352"/>
            <a:ext cx="137160" cy="457200"/>
          </a:xfrm>
          <a:prstGeom prst="chevron">
            <a:avLst/>
          </a:prstGeom>
          <a:solidFill>
            <a:srgbClr val="E11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478670" y="1874519"/>
            <a:ext cx="1997049" cy="2286000"/>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643262" y="2039112"/>
            <a:ext cx="548640" cy="548640"/>
          </a:xfrm>
          <a:prstGeom prst="roundRect">
            <a:avLst/>
          </a:prstGeom>
          <a:solidFill>
            <a:srgbClr val="009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43262" y="2167127"/>
            <a:ext cx="548640" cy="219456"/>
          </a:xfrm>
          <a:prstGeom prst="rect">
            <a:avLst/>
          </a:prstGeom>
          <a:noFill/>
        </p:spPr>
        <p:txBody>
          <a:bodyPr wrap="square" anchor="t" lIns="54864" rIns="54864" tIns="54864" bIns="54864">
            <a:spAutoFit/>
          </a:bodyPr>
          <a:lstStyle/>
          <a:p>
            <a:pPr algn="ctr">
              <a:spcAft>
                <a:spcPts val="0"/>
              </a:spcAft>
            </a:pPr>
            <a:r>
              <a:rPr sz="1200" b="1">
                <a:solidFill>
                  <a:srgbClr val="FFFFFF"/>
                </a:solidFill>
                <a:latin typeface="Arial"/>
              </a:rPr>
              <a:t>5</a:t>
            </a:r>
          </a:p>
        </p:txBody>
      </p:sp>
      <p:sp>
        <p:nvSpPr>
          <p:cNvPr id="33" name="TextBox 32"/>
          <p:cNvSpPr txBox="1"/>
          <p:nvPr/>
        </p:nvSpPr>
        <p:spPr>
          <a:xfrm>
            <a:off x="9643262" y="2816352"/>
            <a:ext cx="1667865" cy="594360"/>
          </a:xfrm>
          <a:prstGeom prst="rect">
            <a:avLst/>
          </a:prstGeom>
          <a:noFill/>
        </p:spPr>
        <p:txBody>
          <a:bodyPr wrap="square" anchor="t" lIns="54864" rIns="54864" tIns="54864" bIns="54864">
            <a:spAutoFit/>
          </a:bodyPr>
          <a:lstStyle/>
          <a:p>
            <a:pPr algn="ctr">
              <a:spcAft>
                <a:spcPts val="0"/>
              </a:spcAft>
            </a:pPr>
            <a:r>
              <a:rPr sz="1500" b="1">
                <a:solidFill>
                  <a:srgbClr val="161920"/>
                </a:solidFill>
                <a:latin typeface="Arial"/>
              </a:rPr>
              <a:t>Sign summary record</a:t>
            </a:r>
          </a:p>
        </p:txBody>
      </p:sp>
      <p:sp>
        <p:nvSpPr>
          <p:cNvPr id="34" name="Rounded Rectangle 33"/>
          <p:cNvSpPr/>
          <p:nvPr/>
        </p:nvSpPr>
        <p:spPr>
          <a:xfrm>
            <a:off x="685800" y="4617720"/>
            <a:ext cx="10789920" cy="1133856"/>
          </a:xfrm>
          <a:prstGeom prst="round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14400" y="4846320"/>
            <a:ext cx="1508760" cy="228600"/>
          </a:xfrm>
          <a:prstGeom prst="rect">
            <a:avLst/>
          </a:prstGeom>
          <a:noFill/>
        </p:spPr>
        <p:txBody>
          <a:bodyPr wrap="square" anchor="t" lIns="54864" rIns="54864" tIns="54864" bIns="54864">
            <a:spAutoFit/>
          </a:bodyPr>
          <a:lstStyle/>
          <a:p>
            <a:pPr algn="l">
              <a:spcAft>
                <a:spcPts val="0"/>
              </a:spcAft>
            </a:pPr>
            <a:r>
              <a:rPr sz="1100" b="1">
                <a:solidFill>
                  <a:srgbClr val="FFFFFF"/>
                </a:solidFill>
                <a:latin typeface="Arial"/>
              </a:rPr>
              <a:t>OUTCOME</a:t>
            </a:r>
          </a:p>
        </p:txBody>
      </p:sp>
      <p:sp>
        <p:nvSpPr>
          <p:cNvPr id="36" name="TextBox 35"/>
          <p:cNvSpPr txBox="1"/>
          <p:nvPr/>
        </p:nvSpPr>
        <p:spPr>
          <a:xfrm>
            <a:off x="2240280" y="4773168"/>
            <a:ext cx="8915400" cy="621792"/>
          </a:xfrm>
          <a:prstGeom prst="rect">
            <a:avLst/>
          </a:prstGeom>
          <a:noFill/>
        </p:spPr>
        <p:txBody>
          <a:bodyPr wrap="square" anchor="t" lIns="54864" rIns="54864" tIns="54864" bIns="54864">
            <a:spAutoFit/>
          </a:bodyPr>
          <a:lstStyle/>
          <a:p>
            <a:pPr algn="l">
              <a:spcAft>
                <a:spcPts val="0"/>
              </a:spcAft>
            </a:pPr>
            <a:r>
              <a:rPr sz="1600" b="1">
                <a:solidFill>
                  <a:srgbClr val="FFFFFF"/>
                </a:solidFill>
                <a:latin typeface="Arial"/>
              </a:rPr>
              <a:t>Complete the official sequence: TRAQOM → assessment digital attendance → WA then PP → LMS submission → Assessment Summary Record.</a:t>
            </a:r>
          </a:p>
        </p:txBody>
      </p:sp>
    </p:spTree>
  </p:cSld>
  <p:transition spd="med" advClick="1">
    <p:fade/>
  </p:transition>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99616"/>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DIGITAL ATTENDANCE · MANDATORY</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TRAQOM · SSG Digital Attendance</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210</a:t>
            </a:r>
          </a:p>
        </p:txBody>
      </p:sp>
      <p:sp>
        <p:nvSpPr>
          <p:cNvPr id="10" name="Rounded Rectangle 9"/>
          <p:cNvSpPr/>
          <p:nvPr/>
        </p:nvSpPr>
        <p:spPr>
          <a:xfrm>
            <a:off x="685800" y="1755648"/>
            <a:ext cx="3462528" cy="4443984"/>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755648"/>
            <a:ext cx="73152" cy="4443984"/>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224AF4"/>
                </a:solidFill>
                <a:latin typeface="Arial"/>
              </a:rPr>
              <a:t>TRAQOM</a:t>
            </a:r>
          </a:p>
        </p:txBody>
      </p:sp>
      <p:sp>
        <p:nvSpPr>
          <p:cNvPr id="13" name="TextBox 12"/>
          <p:cNvSpPr txBox="1"/>
          <p:nvPr/>
        </p:nvSpPr>
        <p:spPr>
          <a:xfrm>
            <a:off x="905256" y="2414015"/>
            <a:ext cx="3060192" cy="3602736"/>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Scan the QR code provided through the LMS.</a:t>
            </a:r>
          </a:p>
        </p:txBody>
      </p:sp>
      <p:sp>
        <p:nvSpPr>
          <p:cNvPr id="14" name="Rounded Rectangle 13"/>
          <p:cNvSpPr/>
          <p:nvPr/>
        </p:nvSpPr>
        <p:spPr>
          <a:xfrm>
            <a:off x="4349496" y="1755648"/>
            <a:ext cx="3462528" cy="4443984"/>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9496" y="1755648"/>
            <a:ext cx="73152" cy="4443984"/>
          </a:xfrm>
          <a:prstGeom prst="rect">
            <a:avLst/>
          </a:prstGeom>
          <a:solidFill>
            <a:srgbClr val="00B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68952"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00B8D9"/>
                </a:solidFill>
                <a:latin typeface="Arial"/>
              </a:rPr>
              <a:t>Assessment attendance</a:t>
            </a:r>
          </a:p>
        </p:txBody>
      </p:sp>
      <p:sp>
        <p:nvSpPr>
          <p:cNvPr id="17" name="TextBox 16"/>
          <p:cNvSpPr txBox="1"/>
          <p:nvPr/>
        </p:nvSpPr>
        <p:spPr>
          <a:xfrm>
            <a:off x="4568952" y="2414015"/>
            <a:ext cx="3060192" cy="3602736"/>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Complete the official digital-attendance event before assessment.</a:t>
            </a:r>
          </a:p>
        </p:txBody>
      </p:sp>
      <p:sp>
        <p:nvSpPr>
          <p:cNvPr id="18" name="Rounded Rectangle 17"/>
          <p:cNvSpPr/>
          <p:nvPr/>
        </p:nvSpPr>
        <p:spPr>
          <a:xfrm>
            <a:off x="8013192" y="1755648"/>
            <a:ext cx="3462528" cy="4443984"/>
          </a:xfrm>
          <a:prstGeom prst="roundRect">
            <a:avLst/>
          </a:prstGeom>
          <a:solidFill>
            <a:srgbClr val="F5F7FB"/>
          </a:solidFill>
          <a:ln>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3192" y="1755648"/>
            <a:ext cx="73152" cy="4443984"/>
          </a:xfrm>
          <a:prstGeom prst="rect">
            <a:avLst/>
          </a:prstGeom>
          <a:solidFill>
            <a:srgbClr val="E11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32648" y="1956816"/>
            <a:ext cx="3060192" cy="384048"/>
          </a:xfrm>
          <a:prstGeom prst="rect">
            <a:avLst/>
          </a:prstGeom>
          <a:noFill/>
        </p:spPr>
        <p:txBody>
          <a:bodyPr wrap="square" anchor="t" lIns="54864" rIns="54864" tIns="54864" bIns="54864">
            <a:spAutoFit/>
          </a:bodyPr>
          <a:lstStyle/>
          <a:p>
            <a:pPr algn="l">
              <a:spcAft>
                <a:spcPts val="0"/>
              </a:spcAft>
            </a:pPr>
            <a:r>
              <a:rPr sz="1500" b="1">
                <a:solidFill>
                  <a:srgbClr val="E11D74"/>
                </a:solidFill>
                <a:latin typeface="Arial"/>
              </a:rPr>
              <a:t>Verification</a:t>
            </a:r>
          </a:p>
        </p:txBody>
      </p:sp>
      <p:sp>
        <p:nvSpPr>
          <p:cNvPr id="21" name="TextBox 20"/>
          <p:cNvSpPr txBox="1"/>
          <p:nvPr/>
        </p:nvSpPr>
        <p:spPr>
          <a:xfrm>
            <a:off x="8232648" y="2414015"/>
            <a:ext cx="3060192" cy="3602736"/>
          </a:xfrm>
          <a:prstGeom prst="rect">
            <a:avLst/>
          </a:prstGeom>
          <a:noFill/>
        </p:spPr>
        <p:txBody>
          <a:bodyPr wrap="square" anchor="t" lIns="54864" rIns="54864" tIns="54864" bIns="54864">
            <a:spAutoFit/>
          </a:bodyPr>
          <a:lstStyle/>
          <a:p>
            <a:pPr algn="l">
              <a:spcAft>
                <a:spcPts val="0"/>
              </a:spcAft>
            </a:pPr>
            <a:r>
              <a:rPr sz="1250" b="0">
                <a:solidFill>
                  <a:srgbClr val="5B6372"/>
                </a:solidFill>
                <a:latin typeface="Arial"/>
              </a:rPr>
              <a:t>Remain until the trainer confirms the SSG record.</a:t>
            </a:r>
          </a:p>
        </p:txBody>
      </p:sp>
    </p:spTree>
  </p:cSld>
  <p:transition spd="med" advClick="1">
    <p:fade/>
  </p:transition>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224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920240"/>
            <a:ext cx="10607040" cy="1005840"/>
          </a:xfrm>
          <a:prstGeom prst="rect">
            <a:avLst/>
          </a:prstGeom>
          <a:noFill/>
        </p:spPr>
        <p:txBody>
          <a:bodyPr wrap="square" anchor="t" lIns="54864" rIns="54864" tIns="54864" bIns="54864">
            <a:spAutoFit/>
          </a:bodyPr>
          <a:lstStyle/>
          <a:p>
            <a:pPr algn="ctr">
              <a:spcAft>
                <a:spcPts val="0"/>
              </a:spcAft>
            </a:pPr>
            <a:r>
              <a:rPr sz="4800" b="1">
                <a:solidFill>
                  <a:srgbClr val="161920"/>
                </a:solidFill>
                <a:latin typeface="Arial"/>
              </a:rPr>
              <a:t>Thank You</a:t>
            </a:r>
          </a:p>
        </p:txBody>
      </p:sp>
      <p:sp>
        <p:nvSpPr>
          <p:cNvPr id="5" name="TextBox 4"/>
          <p:cNvSpPr txBox="1"/>
          <p:nvPr/>
        </p:nvSpPr>
        <p:spPr>
          <a:xfrm>
            <a:off x="1371600" y="3246120"/>
            <a:ext cx="9418320" cy="594360"/>
          </a:xfrm>
          <a:prstGeom prst="rect">
            <a:avLst/>
          </a:prstGeom>
          <a:noFill/>
        </p:spPr>
        <p:txBody>
          <a:bodyPr wrap="square" anchor="t" lIns="54864" rIns="54864" tIns="54864" bIns="54864">
            <a:spAutoFit/>
          </a:bodyPr>
          <a:lstStyle/>
          <a:p>
            <a:pPr algn="ctr">
              <a:spcAft>
                <a:spcPts val="0"/>
              </a:spcAft>
            </a:pPr>
            <a:r>
              <a:rPr sz="2000" b="1">
                <a:solidFill>
                  <a:srgbClr val="224AF4"/>
                </a:solidFill>
                <a:latin typeface="Arial"/>
              </a:rPr>
              <a:t>Create with intent · preserve options · verify the output</a:t>
            </a:r>
          </a:p>
        </p:txBody>
      </p:sp>
      <p:sp>
        <p:nvSpPr>
          <p:cNvPr id="6" name="TextBox 5"/>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7" name="TextBox 6"/>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8" name="TextBox 7"/>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211</a:t>
            </a:r>
          </a:p>
        </p:txBody>
      </p:sp>
    </p:spTree>
  </p:cSld>
  <p:transition spd="med" advClick="1">
    <p:fade/>
  </p:transition>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10789920" cy="274320"/>
          </a:xfrm>
          <a:prstGeom prst="rect">
            <a:avLst/>
          </a:prstGeom>
          <a:noFill/>
        </p:spPr>
        <p:txBody>
          <a:bodyPr wrap="square" anchor="t" lIns="54864" rIns="54864" tIns="54864" bIns="54864">
            <a:spAutoFit/>
          </a:bodyPr>
          <a:lstStyle/>
          <a:p>
            <a:pPr algn="l">
              <a:spcAft>
                <a:spcPts val="0"/>
              </a:spcAft>
            </a:pPr>
            <a:r>
              <a:rPr sz="1150" b="1">
                <a:solidFill>
                  <a:srgbClr val="00B8D9"/>
                </a:solidFill>
                <a:latin typeface="Arial"/>
              </a:rPr>
              <a:t>COURSE PORTAL</a:t>
            </a:r>
          </a:p>
        </p:txBody>
      </p:sp>
      <p:sp>
        <p:nvSpPr>
          <p:cNvPr id="5" name="TextBox 4"/>
          <p:cNvSpPr txBox="1"/>
          <p:nvPr/>
        </p:nvSpPr>
        <p:spPr>
          <a:xfrm>
            <a:off x="658368" y="694944"/>
            <a:ext cx="10835640" cy="685800"/>
          </a:xfrm>
          <a:prstGeom prst="rect">
            <a:avLst/>
          </a:prstGeom>
          <a:noFill/>
        </p:spPr>
        <p:txBody>
          <a:bodyPr wrap="square" anchor="t" lIns="54864" rIns="54864" tIns="54864" bIns="54864">
            <a:spAutoFit/>
          </a:bodyPr>
          <a:lstStyle/>
          <a:p>
            <a:pPr algn="l">
              <a:spcAft>
                <a:spcPts val="0"/>
              </a:spcAft>
            </a:pPr>
            <a:r>
              <a:rPr sz="2800" b="1">
                <a:solidFill>
                  <a:srgbClr val="161920"/>
                </a:solidFill>
                <a:latin typeface="Arial"/>
              </a:rPr>
              <a:t>Login to LMS and Download Course Material</a:t>
            </a:r>
          </a:p>
        </p:txBody>
      </p:sp>
      <p:sp>
        <p:nvSpPr>
          <p:cNvPr id="6" name="Rectangle 5"/>
          <p:cNvSpPr/>
          <p:nvPr/>
        </p:nvSpPr>
        <p:spPr>
          <a:xfrm>
            <a:off x="658368" y="1417320"/>
            <a:ext cx="10881360" cy="18288"/>
          </a:xfrm>
          <a:prstGeom prst="rect">
            <a:avLst/>
          </a:prstGeom>
          <a:solidFill>
            <a:srgbClr val="DA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73952"/>
            <a:ext cx="3657600" cy="201168"/>
          </a:xfrm>
          <a:prstGeom prst="rect">
            <a:avLst/>
          </a:prstGeom>
          <a:noFill/>
        </p:spPr>
        <p:txBody>
          <a:bodyPr wrap="square" anchor="t" lIns="54864" rIns="54864" tIns="54864" bIns="54864">
            <a:spAutoFit/>
          </a:bodyPr>
          <a:lstStyle/>
          <a:p>
            <a:pPr algn="l">
              <a:spcAft>
                <a:spcPts val="0"/>
              </a:spcAft>
            </a:pPr>
            <a:r>
              <a:rPr sz="850" b="0">
                <a:solidFill>
                  <a:srgbClr val="5B6372"/>
                </a:solidFill>
                <a:latin typeface="Arial"/>
              </a:rPr>
              <a:t>Generative-AI-Visuals-in-Photoshop-and-Firefly  ·  TGS-2024045220</a:t>
            </a:r>
          </a:p>
        </p:txBody>
      </p:sp>
      <p:sp>
        <p:nvSpPr>
          <p:cNvPr id="8" name="TextBox 7"/>
          <p:cNvSpPr txBox="1"/>
          <p:nvPr/>
        </p:nvSpPr>
        <p:spPr>
          <a:xfrm>
            <a:off x="4069080" y="6473952"/>
            <a:ext cx="3931920" cy="201168"/>
          </a:xfrm>
          <a:prstGeom prst="rect">
            <a:avLst/>
          </a:prstGeom>
          <a:noFill/>
        </p:spPr>
        <p:txBody>
          <a:bodyPr wrap="square" anchor="t" lIns="54864" rIns="54864" tIns="54864" bIns="54864">
            <a:spAutoFit/>
          </a:bodyPr>
          <a:lstStyle/>
          <a:p>
            <a:pPr algn="ctr">
              <a:spcAft>
                <a:spcPts val="0"/>
              </a:spcAft>
            </a:pPr>
            <a:r>
              <a:rPr sz="780" b="0">
                <a:solidFill>
                  <a:srgbClr val="5B6372"/>
                </a:solidFill>
                <a:latin typeface="Arial"/>
              </a:rPr>
              <a:t>© 2026 Tertiary Infotech Academy Pte Ltd</a:t>
            </a:r>
          </a:p>
        </p:txBody>
      </p:sp>
      <p:sp>
        <p:nvSpPr>
          <p:cNvPr id="9" name="TextBox 8"/>
          <p:cNvSpPr txBox="1"/>
          <p:nvPr/>
        </p:nvSpPr>
        <p:spPr>
          <a:xfrm>
            <a:off x="11475720" y="6473952"/>
            <a:ext cx="320040" cy="201168"/>
          </a:xfrm>
          <a:prstGeom prst="rect">
            <a:avLst/>
          </a:prstGeom>
          <a:noFill/>
        </p:spPr>
        <p:txBody>
          <a:bodyPr wrap="square" anchor="t" lIns="54864" rIns="54864" tIns="54864" bIns="54864">
            <a:spAutoFit/>
          </a:bodyPr>
          <a:lstStyle/>
          <a:p>
            <a:pPr algn="r">
              <a:spcAft>
                <a:spcPts val="0"/>
              </a:spcAft>
            </a:pPr>
            <a:r>
              <a:rPr sz="850" b="0">
                <a:solidFill>
                  <a:srgbClr val="5B6372"/>
                </a:solidFill>
                <a:latin typeface="Arial"/>
              </a:rPr>
              <a:t>7</a:t>
            </a:r>
          </a:p>
        </p:txBody>
      </p:sp>
      <p:pic>
        <p:nvPicPr>
          <p:cNvPr id="10" name="Picture 9" descr="ref_login.png"/>
          <p:cNvPicPr>
            <a:picLocks noChangeAspect="1"/>
          </p:cNvPicPr>
          <p:nvPr/>
        </p:nvPicPr>
        <p:blipFill>
          <a:blip r:embed="rId2"/>
          <a:stretch>
            <a:fillRect/>
          </a:stretch>
        </p:blipFill>
        <p:spPr>
          <a:xfrm>
            <a:off x="1817926" y="1586484"/>
            <a:ext cx="8555843" cy="4256532"/>
          </a:xfrm>
          <a:prstGeom prst="rect">
            <a:avLst/>
          </a:prstGeom>
          <a:ln w="12700">
            <a:solidFill>
              <a:srgbClr val="E2E8F0"/>
            </a:solidFill>
          </a:ln>
        </p:spPr>
      </p:pic>
      <p:sp>
        <p:nvSpPr>
          <p:cNvPr id="11" name="TextBox 10"/>
          <p:cNvSpPr txBox="1"/>
          <p:nvPr/>
        </p:nvSpPr>
        <p:spPr>
          <a:xfrm>
            <a:off x="658368" y="5925312"/>
            <a:ext cx="10874959" cy="459486"/>
          </a:xfrm>
          <a:prstGeom prst="rect">
            <a:avLst/>
          </a:prstGeom>
          <a:noFill/>
        </p:spPr>
        <p:txBody>
          <a:bodyPr wrap="square">
            <a:spAutoFit/>
          </a:bodyPr>
          <a:lstStyle/>
          <a:p>
            <a:pPr algn="ctr"/>
            <a:r>
              <a:rPr sz="1150">
                <a:solidFill>
                  <a:srgbClr val="475569"/>
                </a:solidFill>
                <a:latin typeface="Arial"/>
              </a:rPr>
              <a:t>Log in at lms-tms.tertiaryinfotech.com with your registered email and the OTP sent to your inbox, then open this course to download the slides and Learner Guide.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