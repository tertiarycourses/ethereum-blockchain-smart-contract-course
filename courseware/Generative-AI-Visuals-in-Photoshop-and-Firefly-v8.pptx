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Review score</c:v>
                </c:pt>
              </c:strCache>
            </c:strRef>
          </c:tx>
          <c:cat>
            <c:strRef>
              <c:f>Sheet1!$A$2:$A$7</c:f>
              <c:strCache>
                <c:ptCount val="6"/>
                <c:pt idx="0">
                  <c:v>Clear subject</c:v>
                </c:pt>
                <c:pt idx="1">
                  <c:v>Audience fit</c:v>
                </c:pt>
                <c:pt idx="2">
                  <c:v>Composition</c:v>
                </c:pt>
                <c:pt idx="3">
                  <c:v>Lighting/style</c:v>
                </c:pt>
                <c:pt idx="4">
                  <c:v>Constraints</c:v>
                </c:pt>
                <c:pt idx="5">
                  <c:v>Provenance</c:v>
                </c:pt>
              </c:strCache>
            </c:strRef>
          </c:cat>
          <c:val>
            <c:numRef>
              <c:f>Sheet1!$B$2:$B$7</c:f>
              <c:numCache>
                <c:formatCode>General</c:formatCode>
                <c:ptCount val="6"/>
                <c:pt idx="0">
                  <c:v>5</c:v>
                </c:pt>
                <c:pt idx="1">
                  <c:v>4</c:v>
                </c:pt>
                <c:pt idx="2">
                  <c:v>4</c:v>
                </c:pt>
                <c:pt idx="3">
                  <c:v>3</c:v>
                </c:pt>
                <c:pt idx="4">
                  <c:v>4</c:v>
                </c:pt>
                <c:pt idx="5">
                  <c:v>5</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Structure control</c:v>
                </c:pt>
              </c:strCache>
            </c:strRef>
          </c:tx>
          <c:cat>
            <c:strRef>
              <c:f>Sheet1!$A$2:$A$5</c:f>
              <c:strCache>
                <c:ptCount val="4"/>
                <c:pt idx="0">
                  <c:v>Prompt only</c:v>
                </c:pt>
                <c:pt idx="1">
                  <c:v>Composition ref</c:v>
                </c:pt>
                <c:pt idx="2">
                  <c:v>Style ref</c:v>
                </c:pt>
                <c:pt idx="3">
                  <c:v>Both refs</c:v>
                </c:pt>
              </c:strCache>
            </c:strRef>
          </c:cat>
          <c:val>
            <c:numRef>
              <c:f>Sheet1!$B$2:$B$5</c:f>
              <c:numCache>
                <c:formatCode>General</c:formatCode>
                <c:ptCount val="4"/>
                <c:pt idx="0">
                  <c:v>2</c:v>
                </c:pt>
                <c:pt idx="1">
                  <c:v>5</c:v>
                </c:pt>
                <c:pt idx="2">
                  <c:v>2</c:v>
                </c:pt>
                <c:pt idx="3">
                  <c:v>5</c:v>
                </c:pt>
              </c:numCache>
            </c:numRef>
          </c:val>
        </c:ser>
        <c:ser>
          <c:idx val="1"/>
          <c:order val="1"/>
          <c:tx>
            <c:strRef>
              <c:f>Sheet1!$C$1</c:f>
              <c:strCache>
                <c:ptCount val="1"/>
                <c:pt idx="0">
                  <c:v>Style control</c:v>
                </c:pt>
              </c:strCache>
            </c:strRef>
          </c:tx>
          <c:cat>
            <c:strRef>
              <c:f>Sheet1!$A$2:$A$5</c:f>
              <c:strCache>
                <c:ptCount val="4"/>
                <c:pt idx="0">
                  <c:v>Prompt only</c:v>
                </c:pt>
                <c:pt idx="1">
                  <c:v>Composition ref</c:v>
                </c:pt>
                <c:pt idx="2">
                  <c:v>Style ref</c:v>
                </c:pt>
                <c:pt idx="3">
                  <c:v>Both refs</c:v>
                </c:pt>
              </c:strCache>
            </c:strRef>
          </c:cat>
          <c:val>
            <c:numRef>
              <c:f>Sheet1!$C$2:$C$5</c:f>
              <c:numCache>
                <c:formatCode>General</c:formatCode>
                <c:ptCount val="4"/>
                <c:pt idx="0">
                  <c:v>2</c:v>
                </c:pt>
                <c:pt idx="1">
                  <c:v>2</c:v>
                </c:pt>
                <c:pt idx="2">
                  <c:v>5</c:v>
                </c:pt>
                <c:pt idx="3">
                  <c:v>5</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Score</c:v>
                </c:pt>
              </c:strCache>
            </c:strRef>
          </c:tx>
          <c:cat>
            <c:strRef>
              <c:f>Sheet1!$A$2:$A$6</c:f>
              <c:strCache>
                <c:ptCount val="5"/>
                <c:pt idx="0">
                  <c:v>Flattened pixels</c:v>
                </c:pt>
                <c:pt idx="1">
                  <c:v>Duplicate layer</c:v>
                </c:pt>
                <c:pt idx="2">
                  <c:v>Generated layer</c:v>
                </c:pt>
                <c:pt idx="3">
                  <c:v>Adjustment layer</c:v>
                </c:pt>
                <c:pt idx="4">
                  <c:v>Smart Object + mask</c:v>
                </c:pt>
              </c:strCache>
            </c:strRef>
          </c:cat>
          <c:val>
            <c:numRef>
              <c:f>Sheet1!$B$2:$B$6</c:f>
              <c:numCache>
                <c:formatCode>General</c:formatCode>
                <c:ptCount val="5"/>
                <c:pt idx="0">
                  <c:v>1</c:v>
                </c:pt>
                <c:pt idx="1">
                  <c:v>2</c:v>
                </c:pt>
                <c:pt idx="2">
                  <c:v>4</c:v>
                </c:pt>
                <c:pt idx="3">
                  <c:v>5</c:v>
                </c:pt>
                <c:pt idx="4">
                  <c:v>5</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style val="10"/>
  <c:chart>
    <c:autoTitleDeleted val="1"/>
    <c:plotArea>
      <c:layout/>
      <c:doughnutChart>
        <c:varyColors val="1"/>
        <c:ser>
          <c:idx val="0"/>
          <c:order val="0"/>
          <c:tx>
            <c:strRef>
              <c:f>Sheet1!$B$1</c:f>
              <c:strCache>
                <c:ptCount val="1"/>
                <c:pt idx="0">
                  <c:v>Visual share</c:v>
                </c:pt>
              </c:strCache>
            </c:strRef>
          </c:tx>
          <c:cat>
            <c:strRef>
              <c:f>Sheet1!$A$2:$A$5</c:f>
              <c:strCache>
                <c:ptCount val="4"/>
                <c:pt idx="0">
                  <c:v>Primary</c:v>
                </c:pt>
                <c:pt idx="1">
                  <c:v>Secondary</c:v>
                </c:pt>
                <c:pt idx="2">
                  <c:v>Accent</c:v>
                </c:pt>
                <c:pt idx="3">
                  <c:v>Neutral</c:v>
                </c:pt>
              </c:strCache>
            </c:strRef>
          </c:cat>
          <c:val>
            <c:numRef>
              <c:f>Sheet1!$B$2:$B$5</c:f>
              <c:numCache>
                <c:formatCode>General</c:formatCode>
                <c:ptCount val="4"/>
                <c:pt idx="0">
                  <c:v>55</c:v>
                </c:pt>
                <c:pt idx="1">
                  <c:v>25</c:v>
                </c:pt>
                <c:pt idx="2">
                  <c:v>10</c:v>
                </c:pt>
                <c:pt idx="3">
                  <c:v>10</c:v>
                </c:pt>
              </c:numCache>
            </c:numRef>
          </c:val>
        </c:ser>
        <c:dLbls>
          <c:dLblPos val="bestFit"/>
          <c:showLegendKey val="0"/>
          <c:showVal val="0"/>
          <c:showCatName val="0"/>
          <c:showSerName val="0"/>
          <c:showPercent val="1"/>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Priority</c:v>
                </c:pt>
              </c:strCache>
            </c:strRef>
          </c:tx>
          <c:cat>
            <c:strRef>
              <c:f>Sheet1!$A$2:$A$6</c:f>
              <c:strCache>
                <c:ptCount val="5"/>
                <c:pt idx="0">
                  <c:v>Dimensions</c:v>
                </c:pt>
                <c:pt idx="1">
                  <c:v>Colour/profile</c:v>
                </c:pt>
                <c:pt idx="2">
                  <c:v>Edges</c:v>
                </c:pt>
                <c:pt idx="3">
                  <c:v>Compression</c:v>
                </c:pt>
                <c:pt idx="4">
                  <c:v>Provenance</c:v>
                </c:pt>
              </c:strCache>
            </c:strRef>
          </c:cat>
          <c:val>
            <c:numRef>
              <c:f>Sheet1!$B$2:$B$6</c:f>
              <c:numCache>
                <c:formatCode>General</c:formatCode>
                <c:ptCount val="5"/>
                <c:pt idx="0">
                  <c:v>5</c:v>
                </c:pt>
                <c:pt idx="1">
                  <c:v>5</c:v>
                </c:pt>
                <c:pt idx="2">
                  <c:v>4</c:v>
                </c:pt>
                <c:pt idx="3">
                  <c:v>3</c:v>
                </c:pt>
                <c:pt idx="4">
                  <c:v>5</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5220-Generative-AI-GenAI-Visuals-in-Photoshop-and-Firefly/tree/master/lab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8.png"/>
          <p:cNvPicPr>
            <a:picLocks noChangeAspect="1"/>
          </p:cNvPicPr>
          <p:nvPr/>
        </p:nvPicPr>
        <p:blipFill>
          <a:blip r:embed="rId2"/>
          <a:srcRect l="20434" r="20434"/>
          <a:stretch>
            <a:fillRect/>
          </a:stretch>
        </p:blipFill>
        <p:spPr>
          <a:xfrm>
            <a:off x="4983480" y="0"/>
            <a:ext cx="7205472" cy="6858000"/>
          </a:xfrm>
          <a:prstGeom prst="rect">
            <a:avLst/>
          </a:prstGeom>
        </p:spPr>
      </p:pic>
      <p:sp>
        <p:nvSpPr>
          <p:cNvPr id="4" name="Rectangle 3"/>
          <p:cNvSpPr/>
          <p:nvPr/>
        </p:nvSpPr>
        <p:spPr>
          <a:xfrm>
            <a:off x="4663440" y="0"/>
            <a:ext cx="109728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3"/>
          <a:stretch>
            <a:fillRect/>
          </a:stretch>
        </p:blipFill>
        <p:spPr>
          <a:xfrm>
            <a:off x="1280160" y="502920"/>
            <a:ext cx="777240" cy="777240"/>
          </a:xfrm>
          <a:prstGeom prst="rect">
            <a:avLst/>
          </a:prstGeom>
        </p:spPr>
      </p:pic>
      <p:sp>
        <p:nvSpPr>
          <p:cNvPr id="6" name="Rounded Rectangle 5"/>
          <p:cNvSpPr/>
          <p:nvPr/>
        </p:nvSpPr>
        <p:spPr>
          <a:xfrm>
            <a:off x="3063240" y="530352"/>
            <a:ext cx="1325880" cy="621792"/>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649224"/>
            <a:ext cx="1325880" cy="201168"/>
          </a:xfrm>
          <a:prstGeom prst="rect">
            <a:avLst/>
          </a:prstGeom>
          <a:noFill/>
        </p:spPr>
        <p:txBody>
          <a:bodyPr wrap="square" anchor="t" lIns="54864" rIns="54864" tIns="54864" bIns="54864">
            <a:spAutoFit/>
          </a:bodyPr>
          <a:lstStyle/>
          <a:p>
            <a:pPr algn="ctr">
              <a:spcAft>
                <a:spcPts val="0"/>
              </a:spcAft>
            </a:pPr>
            <a:r>
              <a:rPr sz="950" b="1">
                <a:solidFill>
                  <a:srgbClr val="00B8D9"/>
                </a:solidFill>
                <a:latin typeface="Arial"/>
              </a:rPr>
              <a:t>WSQ COURSE</a:t>
            </a:r>
          </a:p>
        </p:txBody>
      </p:sp>
      <p:sp>
        <p:nvSpPr>
          <p:cNvPr id="8" name="TextBox 7"/>
          <p:cNvSpPr txBox="1"/>
          <p:nvPr/>
        </p:nvSpPr>
        <p:spPr>
          <a:xfrm>
            <a:off x="713232" y="1508760"/>
            <a:ext cx="4206240" cy="329184"/>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COURSE SLIDES · WSQ</a:t>
            </a:r>
          </a:p>
        </p:txBody>
      </p:sp>
      <p:sp>
        <p:nvSpPr>
          <p:cNvPr id="9" name="TextBox 8"/>
          <p:cNvSpPr txBox="1"/>
          <p:nvPr/>
        </p:nvSpPr>
        <p:spPr>
          <a:xfrm>
            <a:off x="713232" y="1965960"/>
            <a:ext cx="4434840" cy="2103120"/>
          </a:xfrm>
          <a:prstGeom prst="rect">
            <a:avLst/>
          </a:prstGeom>
          <a:noFill/>
        </p:spPr>
        <p:txBody>
          <a:bodyPr wrap="square" anchor="t" lIns="54864" rIns="54864" tIns="54864" bIns="54864">
            <a:spAutoFit/>
          </a:bodyPr>
          <a:lstStyle/>
          <a:p>
            <a:pPr algn="l">
              <a:spcAft>
                <a:spcPts val="0"/>
              </a:spcAft>
            </a:pPr>
            <a:r>
              <a:rPr sz="3300" b="1">
                <a:solidFill>
                  <a:srgbClr val="161920"/>
                </a:solidFill>
                <a:latin typeface="Arial"/>
              </a:rPr>
              <a:t>Generative AI (GenAI) Visuals in Photoshop and Firefly</a:t>
            </a:r>
          </a:p>
        </p:txBody>
      </p:sp>
      <p:sp>
        <p:nvSpPr>
          <p:cNvPr id="10" name="Rectangle 9"/>
          <p:cNvSpPr/>
          <p:nvPr/>
        </p:nvSpPr>
        <p:spPr>
          <a:xfrm>
            <a:off x="731520" y="4187952"/>
            <a:ext cx="1234440" cy="73152"/>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507992"/>
            <a:ext cx="4343400" cy="1234440"/>
          </a:xfrm>
          <a:prstGeom prst="rect">
            <a:avLst/>
          </a:prstGeom>
          <a:noFill/>
        </p:spPr>
        <p:txBody>
          <a:bodyPr wrap="square" lIns="45720" rIns="45720">
            <a:spAutoFit/>
          </a:bodyPr>
          <a:lstStyle/>
          <a:p>
            <a:pPr>
              <a:spcAft>
                <a:spcPts val="400"/>
              </a:spcAft>
            </a:pPr>
            <a:r>
              <a:rPr b="1" sz="1250">
                <a:solidFill>
                  <a:srgbClr val="5B6372"/>
                </a:solidFill>
                <a:latin typeface="Arial"/>
              </a:rPr>
              <a:t>WSQ Course Code  </a:t>
            </a:r>
            <a:r>
              <a:rPr sz="1250">
                <a:solidFill>
                  <a:srgbClr val="5B6372"/>
                </a:solidFill>
                <a:latin typeface="Arial"/>
              </a:rPr>
              <a:t>TGS-2024045220</a:t>
            </a:r>
          </a:p>
          <a:p>
            <a:pPr>
              <a:spcAft>
                <a:spcPts val="400"/>
              </a:spcAft>
            </a:pPr>
            <a:r>
              <a:rPr b="1" sz="1250">
                <a:solidFill>
                  <a:srgbClr val="5B6372"/>
                </a:solidFill>
                <a:latin typeface="Arial"/>
              </a:rPr>
              <a:t>TSC  </a:t>
            </a:r>
            <a:r>
              <a:rPr sz="1250">
                <a:solidFill>
                  <a:srgbClr val="5B6372"/>
                </a:solidFill>
                <a:latin typeface="Arial"/>
              </a:rPr>
              <a:t>Visual Communication · DSN-COM-4005-1.1</a:t>
            </a:r>
          </a:p>
          <a:p>
            <a:pPr>
              <a:spcAft>
                <a:spcPts val="400"/>
              </a:spcAft>
            </a:pPr>
            <a:r>
              <a:rPr b="1" sz="1250">
                <a:solidFill>
                  <a:srgbClr val="5B6372"/>
                </a:solidFill>
                <a:latin typeface="Arial"/>
              </a:rPr>
              <a:t>Provider  </a:t>
            </a:r>
            <a:r>
              <a:rPr sz="1250">
                <a:solidFill>
                  <a:srgbClr val="5B6372"/>
                </a:solidFill>
                <a:latin typeface="Arial"/>
              </a:rPr>
              <a:t>Tertiary Infotech Academy Pte Ltd · 201200696W</a:t>
            </a:r>
          </a:p>
        </p:txBody>
      </p:sp>
      <p:sp>
        <p:nvSpPr>
          <p:cNvPr id="12" name="TextBox 11"/>
          <p:cNvSpPr txBox="1"/>
          <p:nvPr/>
        </p:nvSpPr>
        <p:spPr>
          <a:xfrm>
            <a:off x="713232" y="6144768"/>
            <a:ext cx="4297680" cy="320040"/>
          </a:xfrm>
          <a:prstGeom prst="rect">
            <a:avLst/>
          </a:prstGeom>
          <a:noFill/>
        </p:spPr>
        <p:txBody>
          <a:bodyPr wrap="square" anchor="t" lIns="54864" rIns="54864" tIns="54864" bIns="54864">
            <a:spAutoFit/>
          </a:bodyPr>
          <a:lstStyle/>
          <a:p>
            <a:pPr algn="l">
              <a:spcAft>
                <a:spcPts val="0"/>
              </a:spcAft>
            </a:pPr>
            <a:r>
              <a:rPr sz="1100" b="1">
                <a:solidFill>
                  <a:srgbClr val="E11D74"/>
                </a:solidFill>
                <a:latin typeface="Arial"/>
              </a:rPr>
              <a:t>Version v8 · 13 October 2026</a:t>
            </a:r>
          </a:p>
        </p:txBody>
      </p:sp>
      <p:sp>
        <p:nvSpPr>
          <p:cNvPr id="13" name="TextBox 12"/>
          <p:cNvSpPr txBox="1"/>
          <p:nvPr/>
        </p:nvSpPr>
        <p:spPr>
          <a:xfrm>
            <a:off x="5623560" y="6473952"/>
            <a:ext cx="6035040" cy="182880"/>
          </a:xfrm>
          <a:prstGeom prst="rect">
            <a:avLst/>
          </a:prstGeom>
          <a:noFill/>
        </p:spPr>
        <p:txBody>
          <a:bodyPr wrap="square" anchor="t" lIns="54864" rIns="54864" tIns="54864" bIns="54864">
            <a:spAutoFit/>
          </a:bodyPr>
          <a:lstStyle/>
          <a:p>
            <a:pPr algn="r">
              <a:spcAft>
                <a:spcPts val="0"/>
              </a:spcAft>
            </a:pPr>
            <a:r>
              <a:rPr sz="800" b="0">
                <a:solidFill>
                  <a:srgbClr val="FFFFFF"/>
                </a:solidFill>
                <a:latin typeface="Arial"/>
              </a:rPr>
              <a:t>© 2026 Tertiary Infotech Academy Pte Ltd · TGS-2024045220</a:t>
            </a:r>
          </a:p>
        </p:txBody>
      </p:sp>
      <p:sp>
        <p:nvSpPr>
          <p:cNvPr id="14" name="TextBox 13"/>
          <p:cNvSpPr txBox="1"/>
          <p:nvPr/>
        </p:nvSpPr>
        <p:spPr>
          <a:xfrm>
            <a:off x="11475720" y="6473952"/>
            <a:ext cx="320040" cy="182880"/>
          </a:xfrm>
          <a:prstGeom prst="rect">
            <a:avLst/>
          </a:prstGeom>
          <a:noFill/>
        </p:spPr>
        <p:txBody>
          <a:bodyPr wrap="square" anchor="t" lIns="54864" rIns="54864" tIns="54864" bIns="54864">
            <a:spAutoFit/>
          </a:bodyPr>
          <a:lstStyle/>
          <a:p>
            <a:pPr algn="r">
              <a:spcAft>
                <a:spcPts val="0"/>
              </a:spcAft>
            </a:pPr>
            <a:r>
              <a:rPr sz="800" b="0">
                <a:solidFill>
                  <a:srgbClr val="FFFFFF"/>
                </a:solidFill>
                <a:latin typeface="Arial"/>
              </a:rPr>
              <a:t>1</a:t>
            </a:r>
          </a:p>
        </p:txBody>
      </p:sp>
    </p:spTree>
  </p:cSld>
  <p:transition spd="med" advClick="1">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MANDATORY WSQ ADMIN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TRAQOM · SSG Digital Attendance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a:t>
            </a:r>
          </a:p>
        </p:txBody>
      </p:sp>
      <p:sp>
        <p:nvSpPr>
          <p:cNvPr id="10" name="Rounded Rectangle 9"/>
          <p:cNvSpPr/>
          <p:nvPr/>
        </p:nvSpPr>
        <p:spPr>
          <a:xfrm>
            <a:off x="685800"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4443984"/>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TRAQOM</a:t>
            </a:r>
          </a:p>
        </p:txBody>
      </p:sp>
      <p:sp>
        <p:nvSpPr>
          <p:cNvPr id="13" name="TextBox 12"/>
          <p:cNvSpPr txBox="1"/>
          <p:nvPr/>
        </p:nvSpPr>
        <p:spPr>
          <a:xfrm>
            <a:off x="905256"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Scan the QR code provided through the LMS for each required attendance event.</a:t>
            </a:r>
          </a:p>
        </p:txBody>
      </p:sp>
      <p:sp>
        <p:nvSpPr>
          <p:cNvPr id="14" name="Rounded Rectangle 13"/>
          <p:cNvSpPr/>
          <p:nvPr/>
        </p:nvSpPr>
        <p:spPr>
          <a:xfrm>
            <a:off x="4349496"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4443984"/>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Identity</a:t>
            </a:r>
          </a:p>
        </p:txBody>
      </p:sp>
      <p:sp>
        <p:nvSpPr>
          <p:cNvPr id="17" name="TextBox 16"/>
          <p:cNvSpPr txBox="1"/>
          <p:nvPr/>
        </p:nvSpPr>
        <p:spPr>
          <a:xfrm>
            <a:off x="4568952"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only your authorised identity.</a:t>
            </a:r>
          </a:p>
        </p:txBody>
      </p:sp>
      <p:sp>
        <p:nvSpPr>
          <p:cNvPr id="18" name="Rounded Rectangle 17"/>
          <p:cNvSpPr/>
          <p:nvPr/>
        </p:nvSpPr>
        <p:spPr>
          <a:xfrm>
            <a:off x="8013192"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4443984"/>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Verification</a:t>
            </a:r>
          </a:p>
        </p:txBody>
      </p:sp>
      <p:sp>
        <p:nvSpPr>
          <p:cNvPr id="21" name="TextBox 20"/>
          <p:cNvSpPr txBox="1"/>
          <p:nvPr/>
        </p:nvSpPr>
        <p:spPr>
          <a:xfrm>
            <a:off x="8232648"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Remain until the trainer confirms the SSG digital-attendance record.</a:t>
            </a:r>
          </a:p>
        </p:txBody>
      </p:sp>
    </p:spTree>
  </p:cSld>
  <p:transition spd="med" advClick="1">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FACILITATOR TEMPLATE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General Trainer Profile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a:t>
            </a:r>
          </a:p>
        </p:txBody>
      </p:sp>
      <p:sp>
        <p:nvSpPr>
          <p:cNvPr id="10" name="Rounded Rectangle 9"/>
          <p:cNvSpPr/>
          <p:nvPr/>
        </p:nvSpPr>
        <p:spPr>
          <a:xfrm>
            <a:off x="777240" y="1755648"/>
            <a:ext cx="2880360" cy="43434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17320" y="2148840"/>
            <a:ext cx="1600200" cy="160020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542032"/>
            <a:ext cx="1600200" cy="566928"/>
          </a:xfrm>
          <a:prstGeom prst="rect">
            <a:avLst/>
          </a:prstGeom>
          <a:noFill/>
        </p:spPr>
        <p:txBody>
          <a:bodyPr wrap="square" anchor="t" lIns="54864" rIns="54864" tIns="54864" bIns="54864">
            <a:spAutoFit/>
          </a:bodyPr>
          <a:lstStyle/>
          <a:p>
            <a:pPr algn="ctr">
              <a:spcAft>
                <a:spcPts val="0"/>
              </a:spcAft>
            </a:pPr>
            <a:r>
              <a:rPr sz="3400" b="1">
                <a:solidFill>
                  <a:srgbClr val="FFFFFF"/>
                </a:solidFill>
                <a:latin typeface="Arial"/>
              </a:rPr>
              <a:t>?</a:t>
            </a:r>
          </a:p>
        </p:txBody>
      </p:sp>
      <p:sp>
        <p:nvSpPr>
          <p:cNvPr id="13" name="TextBox 12"/>
          <p:cNvSpPr txBox="1"/>
          <p:nvPr/>
        </p:nvSpPr>
        <p:spPr>
          <a:xfrm>
            <a:off x="1005840" y="4069080"/>
            <a:ext cx="2423160" cy="3657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TRAINER NAME</a:t>
            </a:r>
          </a:p>
        </p:txBody>
      </p:sp>
      <p:sp>
        <p:nvSpPr>
          <p:cNvPr id="14" name="TextBox 13"/>
          <p:cNvSpPr txBox="1"/>
          <p:nvPr/>
        </p:nvSpPr>
        <p:spPr>
          <a:xfrm>
            <a:off x="1005840" y="4572000"/>
            <a:ext cx="2423160" cy="731520"/>
          </a:xfrm>
          <a:prstGeom prst="rect">
            <a:avLst/>
          </a:prstGeom>
          <a:noFill/>
        </p:spPr>
        <p:txBody>
          <a:bodyPr wrap="square" anchor="t" lIns="54864" rIns="54864" tIns="54864" bIns="54864">
            <a:spAutoFit/>
          </a:bodyPr>
          <a:lstStyle/>
          <a:p>
            <a:pPr algn="ctr">
              <a:spcAft>
                <a:spcPts val="0"/>
              </a:spcAft>
            </a:pPr>
            <a:r>
              <a:rPr sz="1150" b="0">
                <a:solidFill>
                  <a:srgbClr val="5B6372"/>
                </a:solidFill>
                <a:latin typeface="Arial"/>
              </a:rPr>
              <a:t>Insert approved profile photo and professional designation before delivery.</a:t>
            </a:r>
          </a:p>
        </p:txBody>
      </p:sp>
      <p:sp>
        <p:nvSpPr>
          <p:cNvPr id="15" name="Rounded Rectangle 14"/>
          <p:cNvSpPr/>
          <p:nvPr/>
        </p:nvSpPr>
        <p:spPr>
          <a:xfrm>
            <a:off x="3977639" y="1783080"/>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2011680"/>
            <a:ext cx="2971800" cy="320040"/>
          </a:xfrm>
          <a:prstGeom prst="rect">
            <a:avLst/>
          </a:prstGeom>
          <a:noFill/>
        </p:spPr>
        <p:txBody>
          <a:bodyPr wrap="square" anchor="t" lIns="54864" rIns="54864" tIns="54864" bIns="54864">
            <a:spAutoFit/>
          </a:bodyPr>
          <a:lstStyle/>
          <a:p>
            <a:pPr algn="l">
              <a:spcAft>
                <a:spcPts val="0"/>
              </a:spcAft>
            </a:pPr>
            <a:r>
              <a:rPr sz="1400" b="1">
                <a:solidFill>
                  <a:srgbClr val="224AF4"/>
                </a:solidFill>
                <a:latin typeface="Arial"/>
              </a:rPr>
              <a:t>Name</a:t>
            </a:r>
          </a:p>
        </p:txBody>
      </p:sp>
      <p:sp>
        <p:nvSpPr>
          <p:cNvPr id="17" name="TextBox 16"/>
          <p:cNvSpPr txBox="1"/>
          <p:nvPr/>
        </p:nvSpPr>
        <p:spPr>
          <a:xfrm>
            <a:off x="4206240" y="2441448"/>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
        <p:nvSpPr>
          <p:cNvPr id="18" name="Rounded Rectangle 17"/>
          <p:cNvSpPr/>
          <p:nvPr/>
        </p:nvSpPr>
        <p:spPr>
          <a:xfrm>
            <a:off x="7680959" y="1783080"/>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59" y="2011680"/>
            <a:ext cx="2971800" cy="320040"/>
          </a:xfrm>
          <a:prstGeom prst="rect">
            <a:avLst/>
          </a:prstGeom>
          <a:noFill/>
        </p:spPr>
        <p:txBody>
          <a:bodyPr wrap="square" anchor="t" lIns="54864" rIns="54864" tIns="54864" bIns="54864">
            <a:spAutoFit/>
          </a:bodyPr>
          <a:lstStyle/>
          <a:p>
            <a:pPr algn="l">
              <a:spcAft>
                <a:spcPts val="0"/>
              </a:spcAft>
            </a:pPr>
            <a:r>
              <a:rPr sz="1400" b="1">
                <a:solidFill>
                  <a:srgbClr val="00B8D9"/>
                </a:solidFill>
                <a:latin typeface="Arial"/>
              </a:rPr>
              <a:t>Title / Designation</a:t>
            </a:r>
          </a:p>
        </p:txBody>
      </p:sp>
      <p:sp>
        <p:nvSpPr>
          <p:cNvPr id="20" name="TextBox 19"/>
          <p:cNvSpPr txBox="1"/>
          <p:nvPr/>
        </p:nvSpPr>
        <p:spPr>
          <a:xfrm>
            <a:off x="7909559" y="2441448"/>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
        <p:nvSpPr>
          <p:cNvPr id="21" name="Rounded Rectangle 20"/>
          <p:cNvSpPr/>
          <p:nvPr/>
        </p:nvSpPr>
        <p:spPr>
          <a:xfrm>
            <a:off x="3977639" y="3136391"/>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0" y="3364991"/>
            <a:ext cx="2971800" cy="320040"/>
          </a:xfrm>
          <a:prstGeom prst="rect">
            <a:avLst/>
          </a:prstGeom>
          <a:noFill/>
        </p:spPr>
        <p:txBody>
          <a:bodyPr wrap="square" anchor="t" lIns="54864" rIns="54864" tIns="54864" bIns="54864">
            <a:spAutoFit/>
          </a:bodyPr>
          <a:lstStyle/>
          <a:p>
            <a:pPr algn="l">
              <a:spcAft>
                <a:spcPts val="0"/>
              </a:spcAft>
            </a:pPr>
            <a:r>
              <a:rPr sz="1400" b="1">
                <a:solidFill>
                  <a:srgbClr val="E11D74"/>
                </a:solidFill>
                <a:latin typeface="Arial"/>
              </a:rPr>
              <a:t>Qualifications</a:t>
            </a:r>
          </a:p>
        </p:txBody>
      </p:sp>
      <p:sp>
        <p:nvSpPr>
          <p:cNvPr id="23" name="TextBox 22"/>
          <p:cNvSpPr txBox="1"/>
          <p:nvPr/>
        </p:nvSpPr>
        <p:spPr>
          <a:xfrm>
            <a:off x="4206240" y="3794759"/>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
        <p:nvSpPr>
          <p:cNvPr id="24" name="Rounded Rectangle 23"/>
          <p:cNvSpPr/>
          <p:nvPr/>
        </p:nvSpPr>
        <p:spPr>
          <a:xfrm>
            <a:off x="7680959" y="3136391"/>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559" y="3364991"/>
            <a:ext cx="2971800" cy="320040"/>
          </a:xfrm>
          <a:prstGeom prst="rect">
            <a:avLst/>
          </a:prstGeom>
          <a:noFill/>
        </p:spPr>
        <p:txBody>
          <a:bodyPr wrap="square" anchor="t" lIns="54864" rIns="54864" tIns="54864" bIns="54864">
            <a:spAutoFit/>
          </a:bodyPr>
          <a:lstStyle/>
          <a:p>
            <a:pPr algn="l">
              <a:spcAft>
                <a:spcPts val="0"/>
              </a:spcAft>
            </a:pPr>
            <a:r>
              <a:rPr sz="1400" b="1">
                <a:solidFill>
                  <a:srgbClr val="7C3AED"/>
                </a:solidFill>
                <a:latin typeface="Arial"/>
              </a:rPr>
              <a:t>Areas of expertise</a:t>
            </a:r>
          </a:p>
        </p:txBody>
      </p:sp>
      <p:sp>
        <p:nvSpPr>
          <p:cNvPr id="26" name="TextBox 25"/>
          <p:cNvSpPr txBox="1"/>
          <p:nvPr/>
        </p:nvSpPr>
        <p:spPr>
          <a:xfrm>
            <a:off x="7909559" y="3794759"/>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
        <p:nvSpPr>
          <p:cNvPr id="27" name="Rounded Rectangle 26"/>
          <p:cNvSpPr/>
          <p:nvPr/>
        </p:nvSpPr>
        <p:spPr>
          <a:xfrm>
            <a:off x="3977639" y="4489704"/>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4718304"/>
            <a:ext cx="2971800" cy="320040"/>
          </a:xfrm>
          <a:prstGeom prst="rect">
            <a:avLst/>
          </a:prstGeom>
          <a:noFill/>
        </p:spPr>
        <p:txBody>
          <a:bodyPr wrap="square" anchor="t" lIns="54864" rIns="54864" tIns="54864" bIns="54864">
            <a:spAutoFit/>
          </a:bodyPr>
          <a:lstStyle/>
          <a:p>
            <a:pPr algn="l">
              <a:spcAft>
                <a:spcPts val="0"/>
              </a:spcAft>
            </a:pPr>
            <a:r>
              <a:rPr sz="1400" b="1">
                <a:solidFill>
                  <a:srgbClr val="009A78"/>
                </a:solidFill>
                <a:latin typeface="Arial"/>
              </a:rPr>
              <a:t>Training &amp; industry experience</a:t>
            </a:r>
          </a:p>
        </p:txBody>
      </p:sp>
      <p:sp>
        <p:nvSpPr>
          <p:cNvPr id="29" name="TextBox 28"/>
          <p:cNvSpPr txBox="1"/>
          <p:nvPr/>
        </p:nvSpPr>
        <p:spPr>
          <a:xfrm>
            <a:off x="4206240" y="5148072"/>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
        <p:nvSpPr>
          <p:cNvPr id="30" name="Rounded Rectangle 29"/>
          <p:cNvSpPr/>
          <p:nvPr/>
        </p:nvSpPr>
        <p:spPr>
          <a:xfrm>
            <a:off x="7680959" y="4489704"/>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4718304"/>
            <a:ext cx="2971800" cy="320040"/>
          </a:xfrm>
          <a:prstGeom prst="rect">
            <a:avLst/>
          </a:prstGeom>
          <a:noFill/>
        </p:spPr>
        <p:txBody>
          <a:bodyPr wrap="square" anchor="t" lIns="54864" rIns="54864" tIns="54864" bIns="54864">
            <a:spAutoFit/>
          </a:bodyPr>
          <a:lstStyle/>
          <a:p>
            <a:pPr algn="l">
              <a:spcAft>
                <a:spcPts val="0"/>
              </a:spcAft>
            </a:pPr>
            <a:r>
              <a:rPr sz="1400" b="1">
                <a:solidFill>
                  <a:srgbClr val="E98500"/>
                </a:solidFill>
                <a:latin typeface="Arial"/>
              </a:rPr>
              <a:t>Contact</a:t>
            </a:r>
          </a:p>
        </p:txBody>
      </p:sp>
      <p:sp>
        <p:nvSpPr>
          <p:cNvPr id="32" name="TextBox 31"/>
          <p:cNvSpPr txBox="1"/>
          <p:nvPr/>
        </p:nvSpPr>
        <p:spPr>
          <a:xfrm>
            <a:off x="7909559" y="5148072"/>
            <a:ext cx="2971800" cy="27432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________________________________</a:t>
            </a:r>
          </a:p>
        </p:txBody>
      </p:sp>
    </p:spTree>
  </p:cSld>
  <p:transition spd="med" advClick="1">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NAMED FACILITATOR</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About the Trainer</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a:t>
            </a:r>
          </a:p>
        </p:txBody>
      </p:sp>
      <p:sp>
        <p:nvSpPr>
          <p:cNvPr id="10" name="Rounded Rectangle 9"/>
          <p:cNvSpPr/>
          <p:nvPr/>
        </p:nvSpPr>
        <p:spPr>
          <a:xfrm>
            <a:off x="777240" y="1755648"/>
            <a:ext cx="2880360" cy="43434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17320" y="2148840"/>
            <a:ext cx="1600200" cy="160020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578608"/>
            <a:ext cx="1600200" cy="502920"/>
          </a:xfrm>
          <a:prstGeom prst="rect">
            <a:avLst/>
          </a:prstGeom>
          <a:noFill/>
        </p:spPr>
        <p:txBody>
          <a:bodyPr wrap="square" anchor="t" lIns="54864" rIns="54864" tIns="54864" bIns="54864">
            <a:spAutoFit/>
          </a:bodyPr>
          <a:lstStyle/>
          <a:p>
            <a:pPr algn="ctr">
              <a:spcAft>
                <a:spcPts val="0"/>
              </a:spcAft>
            </a:pPr>
            <a:r>
              <a:rPr sz="2800" b="1">
                <a:solidFill>
                  <a:srgbClr val="FFFFFF"/>
                </a:solidFill>
                <a:latin typeface="Arial"/>
              </a:rPr>
              <a:t>AA</a:t>
            </a:r>
          </a:p>
        </p:txBody>
      </p:sp>
      <p:sp>
        <p:nvSpPr>
          <p:cNvPr id="13" name="TextBox 12"/>
          <p:cNvSpPr txBox="1"/>
          <p:nvPr/>
        </p:nvSpPr>
        <p:spPr>
          <a:xfrm>
            <a:off x="1005840" y="4069080"/>
            <a:ext cx="2423160" cy="3657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DR ALFRED ANG</a:t>
            </a:r>
          </a:p>
        </p:txBody>
      </p:sp>
      <p:sp>
        <p:nvSpPr>
          <p:cNvPr id="14" name="TextBox 13"/>
          <p:cNvSpPr txBox="1"/>
          <p:nvPr/>
        </p:nvSpPr>
        <p:spPr>
          <a:xfrm>
            <a:off x="1005840" y="4572000"/>
            <a:ext cx="2423160" cy="731520"/>
          </a:xfrm>
          <a:prstGeom prst="rect">
            <a:avLst/>
          </a:prstGeom>
          <a:noFill/>
        </p:spPr>
        <p:txBody>
          <a:bodyPr wrap="square" anchor="t" lIns="54864" rIns="54864" tIns="54864" bIns="54864">
            <a:spAutoFit/>
          </a:bodyPr>
          <a:lstStyle/>
          <a:p>
            <a:pPr algn="ctr">
              <a:spcAft>
                <a:spcPts val="0"/>
              </a:spcAft>
            </a:pPr>
            <a:r>
              <a:rPr sz="1150" b="0">
                <a:solidFill>
                  <a:srgbClr val="5B6372"/>
                </a:solidFill>
                <a:latin typeface="Arial"/>
              </a:rPr>
              <a:t>Principal Trainer
Tertiary Infotech Academy</a:t>
            </a:r>
          </a:p>
        </p:txBody>
      </p:sp>
      <p:sp>
        <p:nvSpPr>
          <p:cNvPr id="15" name="Rounded Rectangle 14"/>
          <p:cNvSpPr/>
          <p:nvPr/>
        </p:nvSpPr>
        <p:spPr>
          <a:xfrm>
            <a:off x="3977639" y="1783080"/>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947672"/>
            <a:ext cx="2971800" cy="274320"/>
          </a:xfrm>
          <a:prstGeom prst="rect">
            <a:avLst/>
          </a:prstGeom>
          <a:noFill/>
        </p:spPr>
        <p:txBody>
          <a:bodyPr wrap="square" anchor="t" lIns="54864" rIns="54864" tIns="54864" bIns="54864">
            <a:spAutoFit/>
          </a:bodyPr>
          <a:lstStyle/>
          <a:p>
            <a:pPr algn="l">
              <a:spcAft>
                <a:spcPts val="0"/>
              </a:spcAft>
            </a:pPr>
            <a:r>
              <a:rPr sz="1250" b="1">
                <a:solidFill>
                  <a:srgbClr val="224AF4"/>
                </a:solidFill>
                <a:latin typeface="Arial"/>
              </a:rPr>
              <a:t>Role</a:t>
            </a:r>
          </a:p>
        </p:txBody>
      </p:sp>
      <p:sp>
        <p:nvSpPr>
          <p:cNvPr id="17" name="TextBox 16"/>
          <p:cNvSpPr txBox="1"/>
          <p:nvPr/>
        </p:nvSpPr>
        <p:spPr>
          <a:xfrm>
            <a:off x="4206240" y="2313432"/>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Principal Trainer</a:t>
            </a:r>
          </a:p>
        </p:txBody>
      </p:sp>
      <p:sp>
        <p:nvSpPr>
          <p:cNvPr id="18" name="Rounded Rectangle 17"/>
          <p:cNvSpPr/>
          <p:nvPr/>
        </p:nvSpPr>
        <p:spPr>
          <a:xfrm>
            <a:off x="7680959" y="1783080"/>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59" y="1947672"/>
            <a:ext cx="2971800" cy="274320"/>
          </a:xfrm>
          <a:prstGeom prst="rect">
            <a:avLst/>
          </a:prstGeom>
          <a:noFill/>
        </p:spPr>
        <p:txBody>
          <a:bodyPr wrap="square" anchor="t" lIns="54864" rIns="54864" tIns="54864" bIns="54864">
            <a:spAutoFit/>
          </a:bodyPr>
          <a:lstStyle/>
          <a:p>
            <a:pPr algn="l">
              <a:spcAft>
                <a:spcPts val="0"/>
              </a:spcAft>
            </a:pPr>
            <a:r>
              <a:rPr sz="1250" b="1">
                <a:solidFill>
                  <a:srgbClr val="00B8D9"/>
                </a:solidFill>
                <a:latin typeface="Arial"/>
              </a:rPr>
              <a:t>Expertise</a:t>
            </a:r>
          </a:p>
        </p:txBody>
      </p:sp>
      <p:sp>
        <p:nvSpPr>
          <p:cNvPr id="20" name="TextBox 19"/>
          <p:cNvSpPr txBox="1"/>
          <p:nvPr/>
        </p:nvSpPr>
        <p:spPr>
          <a:xfrm>
            <a:off x="7909559" y="2313432"/>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Digital transformation · GenAI visuals</a:t>
            </a:r>
          </a:p>
        </p:txBody>
      </p:sp>
      <p:sp>
        <p:nvSpPr>
          <p:cNvPr id="21" name="Rounded Rectangle 20"/>
          <p:cNvSpPr/>
          <p:nvPr/>
        </p:nvSpPr>
        <p:spPr>
          <a:xfrm>
            <a:off x="3977639" y="3136391"/>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0" y="3300984"/>
            <a:ext cx="2971800" cy="274320"/>
          </a:xfrm>
          <a:prstGeom prst="rect">
            <a:avLst/>
          </a:prstGeom>
          <a:noFill/>
        </p:spPr>
        <p:txBody>
          <a:bodyPr wrap="square" anchor="t" lIns="54864" rIns="54864" tIns="54864" bIns="54864">
            <a:spAutoFit/>
          </a:bodyPr>
          <a:lstStyle/>
          <a:p>
            <a:pPr algn="l">
              <a:spcAft>
                <a:spcPts val="0"/>
              </a:spcAft>
            </a:pPr>
            <a:r>
              <a:rPr sz="1250" b="1">
                <a:solidFill>
                  <a:srgbClr val="E11D74"/>
                </a:solidFill>
                <a:latin typeface="Arial"/>
              </a:rPr>
              <a:t>Facilitation</a:t>
            </a:r>
          </a:p>
        </p:txBody>
      </p:sp>
      <p:sp>
        <p:nvSpPr>
          <p:cNvPr id="23" name="TextBox 22"/>
          <p:cNvSpPr txBox="1"/>
          <p:nvPr/>
        </p:nvSpPr>
        <p:spPr>
          <a:xfrm>
            <a:off x="4206240" y="3666744"/>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Concepts · coached practice · evidence review</a:t>
            </a:r>
          </a:p>
        </p:txBody>
      </p:sp>
      <p:sp>
        <p:nvSpPr>
          <p:cNvPr id="24" name="Rounded Rectangle 23"/>
          <p:cNvSpPr/>
          <p:nvPr/>
        </p:nvSpPr>
        <p:spPr>
          <a:xfrm>
            <a:off x="7680959" y="3136391"/>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559" y="3300984"/>
            <a:ext cx="2971800" cy="274320"/>
          </a:xfrm>
          <a:prstGeom prst="rect">
            <a:avLst/>
          </a:prstGeom>
          <a:noFill/>
        </p:spPr>
        <p:txBody>
          <a:bodyPr wrap="square" anchor="t" lIns="54864" rIns="54864" tIns="54864" bIns="54864">
            <a:spAutoFit/>
          </a:bodyPr>
          <a:lstStyle/>
          <a:p>
            <a:pPr algn="l">
              <a:spcAft>
                <a:spcPts val="0"/>
              </a:spcAft>
            </a:pPr>
            <a:r>
              <a:rPr sz="1250" b="1">
                <a:solidFill>
                  <a:srgbClr val="7C3AED"/>
                </a:solidFill>
                <a:latin typeface="Arial"/>
              </a:rPr>
              <a:t>Quality</a:t>
            </a:r>
          </a:p>
        </p:txBody>
      </p:sp>
      <p:sp>
        <p:nvSpPr>
          <p:cNvPr id="26" name="TextBox 25"/>
          <p:cNvSpPr txBox="1"/>
          <p:nvPr/>
        </p:nvSpPr>
        <p:spPr>
          <a:xfrm>
            <a:off x="7909559" y="3666744"/>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Reversible workflows · acceptance criteria</a:t>
            </a:r>
          </a:p>
        </p:txBody>
      </p:sp>
      <p:sp>
        <p:nvSpPr>
          <p:cNvPr id="27" name="Rounded Rectangle 26"/>
          <p:cNvSpPr/>
          <p:nvPr/>
        </p:nvSpPr>
        <p:spPr>
          <a:xfrm>
            <a:off x="3977639" y="4489704"/>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4654296"/>
            <a:ext cx="2971800" cy="274320"/>
          </a:xfrm>
          <a:prstGeom prst="rect">
            <a:avLst/>
          </a:prstGeom>
          <a:noFill/>
        </p:spPr>
        <p:txBody>
          <a:bodyPr wrap="square" anchor="t" lIns="54864" rIns="54864" tIns="54864" bIns="54864">
            <a:spAutoFit/>
          </a:bodyPr>
          <a:lstStyle/>
          <a:p>
            <a:pPr algn="l">
              <a:spcAft>
                <a:spcPts val="0"/>
              </a:spcAft>
            </a:pPr>
            <a:r>
              <a:rPr sz="1250" b="1">
                <a:solidFill>
                  <a:srgbClr val="009A78"/>
                </a:solidFill>
                <a:latin typeface="Arial"/>
              </a:rPr>
              <a:t>Learning culture</a:t>
            </a:r>
          </a:p>
        </p:txBody>
      </p:sp>
      <p:sp>
        <p:nvSpPr>
          <p:cNvPr id="29" name="TextBox 28"/>
          <p:cNvSpPr txBox="1"/>
          <p:nvPr/>
        </p:nvSpPr>
        <p:spPr>
          <a:xfrm>
            <a:off x="4206240" y="5020056"/>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Explain the reason behind every edit</a:t>
            </a:r>
          </a:p>
        </p:txBody>
      </p:sp>
      <p:sp>
        <p:nvSpPr>
          <p:cNvPr id="30" name="Rounded Rectangle 29"/>
          <p:cNvSpPr/>
          <p:nvPr/>
        </p:nvSpPr>
        <p:spPr>
          <a:xfrm>
            <a:off x="7680959" y="4489704"/>
            <a:ext cx="3456432" cy="111556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59" y="4654296"/>
            <a:ext cx="2971800" cy="274320"/>
          </a:xfrm>
          <a:prstGeom prst="rect">
            <a:avLst/>
          </a:prstGeom>
          <a:noFill/>
        </p:spPr>
        <p:txBody>
          <a:bodyPr wrap="square" anchor="t" lIns="54864" rIns="54864" tIns="54864" bIns="54864">
            <a:spAutoFit/>
          </a:bodyPr>
          <a:lstStyle/>
          <a:p>
            <a:pPr algn="l">
              <a:spcAft>
                <a:spcPts val="0"/>
              </a:spcAft>
            </a:pPr>
            <a:r>
              <a:rPr sz="1250" b="1">
                <a:solidFill>
                  <a:srgbClr val="E98500"/>
                </a:solidFill>
                <a:latin typeface="Arial"/>
              </a:rPr>
              <a:t>Contact</a:t>
            </a:r>
          </a:p>
        </p:txBody>
      </p:sp>
      <p:sp>
        <p:nvSpPr>
          <p:cNvPr id="32" name="TextBox 31"/>
          <p:cNvSpPr txBox="1"/>
          <p:nvPr/>
        </p:nvSpPr>
        <p:spPr>
          <a:xfrm>
            <a:off x="7909559" y="5020056"/>
            <a:ext cx="2971800" cy="438912"/>
          </a:xfrm>
          <a:prstGeom prst="rect">
            <a:avLst/>
          </a:prstGeom>
          <a:noFill/>
        </p:spPr>
        <p:txBody>
          <a:bodyPr wrap="square" anchor="t" lIns="54864" rIns="54864" tIns="54864" bIns="54864">
            <a:spAutoFit/>
          </a:bodyPr>
          <a:lstStyle/>
          <a:p>
            <a:pPr algn="l">
              <a:spcAft>
                <a:spcPts val="0"/>
              </a:spcAft>
            </a:pPr>
            <a:r>
              <a:rPr sz="1150" b="0">
                <a:solidFill>
                  <a:srgbClr val="161920"/>
                </a:solidFill>
                <a:latin typeface="Arial"/>
              </a:rPr>
              <a:t>enquiry@tertiaryinfotech.com · +65 6100 0613</a:t>
            </a:r>
          </a:p>
        </p:txBody>
      </p:sp>
    </p:spTree>
  </p:cSld>
  <p:transition spd="med" advClick="1">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OPENING DISCUSSION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Your GenAI Visual Context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Role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visuals do you create or manage?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Channel</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Social, web, presentation, print or campaign?</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Friction</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ideation or Photoshop task costs the most time?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visual defect is most visible today?</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Experience</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Firefly or Photoshop feature is familiar?</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Evidence</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finished artifact will prove improvement?</a:t>
            </a:r>
          </a:p>
        </p:txBody>
      </p:sp>
    </p:spTree>
  </p:cSld>
  <p:transition spd="med" advClick="1">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GROUND RULES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Working Agreements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Participate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Try the tools and explain choices.</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Respect</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Critique work, not people.</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Protect assets</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permitted sources and retain rights evidence.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Save versions</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Preserve originals and name layers/files.</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Share safely</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Protect learner work and assessment content.</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Verify</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Reopen exports before delivery.</a:t>
            </a:r>
          </a:p>
        </p:txBody>
      </p:sp>
    </p:spTree>
  </p:cSld>
  <p:transition spd="med" advClick="1">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LMS-TMS · LEARNER PACKAGE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Download Course Materials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a:t>
            </a:r>
          </a:p>
        </p:txBody>
      </p:sp>
      <p:sp>
        <p:nvSpPr>
          <p:cNvPr id="10" name="Rounded Rectangle 9"/>
          <p:cNvSpPr/>
          <p:nvPr/>
        </p:nvSpPr>
        <p:spPr>
          <a:xfrm>
            <a:off x="777240" y="1737360"/>
            <a:ext cx="10607040" cy="4434840"/>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37360"/>
            <a:ext cx="10607040" cy="502920"/>
          </a:xfrm>
          <a:prstGeom prst="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24128" y="1901952"/>
            <a:ext cx="109728" cy="10972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271016" y="1901952"/>
            <a:ext cx="109728" cy="10972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17904" y="1901952"/>
            <a:ext cx="109728" cy="10972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011680" y="1847088"/>
            <a:ext cx="7955279" cy="256032"/>
          </a:xfrm>
          <a:prstGeom prst="roundRect">
            <a:avLst/>
          </a:prstGeom>
          <a:solidFill>
            <a:srgbClr val="3238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48840" y="1892807"/>
            <a:ext cx="7635240" cy="146304"/>
          </a:xfrm>
          <a:prstGeom prst="rect">
            <a:avLst/>
          </a:prstGeom>
          <a:noFill/>
        </p:spPr>
        <p:txBody>
          <a:bodyPr wrap="square" anchor="t" lIns="54864" rIns="54864" tIns="54864" bIns="54864">
            <a:spAutoFit/>
          </a:bodyPr>
          <a:lstStyle/>
          <a:p>
            <a:pPr algn="ctr">
              <a:spcAft>
                <a:spcPts val="0"/>
              </a:spcAft>
            </a:pPr>
            <a:r>
              <a:rPr sz="850" b="0">
                <a:solidFill>
                  <a:srgbClr val="FFFFFF"/>
                </a:solidFill>
                <a:latin typeface="Arial"/>
              </a:rPr>
              <a:t>lms-tms.tertiaryinfotech.com</a:t>
            </a:r>
          </a:p>
        </p:txBody>
      </p:sp>
      <p:sp>
        <p:nvSpPr>
          <p:cNvPr id="17" name="TextBox 16"/>
          <p:cNvSpPr txBox="1"/>
          <p:nvPr/>
        </p:nvSpPr>
        <p:spPr>
          <a:xfrm>
            <a:off x="1097280" y="2578608"/>
            <a:ext cx="6766560" cy="502920"/>
          </a:xfrm>
          <a:prstGeom prst="rect">
            <a:avLst/>
          </a:prstGeom>
          <a:noFill/>
        </p:spPr>
        <p:txBody>
          <a:bodyPr wrap="square" anchor="t" lIns="54864" rIns="54864" tIns="54864" bIns="54864">
            <a:spAutoFit/>
          </a:bodyPr>
          <a:lstStyle/>
          <a:p>
            <a:pPr algn="l">
              <a:spcAft>
                <a:spcPts val="0"/>
              </a:spcAft>
            </a:pPr>
            <a:r>
              <a:rPr sz="2100" b="1">
                <a:solidFill>
                  <a:srgbClr val="161920"/>
                </a:solidFill>
                <a:latin typeface="Arial"/>
              </a:rPr>
              <a:t>GenAI Visuals · Photoshop + Firefly</a:t>
            </a:r>
          </a:p>
        </p:txBody>
      </p:sp>
      <p:sp>
        <p:nvSpPr>
          <p:cNvPr id="18" name="TextBox 17"/>
          <p:cNvSpPr txBox="1"/>
          <p:nvPr/>
        </p:nvSpPr>
        <p:spPr>
          <a:xfrm>
            <a:off x="1097280" y="3063240"/>
            <a:ext cx="4754880"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Courseware · v8</a:t>
            </a:r>
          </a:p>
        </p:txBody>
      </p:sp>
      <p:sp>
        <p:nvSpPr>
          <p:cNvPr id="19" name="Rounded Rectangle 18"/>
          <p:cNvSpPr/>
          <p:nvPr/>
        </p:nvSpPr>
        <p:spPr>
          <a:xfrm>
            <a:off x="1097280" y="3767328"/>
            <a:ext cx="1664208" cy="150876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0" y="3986784"/>
            <a:ext cx="749808" cy="56692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 y="4133087"/>
            <a:ext cx="749808" cy="201168"/>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PPTX</a:t>
            </a:r>
          </a:p>
        </p:txBody>
      </p:sp>
      <p:sp>
        <p:nvSpPr>
          <p:cNvPr id="22" name="TextBox 21"/>
          <p:cNvSpPr txBox="1"/>
          <p:nvPr/>
        </p:nvSpPr>
        <p:spPr>
          <a:xfrm>
            <a:off x="1234439" y="4736592"/>
            <a:ext cx="1389888" cy="274320"/>
          </a:xfrm>
          <a:prstGeom prst="rect">
            <a:avLst/>
          </a:prstGeom>
          <a:noFill/>
        </p:spPr>
        <p:txBody>
          <a:bodyPr wrap="square" anchor="t" lIns="54864" rIns="54864" tIns="54864" bIns="54864">
            <a:spAutoFit/>
          </a:bodyPr>
          <a:lstStyle/>
          <a:p>
            <a:pPr algn="ctr">
              <a:spcAft>
                <a:spcPts val="0"/>
              </a:spcAft>
            </a:pPr>
            <a:r>
              <a:rPr sz="1050" b="1">
                <a:solidFill>
                  <a:srgbClr val="161920"/>
                </a:solidFill>
                <a:latin typeface="Arial"/>
              </a:rPr>
              <a:t>Trainer deck</a:t>
            </a:r>
          </a:p>
        </p:txBody>
      </p:sp>
      <p:sp>
        <p:nvSpPr>
          <p:cNvPr id="23" name="Rounded Rectangle 22"/>
          <p:cNvSpPr/>
          <p:nvPr/>
        </p:nvSpPr>
        <p:spPr>
          <a:xfrm>
            <a:off x="3090672" y="3767328"/>
            <a:ext cx="1664208" cy="150876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47872" y="3986784"/>
            <a:ext cx="749808" cy="56692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4133087"/>
            <a:ext cx="749808" cy="201168"/>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PDF</a:t>
            </a:r>
          </a:p>
        </p:txBody>
      </p:sp>
      <p:sp>
        <p:nvSpPr>
          <p:cNvPr id="26" name="TextBox 25"/>
          <p:cNvSpPr txBox="1"/>
          <p:nvPr/>
        </p:nvSpPr>
        <p:spPr>
          <a:xfrm>
            <a:off x="3227832" y="4736592"/>
            <a:ext cx="1389888" cy="274320"/>
          </a:xfrm>
          <a:prstGeom prst="rect">
            <a:avLst/>
          </a:prstGeom>
          <a:noFill/>
        </p:spPr>
        <p:txBody>
          <a:bodyPr wrap="square" anchor="t" lIns="54864" rIns="54864" tIns="54864" bIns="54864">
            <a:spAutoFit/>
          </a:bodyPr>
          <a:lstStyle/>
          <a:p>
            <a:pPr algn="ctr">
              <a:spcAft>
                <a:spcPts val="0"/>
              </a:spcAft>
            </a:pPr>
            <a:r>
              <a:rPr sz="1050" b="1">
                <a:solidFill>
                  <a:srgbClr val="161920"/>
                </a:solidFill>
                <a:latin typeface="Arial"/>
              </a:rPr>
              <a:t>Learner slides</a:t>
            </a:r>
          </a:p>
        </p:txBody>
      </p:sp>
      <p:sp>
        <p:nvSpPr>
          <p:cNvPr id="27" name="Rounded Rectangle 26"/>
          <p:cNvSpPr/>
          <p:nvPr/>
        </p:nvSpPr>
        <p:spPr>
          <a:xfrm>
            <a:off x="5084064" y="3767328"/>
            <a:ext cx="1664208" cy="150876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541264" y="3986784"/>
            <a:ext cx="749808" cy="56692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41264" y="4133087"/>
            <a:ext cx="749808" cy="201168"/>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LG</a:t>
            </a:r>
          </a:p>
        </p:txBody>
      </p:sp>
      <p:sp>
        <p:nvSpPr>
          <p:cNvPr id="30" name="TextBox 29"/>
          <p:cNvSpPr txBox="1"/>
          <p:nvPr/>
        </p:nvSpPr>
        <p:spPr>
          <a:xfrm>
            <a:off x="5221224" y="4736592"/>
            <a:ext cx="1389888" cy="274320"/>
          </a:xfrm>
          <a:prstGeom prst="rect">
            <a:avLst/>
          </a:prstGeom>
          <a:noFill/>
        </p:spPr>
        <p:txBody>
          <a:bodyPr wrap="square" anchor="t" lIns="54864" rIns="54864" tIns="54864" bIns="54864">
            <a:spAutoFit/>
          </a:bodyPr>
          <a:lstStyle/>
          <a:p>
            <a:pPr algn="ctr">
              <a:spcAft>
                <a:spcPts val="0"/>
              </a:spcAft>
            </a:pPr>
            <a:r>
              <a:rPr sz="1050" b="1">
                <a:solidFill>
                  <a:srgbClr val="161920"/>
                </a:solidFill>
                <a:latin typeface="Arial"/>
              </a:rPr>
              <a:t>Detailed guide</a:t>
            </a:r>
          </a:p>
        </p:txBody>
      </p:sp>
      <p:sp>
        <p:nvSpPr>
          <p:cNvPr id="31" name="Rounded Rectangle 30"/>
          <p:cNvSpPr/>
          <p:nvPr/>
        </p:nvSpPr>
        <p:spPr>
          <a:xfrm>
            <a:off x="7077456" y="3767328"/>
            <a:ext cx="1664208" cy="150876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534656" y="3986784"/>
            <a:ext cx="749808" cy="56692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34656" y="4133087"/>
            <a:ext cx="749808" cy="201168"/>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LP</a:t>
            </a:r>
          </a:p>
        </p:txBody>
      </p:sp>
      <p:sp>
        <p:nvSpPr>
          <p:cNvPr id="34" name="TextBox 33"/>
          <p:cNvSpPr txBox="1"/>
          <p:nvPr/>
        </p:nvSpPr>
        <p:spPr>
          <a:xfrm>
            <a:off x="7214616" y="4736592"/>
            <a:ext cx="1389888" cy="274320"/>
          </a:xfrm>
          <a:prstGeom prst="rect">
            <a:avLst/>
          </a:prstGeom>
          <a:noFill/>
        </p:spPr>
        <p:txBody>
          <a:bodyPr wrap="square" anchor="t" lIns="54864" rIns="54864" tIns="54864" bIns="54864">
            <a:spAutoFit/>
          </a:bodyPr>
          <a:lstStyle/>
          <a:p>
            <a:pPr algn="ctr">
              <a:spcAft>
                <a:spcPts val="0"/>
              </a:spcAft>
            </a:pPr>
            <a:r>
              <a:rPr sz="1050" b="1">
                <a:solidFill>
                  <a:srgbClr val="161920"/>
                </a:solidFill>
                <a:latin typeface="Arial"/>
              </a:rPr>
              <a:t>Delivery plan</a:t>
            </a:r>
          </a:p>
        </p:txBody>
      </p:sp>
      <p:sp>
        <p:nvSpPr>
          <p:cNvPr id="35" name="Rounded Rectangle 34"/>
          <p:cNvSpPr/>
          <p:nvPr/>
        </p:nvSpPr>
        <p:spPr>
          <a:xfrm>
            <a:off x="9070848" y="3767328"/>
            <a:ext cx="1664208" cy="150876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528048" y="3986784"/>
            <a:ext cx="749808" cy="56692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28048" y="4133087"/>
            <a:ext cx="749808" cy="201168"/>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10</a:t>
            </a:r>
          </a:p>
        </p:txBody>
      </p:sp>
      <p:sp>
        <p:nvSpPr>
          <p:cNvPr id="38" name="TextBox 37"/>
          <p:cNvSpPr txBox="1"/>
          <p:nvPr/>
        </p:nvSpPr>
        <p:spPr>
          <a:xfrm>
            <a:off x="9208008" y="4736592"/>
            <a:ext cx="1389888" cy="274320"/>
          </a:xfrm>
          <a:prstGeom prst="rect">
            <a:avLst/>
          </a:prstGeom>
          <a:noFill/>
        </p:spPr>
        <p:txBody>
          <a:bodyPr wrap="square" anchor="t" lIns="54864" rIns="54864" tIns="54864" bIns="54864">
            <a:spAutoFit/>
          </a:bodyPr>
          <a:lstStyle/>
          <a:p>
            <a:pPr algn="ctr">
              <a:spcAft>
                <a:spcPts val="0"/>
              </a:spcAft>
            </a:pPr>
            <a:r>
              <a:rPr sz="1050" b="1">
                <a:solidFill>
                  <a:srgbClr val="161920"/>
                </a:solidFill>
                <a:latin typeface="Arial"/>
              </a:rPr>
              <a:t>Lab folders</a:t>
            </a:r>
          </a:p>
        </p:txBody>
      </p:sp>
      <p:sp>
        <p:nvSpPr>
          <p:cNvPr id="39" name="TextBox 38"/>
          <p:cNvSpPr txBox="1"/>
          <p:nvPr/>
        </p:nvSpPr>
        <p:spPr>
          <a:xfrm>
            <a:off x="1097280" y="5532120"/>
            <a:ext cx="9875520" cy="274320"/>
          </a:xfrm>
          <a:prstGeom prst="rect">
            <a:avLst/>
          </a:prstGeom>
          <a:noFill/>
        </p:spPr>
        <p:txBody>
          <a:bodyPr wrap="square" anchor="t" lIns="54864" rIns="54864" tIns="54864" bIns="54864">
            <a:spAutoFit/>
          </a:bodyPr>
          <a:lstStyle/>
          <a:p>
            <a:pPr algn="ctr">
              <a:spcAft>
                <a:spcPts val="0"/>
              </a:spcAft>
            </a:pPr>
            <a:r>
              <a:rPr sz="1300" b="1">
                <a:solidFill>
                  <a:srgbClr val="5B6372"/>
                </a:solidFill>
                <a:latin typeface="Arial"/>
              </a:rPr>
              <a:t>Outcome · the complete package is available in one authenticated course record.</a:t>
            </a:r>
          </a:p>
        </p:txBody>
      </p:sp>
    </p:spTree>
  </p:cSld>
  <p:transition spd="med" advClick="1">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LEARNER-FACING GITHUB COURSEWARE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Access the Ten Lab Folders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a:t>
            </a:r>
          </a:p>
        </p:txBody>
      </p:sp>
      <p:sp>
        <p:nvSpPr>
          <p:cNvPr id="10" name="Rounded Rectangle 9"/>
          <p:cNvSpPr/>
          <p:nvPr/>
        </p:nvSpPr>
        <p:spPr>
          <a:xfrm>
            <a:off x="868680" y="1828800"/>
            <a:ext cx="1037844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176272"/>
            <a:ext cx="9738360" cy="502920"/>
          </a:xfrm>
          <a:prstGeom prst="rect">
            <a:avLst/>
          </a:prstGeom>
          <a:noFill/>
        </p:spPr>
        <p:txBody>
          <a:bodyPr wrap="square" anchor="t" lIns="54864" rIns="54864" tIns="54864" bIns="54864">
            <a:spAutoFit/>
          </a:bodyPr>
          <a:lstStyle/>
          <a:p>
            <a:pPr algn="ctr">
              <a:spcAft>
                <a:spcPts val="0"/>
              </a:spcAft>
            </a:pPr>
            <a:r>
              <a:rPr sz="2000" b="1">
                <a:solidFill>
                  <a:srgbClr val="161920"/>
                </a:solidFill>
                <a:latin typeface="Arial"/>
              </a:rPr>
              <a:t>Open the course repository, select labs/, then open the numbered folder assigned by your trainer.</a:t>
            </a:r>
          </a:p>
        </p:txBody>
      </p:sp>
      <p:sp>
        <p:nvSpPr>
          <p:cNvPr id="12" name="TextBox 11"/>
          <p:cNvSpPr txBox="1"/>
          <p:nvPr/>
        </p:nvSpPr>
        <p:spPr>
          <a:xfrm>
            <a:off x="2423160" y="3063240"/>
            <a:ext cx="7269480" cy="713232"/>
          </a:xfrm>
          <a:prstGeom prst="rect">
            <a:avLst/>
          </a:prstGeom>
          <a:noFill/>
        </p:spPr>
        <p:txBody>
          <a:bodyPr wrap="square" anchor="ctr" lIns="54864" rIns="54864" tIns="54864" bIns="54864">
            <a:spAutoFit/>
          </a:bodyPr>
          <a:lstStyle/>
          <a:p>
            <a:pPr algn="ctr">
              <a:spcAft>
                <a:spcPts val="0"/>
              </a:spcAft>
            </a:pPr>
            <a:r>
              <a:rPr sz="2200" b="1">
                <a:solidFill>
                  <a:srgbClr val="224AF4"/>
                </a:solidFill>
                <a:latin typeface="Arial"/>
                <a:hlinkClick r:id="rId2"/>
              </a:rPr>
              <a:t>Open the learner lab folders</a:t>
            </a:r>
          </a:p>
        </p:txBody>
      </p:sp>
      <p:sp>
        <p:nvSpPr>
          <p:cNvPr id="13" name="TextBox 12"/>
          <p:cNvSpPr txBox="1"/>
          <p:nvPr/>
        </p:nvSpPr>
        <p:spPr>
          <a:xfrm>
            <a:off x="1417320" y="4370832"/>
            <a:ext cx="9326880" cy="548640"/>
          </a:xfrm>
          <a:prstGeom prst="rect">
            <a:avLst/>
          </a:prstGeom>
          <a:noFill/>
        </p:spPr>
        <p:txBody>
          <a:bodyPr wrap="square" anchor="t" lIns="54864" rIns="54864" tIns="54864" bIns="54864">
            <a:spAutoFit/>
          </a:bodyPr>
          <a:lstStyle/>
          <a:p>
            <a:pPr algn="ctr">
              <a:spcAft>
                <a:spcPts val="0"/>
              </a:spcAft>
            </a:pPr>
            <a:r>
              <a:rPr sz="1400" b="0">
                <a:solidFill>
                  <a:srgbClr val="5B6372"/>
                </a:solidFill>
                <a:latin typeface="Arial"/>
              </a:rPr>
              <a:t>Every folder contains a detailed guide plus supplied PSD/JPEG assets. Keep your outputs inside that folder or the trainer-approved workspace.</a:t>
            </a:r>
          </a:p>
        </p:txBody>
      </p:sp>
    </p:spTree>
  </p:cSld>
  <p:transition spd="med" advClick="1">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COURSE FLOW</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Two-Day Learning Journey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a:t>
            </a:r>
          </a:p>
        </p:txBody>
      </p:sp>
      <p:sp>
        <p:nvSpPr>
          <p:cNvPr id="10" name="Rounded Rectangle 9"/>
          <p:cNvSpPr/>
          <p:nvPr/>
        </p:nvSpPr>
        <p:spPr>
          <a:xfrm>
            <a:off x="68580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0392" y="2039112"/>
            <a:ext cx="548640" cy="54864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1</a:t>
            </a:r>
          </a:p>
        </p:txBody>
      </p:sp>
      <p:sp>
        <p:nvSpPr>
          <p:cNvPr id="13" name="TextBox 12"/>
          <p:cNvSpPr txBox="1"/>
          <p:nvPr/>
        </p:nvSpPr>
        <p:spPr>
          <a:xfrm>
            <a:off x="85039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Explore</a:t>
            </a:r>
          </a:p>
        </p:txBody>
      </p:sp>
      <p:sp>
        <p:nvSpPr>
          <p:cNvPr id="14" name="Chevron 13"/>
          <p:cNvSpPr/>
          <p:nvPr/>
        </p:nvSpPr>
        <p:spPr>
          <a:xfrm>
            <a:off x="2714853" y="2816352"/>
            <a:ext cx="137160" cy="45720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84017"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48609" y="2039112"/>
            <a:ext cx="548640" cy="548640"/>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48609"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2</a:t>
            </a:r>
          </a:p>
        </p:txBody>
      </p:sp>
      <p:sp>
        <p:nvSpPr>
          <p:cNvPr id="18" name="TextBox 17"/>
          <p:cNvSpPr txBox="1"/>
          <p:nvPr/>
        </p:nvSpPr>
        <p:spPr>
          <a:xfrm>
            <a:off x="3048609"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Reference</a:t>
            </a:r>
          </a:p>
        </p:txBody>
      </p:sp>
      <p:sp>
        <p:nvSpPr>
          <p:cNvPr id="19" name="Chevron 18"/>
          <p:cNvSpPr/>
          <p:nvPr/>
        </p:nvSpPr>
        <p:spPr>
          <a:xfrm>
            <a:off x="4913071" y="2816352"/>
            <a:ext cx="137160" cy="45720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82235"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46827" y="2039112"/>
            <a:ext cx="548640" cy="548640"/>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6827"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3</a:t>
            </a:r>
          </a:p>
        </p:txBody>
      </p:sp>
      <p:sp>
        <p:nvSpPr>
          <p:cNvPr id="23" name="TextBox 22"/>
          <p:cNvSpPr txBox="1"/>
          <p:nvPr/>
        </p:nvSpPr>
        <p:spPr>
          <a:xfrm>
            <a:off x="5246827"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Compose</a:t>
            </a:r>
          </a:p>
        </p:txBody>
      </p:sp>
      <p:sp>
        <p:nvSpPr>
          <p:cNvPr id="24" name="Chevron 23"/>
          <p:cNvSpPr/>
          <p:nvPr/>
        </p:nvSpPr>
        <p:spPr>
          <a:xfrm>
            <a:off x="7111288" y="2816352"/>
            <a:ext cx="137160" cy="45720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0452"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45044" y="2039112"/>
            <a:ext cx="54864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5044"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4</a:t>
            </a:r>
          </a:p>
        </p:txBody>
      </p:sp>
      <p:sp>
        <p:nvSpPr>
          <p:cNvPr id="28" name="TextBox 27"/>
          <p:cNvSpPr txBox="1"/>
          <p:nvPr/>
        </p:nvSpPr>
        <p:spPr>
          <a:xfrm>
            <a:off x="7445044"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Critique</a:t>
            </a:r>
          </a:p>
        </p:txBody>
      </p:sp>
      <p:sp>
        <p:nvSpPr>
          <p:cNvPr id="29" name="Chevron 28"/>
          <p:cNvSpPr/>
          <p:nvPr/>
        </p:nvSpPr>
        <p:spPr>
          <a:xfrm>
            <a:off x="9309506" y="2816352"/>
            <a:ext cx="137160" cy="45720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7867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43262" y="2039112"/>
            <a:ext cx="548640" cy="548640"/>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326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5</a:t>
            </a:r>
          </a:p>
        </p:txBody>
      </p:sp>
      <p:sp>
        <p:nvSpPr>
          <p:cNvPr id="33" name="TextBox 32"/>
          <p:cNvSpPr txBox="1"/>
          <p:nvPr/>
        </p:nvSpPr>
        <p:spPr>
          <a:xfrm>
            <a:off x="964326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Deliver</a:t>
            </a:r>
          </a:p>
        </p:txBody>
      </p:sp>
      <p:sp>
        <p:nvSpPr>
          <p:cNvPr id="34" name="Rounded Rectangle 33"/>
          <p:cNvSpPr/>
          <p:nvPr/>
        </p:nvSpPr>
        <p:spPr>
          <a:xfrm>
            <a:off x="685800" y="4617720"/>
            <a:ext cx="10789920" cy="11338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46320"/>
            <a:ext cx="1508760" cy="228600"/>
          </a:xfrm>
          <a:prstGeom prst="rect">
            <a:avLst/>
          </a:prstGeom>
          <a:noFill/>
        </p:spPr>
        <p:txBody>
          <a:bodyPr wrap="square" anchor="t" lIns="54864" rIns="54864" tIns="54864" bIns="54864">
            <a:spAutoFit/>
          </a:bodyPr>
          <a:lstStyle/>
          <a:p>
            <a:pPr algn="l">
              <a:spcAft>
                <a:spcPts val="0"/>
              </a:spcAft>
            </a:pPr>
            <a:r>
              <a:rPr sz="1100" b="1">
                <a:solidFill>
                  <a:srgbClr val="FFFFFF"/>
                </a:solidFill>
                <a:latin typeface="Arial"/>
              </a:rPr>
              <a:t>OUTCOME</a:t>
            </a:r>
          </a:p>
        </p:txBody>
      </p:sp>
      <p:sp>
        <p:nvSpPr>
          <p:cNvPr id="36" name="TextBox 35"/>
          <p:cNvSpPr txBox="1"/>
          <p:nvPr/>
        </p:nvSpPr>
        <p:spPr>
          <a:xfrm>
            <a:off x="2240280" y="4773168"/>
            <a:ext cx="8915400" cy="621792"/>
          </a:xfrm>
          <a:prstGeom prst="rect">
            <a:avLst/>
          </a:prstGeom>
          <a:noFill/>
        </p:spPr>
        <p:txBody>
          <a:bodyPr wrap="square" anchor="t" lIns="54864" rIns="54864" tIns="54864" bIns="54864">
            <a:spAutoFit/>
          </a:bodyPr>
          <a:lstStyle/>
          <a:p>
            <a:pPr algn="l">
              <a:spcAft>
                <a:spcPts val="0"/>
              </a:spcAft>
            </a:pPr>
            <a:r>
              <a:rPr sz="1600" b="1">
                <a:solidFill>
                  <a:srgbClr val="FFFFFF"/>
                </a:solidFill>
                <a:latin typeface="Arial"/>
              </a:rPr>
              <a:t>The workflow moves from audience-led exploration to Firefly control, editable Photoshop integration, critique and verified delivery.</a:t>
            </a:r>
          </a:p>
        </p:txBody>
      </p:sp>
    </p:spTree>
  </p:cSld>
  <p:transition spd="med" advClick="1">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VISUAL COMMUNICATION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Skills Framework Alignment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TSC</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Visual Communication · DSN-COM-4005-1.1</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Course</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TGS-2024045220</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Duration</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2 days · 16 hours, including 2 hours of assessment</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Knowledge</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K1–K5</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Abilities</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A1–A7</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Assessment</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WA 60 min · PP 60 min</a:t>
            </a:r>
          </a:p>
        </p:txBody>
      </p:sp>
    </p:spTree>
  </p:cSld>
  <p:transition spd="med" advClick="1">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K1–K5</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Knowledge Criteria</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K1</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Elements of typography, logos, visual communication design and information design.</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K2</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Best practices for visual communication.</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K3</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Uses of relevant visual-design software packages.</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K4</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Colour fundamentals and forms.</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K5</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Techniques for analysing aesthetics.</a:t>
            </a:r>
          </a:p>
        </p:txBody>
      </p:sp>
    </p:spTree>
  </p:cSld>
  <p:transition spd="med" advClick="1">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A1–A7</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Ability Criteria</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a:t>
            </a:r>
          </a:p>
        </p:txBody>
      </p:sp>
      <p:sp>
        <p:nvSpPr>
          <p:cNvPr id="10" name="Rounded Rectangle 9"/>
          <p:cNvSpPr/>
          <p:nvPr/>
        </p:nvSpPr>
        <p:spPr>
          <a:xfrm>
            <a:off x="685800" y="1755648"/>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13472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A1</a:t>
            </a:r>
          </a:p>
        </p:txBody>
      </p:sp>
      <p:sp>
        <p:nvSpPr>
          <p:cNvPr id="13" name="TextBox 12"/>
          <p:cNvSpPr txBox="1"/>
          <p:nvPr/>
        </p:nvSpPr>
        <p:spPr>
          <a:xfrm>
            <a:off x="905256" y="2414015"/>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Initiate visual communication ideas through exploration.</a:t>
            </a:r>
          </a:p>
        </p:txBody>
      </p:sp>
      <p:sp>
        <p:nvSpPr>
          <p:cNvPr id="14" name="Rounded Rectangle 13"/>
          <p:cNvSpPr/>
          <p:nvPr/>
        </p:nvSpPr>
        <p:spPr>
          <a:xfrm>
            <a:off x="4349496" y="1755648"/>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13472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A2</a:t>
            </a:r>
          </a:p>
        </p:txBody>
      </p:sp>
      <p:sp>
        <p:nvSpPr>
          <p:cNvPr id="17" name="TextBox 16"/>
          <p:cNvSpPr txBox="1"/>
          <p:nvPr/>
        </p:nvSpPr>
        <p:spPr>
          <a:xfrm>
            <a:off x="4568952" y="2414015"/>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Develop outputs by integrating media, materials, processes and environments.</a:t>
            </a:r>
          </a:p>
        </p:txBody>
      </p:sp>
      <p:sp>
        <p:nvSpPr>
          <p:cNvPr id="18" name="Rounded Rectangle 17"/>
          <p:cNvSpPr/>
          <p:nvPr/>
        </p:nvSpPr>
        <p:spPr>
          <a:xfrm>
            <a:off x="8013192" y="1755648"/>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13472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A3</a:t>
            </a:r>
          </a:p>
        </p:txBody>
      </p:sp>
      <p:sp>
        <p:nvSpPr>
          <p:cNvPr id="21" name="TextBox 20"/>
          <p:cNvSpPr txBox="1"/>
          <p:nvPr/>
        </p:nvSpPr>
        <p:spPr>
          <a:xfrm>
            <a:off x="8232648" y="2414015"/>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Create storyboards and task flows to communicate intentions.</a:t>
            </a:r>
          </a:p>
        </p:txBody>
      </p:sp>
      <p:sp>
        <p:nvSpPr>
          <p:cNvPr id="22" name="Rounded Rectangle 21"/>
          <p:cNvSpPr/>
          <p:nvPr/>
        </p:nvSpPr>
        <p:spPr>
          <a:xfrm>
            <a:off x="685800" y="3304032"/>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304032"/>
            <a:ext cx="73152" cy="1347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505200"/>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A4</a:t>
            </a:r>
          </a:p>
        </p:txBody>
      </p:sp>
      <p:sp>
        <p:nvSpPr>
          <p:cNvPr id="25" name="TextBox 24"/>
          <p:cNvSpPr txBox="1"/>
          <p:nvPr/>
        </p:nvSpPr>
        <p:spPr>
          <a:xfrm>
            <a:off x="905256" y="3962399"/>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Evaluate design work with stakeholders.</a:t>
            </a:r>
          </a:p>
        </p:txBody>
      </p:sp>
      <p:sp>
        <p:nvSpPr>
          <p:cNvPr id="26" name="Rounded Rectangle 25"/>
          <p:cNvSpPr/>
          <p:nvPr/>
        </p:nvSpPr>
        <p:spPr>
          <a:xfrm>
            <a:off x="4349496" y="3304032"/>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3304032"/>
            <a:ext cx="73152" cy="13472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3505200"/>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A5</a:t>
            </a:r>
          </a:p>
        </p:txBody>
      </p:sp>
      <p:sp>
        <p:nvSpPr>
          <p:cNvPr id="29" name="TextBox 28"/>
          <p:cNvSpPr txBox="1"/>
          <p:nvPr/>
        </p:nvSpPr>
        <p:spPr>
          <a:xfrm>
            <a:off x="4568952" y="3962399"/>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Propose suggestions to enhance visual formats.</a:t>
            </a:r>
          </a:p>
        </p:txBody>
      </p:sp>
      <p:sp>
        <p:nvSpPr>
          <p:cNvPr id="30" name="Rounded Rectangle 29"/>
          <p:cNvSpPr/>
          <p:nvPr/>
        </p:nvSpPr>
        <p:spPr>
          <a:xfrm>
            <a:off x="8013192" y="3304032"/>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3304032"/>
            <a:ext cx="73152" cy="13472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3505200"/>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A6</a:t>
            </a:r>
          </a:p>
        </p:txBody>
      </p:sp>
      <p:sp>
        <p:nvSpPr>
          <p:cNvPr id="33" name="TextBox 32"/>
          <p:cNvSpPr txBox="1"/>
          <p:nvPr/>
        </p:nvSpPr>
        <p:spPr>
          <a:xfrm>
            <a:off x="8232648" y="3962399"/>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Critique own and others' work using explicit criteria.</a:t>
            </a:r>
          </a:p>
        </p:txBody>
      </p:sp>
      <p:sp>
        <p:nvSpPr>
          <p:cNvPr id="34" name="Rounded Rectangle 33"/>
          <p:cNvSpPr/>
          <p:nvPr/>
        </p:nvSpPr>
        <p:spPr>
          <a:xfrm>
            <a:off x="685800" y="4852416"/>
            <a:ext cx="3462528" cy="1347216"/>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4852416"/>
            <a:ext cx="73152" cy="13472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5053584"/>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A7</a:t>
            </a:r>
          </a:p>
        </p:txBody>
      </p:sp>
      <p:sp>
        <p:nvSpPr>
          <p:cNvPr id="37" name="TextBox 36"/>
          <p:cNvSpPr txBox="1"/>
          <p:nvPr/>
        </p:nvSpPr>
        <p:spPr>
          <a:xfrm>
            <a:off x="905256" y="5510784"/>
            <a:ext cx="3060192" cy="505968"/>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Develop strategies that strengthen the appeal of visual outputs.</a:t>
            </a:r>
          </a:p>
        </p:txBody>
      </p:sp>
    </p:spTree>
  </p:cSld>
  <p:transition spd="med" advClick="1">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WHAT YOU WILL BE ABLE TO DO</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Learning Outcomes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a:t>
            </a:r>
          </a:p>
        </p:txBody>
      </p:sp>
      <p:sp>
        <p:nvSpPr>
          <p:cNvPr id="10" name="Rounded Rectangle 9"/>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LO1</a:t>
            </a:r>
          </a:p>
        </p:txBody>
      </p:sp>
      <p:sp>
        <p:nvSpPr>
          <p:cNvPr id="13" name="TextBox 12"/>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Initiate visual communication through generative AI in Photoshop and Firefly.</a:t>
            </a:r>
          </a:p>
        </p:txBody>
      </p:sp>
      <p:sp>
        <p:nvSpPr>
          <p:cNvPr id="14" name="Rounded Rectangle 13"/>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LO2</a:t>
            </a:r>
          </a:p>
        </p:txBody>
      </p:sp>
      <p:sp>
        <p:nvSpPr>
          <p:cNvPr id="17" name="TextBox 16"/>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Create storyboards in Firefly for visual narratives and task flows.</a:t>
            </a:r>
          </a:p>
        </p:txBody>
      </p:sp>
      <p:sp>
        <p:nvSpPr>
          <p:cNvPr id="18" name="Rounded Rectangle 17"/>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LO3</a:t>
            </a:r>
          </a:p>
        </p:txBody>
      </p:sp>
      <p:sp>
        <p:nvSpPr>
          <p:cNvPr id="21" name="TextBox 20"/>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Propose enhancements through aesthetic analysis and advanced critique in Photoshop.</a:t>
            </a:r>
          </a:p>
        </p:txBody>
      </p:sp>
      <p:sp>
        <p:nvSpPr>
          <p:cNvPr id="22" name="Rounded Rectangle 21"/>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LO4</a:t>
            </a:r>
          </a:p>
        </p:txBody>
      </p:sp>
      <p:sp>
        <p:nvSpPr>
          <p:cNvPr id="25" name="TextBox 24"/>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Formulate generative-AI colour strategies in Photoshop.</a:t>
            </a:r>
          </a:p>
        </p:txBody>
      </p:sp>
    </p:spTree>
  </p:cSld>
  <p:transition spd="med" advClick="1">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FOUR CONNECTED TOPICS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Course Outline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a:t>
            </a:r>
          </a:p>
        </p:txBody>
      </p:sp>
      <p:sp>
        <p:nvSpPr>
          <p:cNvPr id="10" name="Rounded Rectangle 9"/>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Topic 1</a:t>
            </a:r>
          </a:p>
        </p:txBody>
      </p:sp>
      <p:sp>
        <p:nvSpPr>
          <p:cNvPr id="13" name="TextBox 12"/>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GenAI for Visual Communication
Turn an audience need into an intentional, rights-aware visual direction.
LO1 · K1 · K2 · A1 · A2</a:t>
            </a:r>
          </a:p>
        </p:txBody>
      </p:sp>
      <p:sp>
        <p:nvSpPr>
          <p:cNvPr id="14" name="Rounded Rectangle 13"/>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Topic 2</a:t>
            </a:r>
          </a:p>
        </p:txBody>
      </p:sp>
      <p:sp>
        <p:nvSpPr>
          <p:cNvPr id="17" name="TextBox 16"/>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Firefly Storyboards and Reference Control
Control composition and style, then organise variations into a communicable flow.
LO2 · K3 · A3</a:t>
            </a:r>
          </a:p>
        </p:txBody>
      </p:sp>
      <p:sp>
        <p:nvSpPr>
          <p:cNvPr id="18" name="Rounded Rectangle 17"/>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Topic 3</a:t>
            </a:r>
          </a:p>
        </p:txBody>
      </p:sp>
      <p:sp>
        <p:nvSpPr>
          <p:cNvPr id="21" name="TextBox 20"/>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Photoshop Generative Editing and Critique
Use selections and generative features to build, evaluate and improve editable composites.
LO3 · K3 · K5 · A4 · A5 · A6</a:t>
            </a:r>
          </a:p>
        </p:txBody>
      </p:sp>
      <p:sp>
        <p:nvSpPr>
          <p:cNvPr id="22" name="Rounded Rectangle 21"/>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Topic 4</a:t>
            </a:r>
          </a:p>
        </p:txBody>
      </p:sp>
      <p:sp>
        <p:nvSpPr>
          <p:cNvPr id="25" name="TextBox 24"/>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Colour Strategy, Enhancement and Delivery
Build a coherent palette, preserve editability and verify the delivered visual.
LO4 · K4 · K5 · A7</a:t>
            </a:r>
          </a:p>
        </p:txBody>
      </p:sp>
    </p:spTree>
  </p:cSld>
  <p:transition spd="med" advClick="1">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C92828"/>
                </a:solidFill>
                <a:latin typeface="Arial"/>
              </a:rPr>
              <a:t>BEFORE THE PAPERS BEGIN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Assessment Briefing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Individual work</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No discussion, photography or recording of assessment scripts.</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Approved references</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course materials allowed by the assessor.</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Phones/materials</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Place unapproved items under the table or as directed.</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Writing</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black/blue pen for hard copy; no correction fluid or tape.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Time</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WA 60 minutes; PP 60 minutes; submit when time is called.</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Outcome</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Competent or Not Yet Competent, with reassessment and appeal rights explained.</a:t>
            </a:r>
          </a:p>
        </p:txBody>
      </p:sp>
    </p:spTree>
  </p:cSld>
  <p:transition spd="med" advClick="1">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SUMMATIVE EVIDENCE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Assessment Design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a:t>
            </a:r>
          </a:p>
        </p:txBody>
      </p:sp>
      <p:sp>
        <p:nvSpPr>
          <p:cNvPr id="10" name="Rounded Rectangle 9"/>
          <p:cNvSpPr/>
          <p:nvPr/>
        </p:nvSpPr>
        <p:spPr>
          <a:xfrm>
            <a:off x="68580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0392" y="2039112"/>
            <a:ext cx="548640" cy="54864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1</a:t>
            </a:r>
          </a:p>
        </p:txBody>
      </p:sp>
      <p:sp>
        <p:nvSpPr>
          <p:cNvPr id="13" name="TextBox 12"/>
          <p:cNvSpPr txBox="1"/>
          <p:nvPr/>
        </p:nvSpPr>
        <p:spPr>
          <a:xfrm>
            <a:off x="85039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WA · K1–K5</a:t>
            </a:r>
          </a:p>
        </p:txBody>
      </p:sp>
      <p:sp>
        <p:nvSpPr>
          <p:cNvPr id="14" name="Chevron 13"/>
          <p:cNvSpPr/>
          <p:nvPr/>
        </p:nvSpPr>
        <p:spPr>
          <a:xfrm>
            <a:off x="2714853"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84017"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48609" y="2039112"/>
            <a:ext cx="548640" cy="548640"/>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48609"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2</a:t>
            </a:r>
          </a:p>
        </p:txBody>
      </p:sp>
      <p:sp>
        <p:nvSpPr>
          <p:cNvPr id="18" name="TextBox 17"/>
          <p:cNvSpPr txBox="1"/>
          <p:nvPr/>
        </p:nvSpPr>
        <p:spPr>
          <a:xfrm>
            <a:off x="3048609"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PP · A1/A2</a:t>
            </a:r>
          </a:p>
        </p:txBody>
      </p:sp>
      <p:sp>
        <p:nvSpPr>
          <p:cNvPr id="19" name="Chevron 18"/>
          <p:cNvSpPr/>
          <p:nvPr/>
        </p:nvSpPr>
        <p:spPr>
          <a:xfrm>
            <a:off x="4913071"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82235"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46827" y="2039112"/>
            <a:ext cx="548640" cy="548640"/>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6827"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3</a:t>
            </a:r>
          </a:p>
        </p:txBody>
      </p:sp>
      <p:sp>
        <p:nvSpPr>
          <p:cNvPr id="23" name="TextBox 22"/>
          <p:cNvSpPr txBox="1"/>
          <p:nvPr/>
        </p:nvSpPr>
        <p:spPr>
          <a:xfrm>
            <a:off x="5246827"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PP · A3/A4</a:t>
            </a:r>
          </a:p>
        </p:txBody>
      </p:sp>
      <p:sp>
        <p:nvSpPr>
          <p:cNvPr id="24" name="Chevron 23"/>
          <p:cNvSpPr/>
          <p:nvPr/>
        </p:nvSpPr>
        <p:spPr>
          <a:xfrm>
            <a:off x="7111288"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0452"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45044" y="2039112"/>
            <a:ext cx="54864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5044"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4</a:t>
            </a:r>
          </a:p>
        </p:txBody>
      </p:sp>
      <p:sp>
        <p:nvSpPr>
          <p:cNvPr id="28" name="TextBox 27"/>
          <p:cNvSpPr txBox="1"/>
          <p:nvPr/>
        </p:nvSpPr>
        <p:spPr>
          <a:xfrm>
            <a:off x="7445044"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PP · A5/A6</a:t>
            </a:r>
          </a:p>
        </p:txBody>
      </p:sp>
      <p:sp>
        <p:nvSpPr>
          <p:cNvPr id="29" name="Chevron 28"/>
          <p:cNvSpPr/>
          <p:nvPr/>
        </p:nvSpPr>
        <p:spPr>
          <a:xfrm>
            <a:off x="9309506"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7867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43262" y="2039112"/>
            <a:ext cx="548640" cy="548640"/>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326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5</a:t>
            </a:r>
          </a:p>
        </p:txBody>
      </p:sp>
      <p:sp>
        <p:nvSpPr>
          <p:cNvPr id="33" name="TextBox 32"/>
          <p:cNvSpPr txBox="1"/>
          <p:nvPr/>
        </p:nvSpPr>
        <p:spPr>
          <a:xfrm>
            <a:off x="964326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PP · A7</a:t>
            </a:r>
          </a:p>
        </p:txBody>
      </p:sp>
      <p:sp>
        <p:nvSpPr>
          <p:cNvPr id="34" name="Rounded Rectangle 33"/>
          <p:cNvSpPr/>
          <p:nvPr/>
        </p:nvSpPr>
        <p:spPr>
          <a:xfrm>
            <a:off x="685800" y="4617720"/>
            <a:ext cx="10789920" cy="113385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46320"/>
            <a:ext cx="1508760" cy="228600"/>
          </a:xfrm>
          <a:prstGeom prst="rect">
            <a:avLst/>
          </a:prstGeom>
          <a:noFill/>
        </p:spPr>
        <p:txBody>
          <a:bodyPr wrap="square" anchor="t" lIns="54864" rIns="54864" tIns="54864" bIns="54864">
            <a:spAutoFit/>
          </a:bodyPr>
          <a:lstStyle/>
          <a:p>
            <a:pPr algn="l">
              <a:spcAft>
                <a:spcPts val="0"/>
              </a:spcAft>
            </a:pPr>
            <a:r>
              <a:rPr sz="1100" b="1">
                <a:solidFill>
                  <a:srgbClr val="FFFFFF"/>
                </a:solidFill>
                <a:latin typeface="Arial"/>
              </a:rPr>
              <a:t>OUTCOME</a:t>
            </a:r>
          </a:p>
        </p:txBody>
      </p:sp>
      <p:sp>
        <p:nvSpPr>
          <p:cNvPr id="36" name="TextBox 35"/>
          <p:cNvSpPr txBox="1"/>
          <p:nvPr/>
        </p:nvSpPr>
        <p:spPr>
          <a:xfrm>
            <a:off x="2240280" y="4773168"/>
            <a:ext cx="8915400" cy="621792"/>
          </a:xfrm>
          <a:prstGeom prst="rect">
            <a:avLst/>
          </a:prstGeom>
          <a:noFill/>
        </p:spPr>
        <p:txBody>
          <a:bodyPr wrap="square" anchor="t" lIns="54864" rIns="54864" tIns="54864" bIns="54864">
            <a:spAutoFit/>
          </a:bodyPr>
          <a:lstStyle/>
          <a:p>
            <a:pPr algn="l">
              <a:spcAft>
                <a:spcPts val="0"/>
              </a:spcAft>
            </a:pPr>
            <a:r>
              <a:rPr sz="1600" b="1">
                <a:solidFill>
                  <a:srgbClr val="FFFFFF"/>
                </a:solidFill>
                <a:latin typeface="Arial"/>
              </a:rPr>
              <a:t>Five written questions and four connected practical tasks; each instrument is 60 minutes and open book.</a:t>
            </a:r>
          </a:p>
        </p:txBody>
      </p:sp>
    </p:spTree>
  </p:cSld>
  <p:transition spd="med" advClick="1">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K2 · K3</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Tools, Materials and Workspace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Hardware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Laptop, suitable display, mouse/tablet and reliable storage.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Software</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Current supported Photoshop desktop release and Adobe Firefly access.</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Workspace</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Panels arranged for task focus and sufficient scratch disk.</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Sources</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Supplied rights-aware PSD/JPEG assets and approved references.</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Output brief</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Audience, channel, pixel size, colour space and copy-safe areas.</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Safety</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Backups, reversible editing and verified exports.</a:t>
            </a:r>
          </a:p>
        </p:txBody>
      </p:sp>
    </p:spTree>
  </p:cSld>
  <p:transition spd="med" advClick="1">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TOOL CONTEXT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Adobe Tool Scope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Firefly</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Prompt-led image exploration, reference controls and storyboard ideation.</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Photoshop</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Selections, generative edits, compositing, colour and output.</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Not Adobe certification</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This WSQ course does not certify an Adobe credential.</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Interface drift</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Models and labels change; decisions and evidence remain durable.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Responsible AI</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Review outputs, respect rights and retain provenance.</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Trademark</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Adobe, Firefly and Photoshop are Adobe trademarks.</a:t>
            </a:r>
          </a:p>
        </p:txBody>
      </p:sp>
    </p:spTree>
  </p:cSld>
  <p:transition spd="med" advClick="1">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02920"/>
            <a:ext cx="1143000" cy="114300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04672"/>
            <a:ext cx="1143000" cy="320040"/>
          </a:xfrm>
          <a:prstGeom prst="rect">
            <a:avLst/>
          </a:prstGeom>
          <a:noFill/>
        </p:spPr>
        <p:txBody>
          <a:bodyPr wrap="square" anchor="t" lIns="54864" rIns="54864" tIns="54864" bIns="54864">
            <a:spAutoFit/>
          </a:bodyPr>
          <a:lstStyle/>
          <a:p>
            <a:pPr algn="ctr">
              <a:spcAft>
                <a:spcPts val="0"/>
              </a:spcAft>
            </a:pPr>
            <a:r>
              <a:rPr sz="2200" b="1">
                <a:solidFill>
                  <a:srgbClr val="FFFFFF"/>
                </a:solidFill>
                <a:latin typeface="Arial"/>
              </a:rPr>
              <a:t>01</a:t>
            </a:r>
          </a:p>
        </p:txBody>
      </p:sp>
      <p:sp>
        <p:nvSpPr>
          <p:cNvPr id="5" name="TextBox 4"/>
          <p:cNvSpPr txBox="1"/>
          <p:nvPr/>
        </p:nvSpPr>
        <p:spPr>
          <a:xfrm>
            <a:off x="685800" y="1920240"/>
            <a:ext cx="10881360" cy="1097280"/>
          </a:xfrm>
          <a:prstGeom prst="rect">
            <a:avLst/>
          </a:prstGeom>
          <a:noFill/>
        </p:spPr>
        <p:txBody>
          <a:bodyPr wrap="square" anchor="t" lIns="54864" rIns="54864" tIns="54864" bIns="54864">
            <a:spAutoFit/>
          </a:bodyPr>
          <a:lstStyle/>
          <a:p>
            <a:pPr algn="l">
              <a:spcAft>
                <a:spcPts val="0"/>
              </a:spcAft>
            </a:pPr>
            <a:r>
              <a:rPr sz="3800" b="1">
                <a:solidFill>
                  <a:srgbClr val="FFFFFF"/>
                </a:solidFill>
                <a:latin typeface="Arial"/>
              </a:rPr>
              <a:t>GenAI for Visual Communication</a:t>
            </a:r>
          </a:p>
        </p:txBody>
      </p:sp>
      <p:sp>
        <p:nvSpPr>
          <p:cNvPr id="6" name="TextBox 5"/>
          <p:cNvSpPr txBox="1"/>
          <p:nvPr/>
        </p:nvSpPr>
        <p:spPr>
          <a:xfrm>
            <a:off x="713232" y="3246120"/>
            <a:ext cx="10241280" cy="777240"/>
          </a:xfrm>
          <a:prstGeom prst="rect">
            <a:avLst/>
          </a:prstGeom>
          <a:noFill/>
        </p:spPr>
        <p:txBody>
          <a:bodyPr wrap="square" anchor="t" lIns="54864" rIns="54864" tIns="54864" bIns="54864">
            <a:spAutoFit/>
          </a:bodyPr>
          <a:lstStyle/>
          <a:p>
            <a:pPr algn="l">
              <a:spcAft>
                <a:spcPts val="0"/>
              </a:spcAft>
            </a:pPr>
            <a:r>
              <a:rPr sz="1800" b="0">
                <a:solidFill>
                  <a:srgbClr val="C8CFDA"/>
                </a:solidFill>
                <a:latin typeface="Arial"/>
              </a:rPr>
              <a:t>Turn an audience need into an intentional, rights-aware visual direction.</a:t>
            </a:r>
          </a:p>
        </p:txBody>
      </p:sp>
      <p:sp>
        <p:nvSpPr>
          <p:cNvPr id="7" name="TextBox 6"/>
          <p:cNvSpPr txBox="1"/>
          <p:nvPr/>
        </p:nvSpPr>
        <p:spPr>
          <a:xfrm>
            <a:off x="713232" y="5349240"/>
            <a:ext cx="5943600" cy="320040"/>
          </a:xfrm>
          <a:prstGeom prst="rect">
            <a:avLst/>
          </a:prstGeom>
          <a:noFill/>
        </p:spPr>
        <p:txBody>
          <a:bodyPr wrap="square" anchor="t" lIns="54864" rIns="54864" tIns="54864" bIns="54864">
            <a:spAutoFit/>
          </a:bodyPr>
          <a:lstStyle/>
          <a:p>
            <a:pPr algn="l">
              <a:spcAft>
                <a:spcPts val="0"/>
              </a:spcAft>
            </a:pPr>
            <a:r>
              <a:rPr sz="1400" b="1">
                <a:solidFill>
                  <a:srgbClr val="00B8D9"/>
                </a:solidFill>
                <a:latin typeface="Arial"/>
              </a:rPr>
              <a:t>LO1 · K1 · K2 · A1 · A2</a:t>
            </a:r>
          </a:p>
        </p:txBody>
      </p:sp>
      <p:sp>
        <p:nvSpPr>
          <p:cNvPr id="8" name="TextBox 7"/>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D7DEE9"/>
                </a:solidFill>
                <a:latin typeface="Arial"/>
              </a:rPr>
              <a:t>Generative-AI-Visuals-in-Photoshop-and-Firefly  ·  TGS-2024045220</a:t>
            </a:r>
          </a:p>
        </p:txBody>
      </p:sp>
      <p:sp>
        <p:nvSpPr>
          <p:cNvPr id="9" name="TextBox 8"/>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D7DEE9"/>
                </a:solidFill>
                <a:latin typeface="Arial"/>
              </a:rPr>
              <a:t>© 2026 Tertiary Infotech Academy Pte Ltd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D7DEE9"/>
                </a:solidFill>
                <a:latin typeface="Arial"/>
              </a:rPr>
              <a:t>19</a:t>
            </a:r>
          </a:p>
        </p:txBody>
      </p:sp>
    </p:spTree>
  </p:cSld>
  <p:transition spd="med" advClick="1">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EDITABLE PROMPT-QUALITY CHART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Prompt Quality Is a System</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a:t>
            </a:r>
          </a:p>
        </p:txBody>
      </p:sp>
      <p:graphicFrame>
        <p:nvGraphicFramePr>
          <p:cNvPr id="11" name="Chart 10"/>
          <p:cNvGraphicFramePr>
            <a:graphicFrameLocks noGrp="1"/>
          </p:cNvGraphicFramePr>
          <p:nvPr/>
        </p:nvGraphicFramePr>
        <p:xfrm>
          <a:off x="749808" y="1783080"/>
          <a:ext cx="7360920" cy="4343400"/>
        </p:xfrm>
        <a:graphic>
          <a:graphicData uri="http://schemas.openxmlformats.org/drawingml/2006/chart">
            <c:chart xmlns:c="http://schemas.openxmlformats.org/drawingml/2006/chart" r:id="rId2"/>
          </a:graphicData>
        </a:graphic>
      </p:graphicFrame>
      <p:sp>
        <p:nvSpPr>
          <p:cNvPr id="12" name="Rounded Rectangle 11"/>
          <p:cNvSpPr/>
          <p:nvPr/>
        </p:nvSpPr>
        <p:spPr>
          <a:xfrm>
            <a:off x="8394192" y="1874519"/>
            <a:ext cx="297180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68512" y="2148840"/>
            <a:ext cx="2423160"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READ THE CHART</a:t>
            </a:r>
          </a:p>
        </p:txBody>
      </p:sp>
      <p:sp>
        <p:nvSpPr>
          <p:cNvPr id="14" name="TextBox 13"/>
          <p:cNvSpPr txBox="1"/>
          <p:nvPr/>
        </p:nvSpPr>
        <p:spPr>
          <a:xfrm>
            <a:off x="8668512" y="2770632"/>
            <a:ext cx="2423160" cy="2057400"/>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Illustrative review scores show that a vivid subject alone is insufficient; channel fit, composition, constraints and provenance complete the visual brief.</a:t>
            </a:r>
          </a:p>
        </p:txBody>
      </p:sp>
      <p:sp>
        <p:nvSpPr>
          <p:cNvPr id="15" name="TextBox 14"/>
          <p:cNvSpPr txBox="1"/>
          <p:nvPr/>
        </p:nvSpPr>
        <p:spPr>
          <a:xfrm>
            <a:off x="8668512" y="5074920"/>
            <a:ext cx="2423160" cy="256032"/>
          </a:xfrm>
          <a:prstGeom prst="rect">
            <a:avLst/>
          </a:prstGeom>
          <a:noFill/>
        </p:spPr>
        <p:txBody>
          <a:bodyPr wrap="square" anchor="t" lIns="54864" rIns="54864" tIns="54864" bIns="54864">
            <a:spAutoFit/>
          </a:bodyPr>
          <a:lstStyle/>
          <a:p>
            <a:pPr algn="l">
              <a:spcAft>
                <a:spcPts val="0"/>
              </a:spcAft>
            </a:pPr>
            <a:r>
              <a:rPr sz="900" b="0">
                <a:solidFill>
                  <a:srgbClr val="5B6372"/>
                </a:solidFill>
                <a:latin typeface="Arial"/>
              </a:rPr>
              <a:t>Editable native PowerPoint chart</a:t>
            </a:r>
          </a:p>
        </p:txBody>
      </p:sp>
    </p:spTree>
  </p:cSld>
  <p:transition spd="med" advClick="1">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01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Human-led GenAI Creative Loop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refly_a dog reading a book while sitting at a desk by candle light, while wearing glasses,  120801.jpg"/>
          <p:cNvPicPr>
            <a:picLocks noChangeAspect="1"/>
          </p:cNvPicPr>
          <p:nvPr/>
        </p:nvPicPr>
        <p:blipFill>
          <a:blip r:embed="rId2"/>
          <a:srcRect t="14301" b="14301"/>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human defines the brief, directs generation, selects evidence and remains accountable for publication.</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Fast exploration where intent and judgement matter more than raw variation count.</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decision log connects the selected visual to audience, purpose and acceptance criteria.</a:t>
            </a:r>
          </a:p>
        </p:txBody>
      </p:sp>
    </p:spTree>
  </p:cSld>
  <p:transition spd="med" advClick="1">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Human-led GenAI Creative Loop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Brief · prompt · variation · critique · edit · verify</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Automating the decision as well as the production.</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decision log connects the selected visual to audience, purpose and acceptance criteria.</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Human-led GenAI Creative Loop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Fast exploration where intent and judgement matter more than raw variation count.</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Brief · prompt · variation · critique · edit · verify</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Automating the decision as well as the production.</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decision log connects the selected visual to audience, purpose and acceptance criteria.</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Human-led GenAI Creative Loop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Brief</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variation</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critique</a:t>
            </a:r>
          </a:p>
        </p:txBody>
      </p:sp>
      <p:sp>
        <p:nvSpPr>
          <p:cNvPr id="25" name="Rounded Rectangle 24"/>
          <p:cNvSpPr/>
          <p:nvPr/>
        </p:nvSpPr>
        <p:spPr>
          <a:xfrm>
            <a:off x="896112" y="4855464"/>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edit</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human defines the brief, directs generation, selects evidence and remains accountable for publication.</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decision log connects the selected visual to audience, purpose and acceptance criteria.</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Human-led GenAI Creative Loop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Automating the decision as well as the production.</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Brief · prompt · variation · critique · edit · verify.</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decision log connects the selected visual to audience, purpose and acceptance criteria.</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02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GenAI Image Use Cases and Boundaries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erence.jpg"/>
          <p:cNvPicPr>
            <a:picLocks noChangeAspect="1"/>
          </p:cNvPicPr>
          <p:nvPr/>
        </p:nvPicPr>
        <p:blipFill>
          <a:blip r:embed="rId2"/>
          <a:srcRect t="4102" b="4102"/>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Generation, insertion, removal, expansion and translation solve different visual problems and carry different risks.</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Choosing an appropriate AI feature before opening a tool.</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The chosen feature and boundary are justified against the brief.</a:t>
            </a:r>
          </a:p>
        </p:txBody>
      </p:sp>
    </p:spTree>
  </p:cSld>
  <p:transition spd="med" advClick="1">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GenAI Image Use Cases and Boundaries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Task type · rights · sensitivity · required control · delivery channel</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Using generation where faithful documentation is required.</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The chosen feature and boundary are justified against the brief.</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GenAI Image Use Cases and Boundaries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Choosing an appropriate AI feature before opening a tool.</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Task type · rights · sensitivity · required control · delivery channel</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Using generation where faithful documentation is required.</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The chosen feature and boundary are justified against the brief.</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GenAI Image Use Cases and Boundaries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Task type</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rights</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sensitivity</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required control</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delivery channel</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Generation, insertion, removal, expansion and translation solve different visual problems and carry different risks.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The chosen feature and boundary are justified against the brief.</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GenAI Image Use Cases and Boundaries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Using generation where faithful documentation is required.</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Task type · rights · sensitivity · required control · delivery channel.</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The chosen feature and boundary are justified against the brief.</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CONCEPT 03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Prompt Anatomy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ummingbird.jpg"/>
          <p:cNvPicPr>
            <a:picLocks noChangeAspect="1"/>
          </p:cNvPicPr>
          <p:nvPr/>
        </p:nvPicPr>
        <p:blipFill>
          <a:blip r:embed="rId2"/>
          <a:srcRect l="19362" r="19362"/>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useful prompt combines subject, action, setting, visual treatment, composition and constraints.</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Creating a clear starting direction without over-prescribing every pixel.</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Prompt components can be traced to visible properties of the result.</a:t>
            </a:r>
          </a:p>
        </p:txBody>
      </p:sp>
    </p:spTree>
  </p:cSld>
  <p:transition spd="med" advClick="1">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Prompt Anatomy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Subject · action · setting · medium · lighting · camera · exclusions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Contradictory adjectives, vague subjects and accidental text instructions.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Prompt components can be traced to visible properties of the result.</a:t>
            </a:r>
          </a:p>
        </p:txBody>
      </p:sp>
      <p:sp>
        <p:nvSpPr>
          <p:cNvPr id="23" name="Rounded Rectangle 22"/>
          <p:cNvSpPr/>
          <p:nvPr/>
        </p:nvSpPr>
        <p:spPr>
          <a:xfrm>
            <a:off x="685800" y="5349240"/>
            <a:ext cx="10771632" cy="65836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Prompt Anatomy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Creating a clear starting direction without over-prescribing every pixel.</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Subject · action · setting · medium · lighting · camera · exclusions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Contradictory adjectives, vague subjects and accidental text instructions.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Prompt components can be traced to visible properties of the result.</a:t>
            </a:r>
          </a:p>
        </p:txBody>
      </p:sp>
      <p:sp>
        <p:nvSpPr>
          <p:cNvPr id="30" name="Rounded Rectangle 29"/>
          <p:cNvSpPr/>
          <p:nvPr/>
        </p:nvSpPr>
        <p:spPr>
          <a:xfrm>
            <a:off x="804672" y="5532120"/>
            <a:ext cx="10561320" cy="530352"/>
          </a:xfrm>
          <a:prstGeom prst="roundRect">
            <a:avLst/>
          </a:prstGeom>
          <a:solidFill>
            <a:srgbClr val="FFFFFF"/>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7C3AED"/>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Prompt Anatomy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Subject</a:t>
            </a:r>
          </a:p>
        </p:txBody>
      </p:sp>
      <p:sp>
        <p:nvSpPr>
          <p:cNvPr id="16" name="Rounded Rectangle 15"/>
          <p:cNvSpPr/>
          <p:nvPr/>
        </p:nvSpPr>
        <p:spPr>
          <a:xfrm>
            <a:off x="896112" y="3099816"/>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action</a:t>
            </a:r>
          </a:p>
        </p:txBody>
      </p:sp>
      <p:sp>
        <p:nvSpPr>
          <p:cNvPr id="19" name="Rounded Rectangle 18"/>
          <p:cNvSpPr/>
          <p:nvPr/>
        </p:nvSpPr>
        <p:spPr>
          <a:xfrm>
            <a:off x="896112" y="3685032"/>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setting</a:t>
            </a:r>
          </a:p>
        </p:txBody>
      </p:sp>
      <p:sp>
        <p:nvSpPr>
          <p:cNvPr id="22" name="Rounded Rectangle 21"/>
          <p:cNvSpPr/>
          <p:nvPr/>
        </p:nvSpPr>
        <p:spPr>
          <a:xfrm>
            <a:off x="896112" y="4270248"/>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medium</a:t>
            </a:r>
          </a:p>
        </p:txBody>
      </p:sp>
      <p:sp>
        <p:nvSpPr>
          <p:cNvPr id="25" name="Rounded Rectangle 24"/>
          <p:cNvSpPr/>
          <p:nvPr/>
        </p:nvSpPr>
        <p:spPr>
          <a:xfrm>
            <a:off x="896112" y="4855464"/>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lighting</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9A78"/>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useful prompt combines subject, action, setting, visual treatment, composition and constraints.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9A78"/>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Prompt components can be traced to visible properties of the result.</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Prompt Anatomy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Contradictory adjectives, vague subjects and accidental text instructions.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Subject · action · setting · medium · lighting · camera · exclusions.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Prompt components can be traced to visible properties of the result.</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98500"/>
                </a:solidFill>
                <a:latin typeface="Arial"/>
              </a:rPr>
              <a:t>Accept only when the defect is reduced and protected content remains intact.</a:t>
            </a:r>
          </a:p>
        </p:txBody>
      </p:sp>
    </p:spTree>
  </p:cSld>
  <p:transition spd="med" advClick="1">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CONCEPT 04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Prompt Iteration and Variation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dventure.jpg"/>
          <p:cNvPicPr>
            <a:picLocks noChangeAspect="1"/>
          </p:cNvPicPr>
          <p:nvPr/>
        </p:nvPicPr>
        <p:blipFill>
          <a:blip r:embed="rId2"/>
          <a:srcRect l="21824" r="21824"/>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Changing one prompt factor at a time makes cause and effect observable.</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Converging from a broad direction to a defensible final candidate.</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contact sheet shows at least three labelled iterations and the selection reason.</a:t>
            </a:r>
          </a:p>
        </p:txBody>
      </p:sp>
    </p:spTree>
  </p:cSld>
  <p:transition spd="med" advClick="1">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Prompt Iteration and Variation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Baseline · single-variable change · seed/variation · comparison notes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Changing model, prompt, style and composition simultaneously.</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contact sheet shows at least three labelled iterations and the selection reason.</a:t>
            </a:r>
          </a:p>
        </p:txBody>
      </p:sp>
      <p:sp>
        <p:nvSpPr>
          <p:cNvPr id="23" name="Rounded Rectangle 22"/>
          <p:cNvSpPr/>
          <p:nvPr/>
        </p:nvSpPr>
        <p:spPr>
          <a:xfrm>
            <a:off x="685800" y="5349240"/>
            <a:ext cx="10771632" cy="65836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Prompt Iteration and Variation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Converging from a broad direction to a defensible final candidate.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Baseline · single-variable change · seed/variation · comparison notes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Changing model, prompt, style and composition simultaneously.</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contact sheet shows at least three labelled iterations and the selection reason.</a:t>
            </a:r>
          </a:p>
        </p:txBody>
      </p:sp>
      <p:sp>
        <p:nvSpPr>
          <p:cNvPr id="30" name="Rounded Rectangle 29"/>
          <p:cNvSpPr/>
          <p:nvPr/>
        </p:nvSpPr>
        <p:spPr>
          <a:xfrm>
            <a:off x="804672" y="5532120"/>
            <a:ext cx="10561320" cy="530352"/>
          </a:xfrm>
          <a:prstGeom prst="roundRect">
            <a:avLst/>
          </a:prstGeom>
          <a:solidFill>
            <a:srgbClr val="FFFFFF"/>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9A78"/>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Prompt Iteration and Variation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39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Baseline</a:t>
            </a:r>
          </a:p>
        </p:txBody>
      </p:sp>
      <p:sp>
        <p:nvSpPr>
          <p:cNvPr id="16" name="Rounded Rectangle 15"/>
          <p:cNvSpPr/>
          <p:nvPr/>
        </p:nvSpPr>
        <p:spPr>
          <a:xfrm>
            <a:off x="896112" y="3099816"/>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single-variable change</a:t>
            </a:r>
          </a:p>
        </p:txBody>
      </p:sp>
      <p:sp>
        <p:nvSpPr>
          <p:cNvPr id="19" name="Rounded Rectangle 18"/>
          <p:cNvSpPr/>
          <p:nvPr/>
        </p:nvSpPr>
        <p:spPr>
          <a:xfrm>
            <a:off x="896112" y="3685032"/>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seed/variation</a:t>
            </a:r>
          </a:p>
        </p:txBody>
      </p:sp>
      <p:sp>
        <p:nvSpPr>
          <p:cNvPr id="22" name="Rounded Rectangle 21"/>
          <p:cNvSpPr/>
          <p:nvPr/>
        </p:nvSpPr>
        <p:spPr>
          <a:xfrm>
            <a:off x="896112" y="4270248"/>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comparison notes</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98500"/>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Changing one prompt factor at a time makes cause and effect observable.</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98500"/>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contact sheet shows at least three labelled iterations and the selection reason.</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Prompt Iteration and Variation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Changing model, prompt, style and composition simultaneously.</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Baseline · single-variable change · seed/variation · comparison notes.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contact sheet shows at least three labelled iterations and the selection reason.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224AF4"/>
                </a:solidFill>
                <a:latin typeface="Arial"/>
              </a:rPr>
              <a:t>Accept only when the defect is reduced and protected content remains intact.</a:t>
            </a:r>
          </a:p>
        </p:txBody>
      </p:sp>
    </p:spTree>
  </p:cSld>
  <p:transition spd="med" advClick="1">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CONCEPT 05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Visual Hierarchy and Emphasis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refly_a robot dancing at a party 830052.jpg"/>
          <p:cNvPicPr>
            <a:picLocks noChangeAspect="1"/>
          </p:cNvPicPr>
          <p:nvPr/>
        </p:nvPicPr>
        <p:blipFill>
          <a:blip r:embed="rId2"/>
          <a:srcRect l="7636" r="7636"/>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Scale, contrast, position, isolation and detail establish what viewers notice first.</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Campaign visuals that need a clear focal point and reading order.</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squint test and thumbnail view preserve the intended reading order.</a:t>
            </a:r>
          </a:p>
        </p:txBody>
      </p:sp>
    </p:spTree>
  </p:cSld>
  <p:transition spd="med" advClick="1">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Visual Hierarchy and Emphasis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Primary focal point · secondary cue · supporting detail · CTA space</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Competing focal points or an empty area that cannot hold useful copy.</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squint test and thumbnail view preserve the intended reading order.</a:t>
            </a:r>
          </a:p>
        </p:txBody>
      </p:sp>
      <p:sp>
        <p:nvSpPr>
          <p:cNvPr id="23" name="Rounded Rectangle 22"/>
          <p:cNvSpPr/>
          <p:nvPr/>
        </p:nvSpPr>
        <p:spPr>
          <a:xfrm>
            <a:off x="685800" y="5349240"/>
            <a:ext cx="10771632" cy="65836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Visual Hierarchy and Emphasis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Campaign visuals that need a clear focal point and reading order.</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Primary focal point · secondary cue · supporting detail · CTA space</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Competing focal points or an empty area that cannot hold useful copy.</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squint test and thumbnail view preserve the intended reading order.</a:t>
            </a:r>
          </a:p>
        </p:txBody>
      </p:sp>
      <p:sp>
        <p:nvSpPr>
          <p:cNvPr id="30" name="Rounded Rectangle 29"/>
          <p:cNvSpPr/>
          <p:nvPr/>
        </p:nvSpPr>
        <p:spPr>
          <a:xfrm>
            <a:off x="804672" y="5532120"/>
            <a:ext cx="10561320" cy="530352"/>
          </a:xfrm>
          <a:prstGeom prst="roundRect">
            <a:avLst/>
          </a:prstGeom>
          <a:solidFill>
            <a:srgbClr val="FFFFFF"/>
          </a:solidFill>
          <a:ln>
            <a:solidFill>
              <a:srgbClr val="E98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98500"/>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Visual Hierarchy and Emphasis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Primary focal point</a:t>
            </a:r>
          </a:p>
        </p:txBody>
      </p:sp>
      <p:sp>
        <p:nvSpPr>
          <p:cNvPr id="16" name="Rounded Rectangle 15"/>
          <p:cNvSpPr/>
          <p:nvPr/>
        </p:nvSpPr>
        <p:spPr>
          <a:xfrm>
            <a:off x="896112" y="3099816"/>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secondary cue</a:t>
            </a:r>
          </a:p>
        </p:txBody>
      </p:sp>
      <p:sp>
        <p:nvSpPr>
          <p:cNvPr id="19" name="Rounded Rectangle 18"/>
          <p:cNvSpPr/>
          <p:nvPr/>
        </p:nvSpPr>
        <p:spPr>
          <a:xfrm>
            <a:off x="896112" y="3685032"/>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supporting detail</a:t>
            </a:r>
          </a:p>
        </p:txBody>
      </p:sp>
      <p:sp>
        <p:nvSpPr>
          <p:cNvPr id="22" name="Rounded Rectangle 21"/>
          <p:cNvSpPr/>
          <p:nvPr/>
        </p:nvSpPr>
        <p:spPr>
          <a:xfrm>
            <a:off x="896112" y="4270248"/>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CTA space</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224AF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Scale, contrast, position, isolation and detail establish what viewers notice first.</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224AF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squint test and thumbnail view preserve the intended reading order.</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Visual Hierarchy and Emphasis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Competing focal points or an empty area that cannot hold useful copy.</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Primary focal point · secondary cue · supporting detail · CTA space.</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squint test and thumbnail view preserve the intended reading order.</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B8D9"/>
                </a:solidFill>
                <a:latin typeface="Arial"/>
              </a:rPr>
              <a:t>Accept only when the defect is reduced and protected content remains intact.</a:t>
            </a:r>
          </a:p>
        </p:txBody>
      </p:sp>
    </p:spTree>
  </p:cSld>
  <p:transition spd="med" advClick="1">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CONCEPT 06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Scale, Balance and Alignment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ark bench.jpg"/>
          <p:cNvPicPr>
            <a:picLocks noChangeAspect="1"/>
          </p:cNvPicPr>
          <p:nvPr/>
        </p:nvPicPr>
        <p:blipFill>
          <a:blip r:embed="rId2"/>
          <a:srcRect t="12985" b="12985"/>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Relative size signals importance; visual mass and common edges stabilise the composition.</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Combining generated imagery with typography or brand elements.</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Guides and a reduced-size review confirm balance across the frame.</a:t>
            </a:r>
          </a:p>
        </p:txBody>
      </p:sp>
    </p:spTree>
  </p:cSld>
  <p:transition spd="med" advClick="1">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Scale, Balance and Alignment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Scale ratio · visual weight · grid · edge alignment · safe area</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Centred-by-default layouts or tangencies that feel accidental.</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Guides and a reduced-size review confirm balance across the frame.</a:t>
            </a:r>
          </a:p>
        </p:txBody>
      </p:sp>
      <p:sp>
        <p:nvSpPr>
          <p:cNvPr id="23" name="Rounded Rectangle 22"/>
          <p:cNvSpPr/>
          <p:nvPr/>
        </p:nvSpPr>
        <p:spPr>
          <a:xfrm>
            <a:off x="685800" y="5349240"/>
            <a:ext cx="10771632" cy="65836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Scale, Balance and Alignment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Combining generated imagery with typography or brand elements.</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Scale ratio · visual weight · grid · edge alignment · safe area</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Centred-by-default layouts or tangencies that feel accidental.</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Guides and a reduced-size review confirm balance across the frame.</a:t>
            </a:r>
          </a:p>
        </p:txBody>
      </p:sp>
      <p:sp>
        <p:nvSpPr>
          <p:cNvPr id="30" name="Rounded Rectangle 29"/>
          <p:cNvSpPr/>
          <p:nvPr/>
        </p:nvSpPr>
        <p:spPr>
          <a:xfrm>
            <a:off x="804672" y="5532120"/>
            <a:ext cx="10561320" cy="530352"/>
          </a:xfrm>
          <a:prstGeom prst="roundRect">
            <a:avLst/>
          </a:prstGeom>
          <a:solidFill>
            <a:srgbClr val="FFFFFF"/>
          </a:solidFill>
          <a:ln>
            <a:solidFill>
              <a:srgbClr val="224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224AF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Scale, Balance and Alignment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49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Scale ratio</a:t>
            </a:r>
          </a:p>
        </p:txBody>
      </p:sp>
      <p:sp>
        <p:nvSpPr>
          <p:cNvPr id="16" name="Rounded Rectangle 15"/>
          <p:cNvSpPr/>
          <p:nvPr/>
        </p:nvSpPr>
        <p:spPr>
          <a:xfrm>
            <a:off x="896112" y="3099816"/>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visual weight</a:t>
            </a:r>
          </a:p>
        </p:txBody>
      </p:sp>
      <p:sp>
        <p:nvSpPr>
          <p:cNvPr id="19" name="Rounded Rectangle 18"/>
          <p:cNvSpPr/>
          <p:nvPr/>
        </p:nvSpPr>
        <p:spPr>
          <a:xfrm>
            <a:off x="896112" y="3685032"/>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grid</a:t>
            </a:r>
          </a:p>
        </p:txBody>
      </p:sp>
      <p:sp>
        <p:nvSpPr>
          <p:cNvPr id="22" name="Rounded Rectangle 21"/>
          <p:cNvSpPr/>
          <p:nvPr/>
        </p:nvSpPr>
        <p:spPr>
          <a:xfrm>
            <a:off x="896112" y="4270248"/>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edge alignment</a:t>
            </a:r>
          </a:p>
        </p:txBody>
      </p:sp>
      <p:sp>
        <p:nvSpPr>
          <p:cNvPr id="25" name="Rounded Rectangle 24"/>
          <p:cNvSpPr/>
          <p:nvPr/>
        </p:nvSpPr>
        <p:spPr>
          <a:xfrm>
            <a:off x="896112" y="4855464"/>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safe area</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B8D9"/>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Relative size signals importance; visual mass and common edges stabilise the composition.</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B8D9"/>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Guides and a reduced-size review confirm balance across the frame.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Scale, Balance and Alignment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Centred-by-default layouts or tangencies that feel accidental.</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Scale ratio · visual weight · grid · edge alignment · safe area.</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Guides and a reduced-size review confirm balance across the frame.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11D74"/>
                </a:solidFill>
                <a:latin typeface="Arial"/>
              </a:rPr>
              <a:t>Accept only when the defect is reduced and protected content remains intact.</a:t>
            </a:r>
          </a:p>
        </p:txBody>
      </p:sp>
    </p:spTree>
  </p:cSld>
  <p:transition spd="med" advClick="1">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07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Contrast, Repetition and Negative Space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andscape-start.jpeg"/>
          <p:cNvPicPr>
            <a:picLocks noChangeAspect="1"/>
          </p:cNvPicPr>
          <p:nvPr/>
        </p:nvPicPr>
        <p:blipFill>
          <a:blip r:embed="rId2"/>
          <a:srcRect l="19474" r="19474"/>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Contrast separates roles, repetition creates coherence and negative space gives the message room to breathe.</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Social tiles, posters and storyboard frames that must scan quickly.</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Grayscale and thumbnail checks confirm separation and rhythm.</a:t>
            </a:r>
          </a:p>
        </p:txBody>
      </p:sp>
    </p:spTree>
  </p:cSld>
  <p:transition spd="med" advClick="1">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Contrast, Repetition and Negative Space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Value contrast · colour contrast · repeated motif · breathing room</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Decorative repetition that overwhelms the subject.</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Grayscale and thumbnail checks confirm separation and rhythm.</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Contrast, Repetition and Negative Space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Social tiles, posters and storyboard frames that must scan quickly.</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Value contrast · colour contrast · repeated motif · breathing room</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Decorative repetition that overwhelms the subject.</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Grayscale and thumbnail checks confirm separation and rhythm.</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Contrast, Repetition and Negative Space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Value contrast</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colour contrast</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repeated motif</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breathing room</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Contrast separates roles, repetition creates coherence and negative space gives the message room to breathe.</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Grayscale and thumbnail checks confirm separation and rhythm.</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Contrast, Repetition and Negative Space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Decorative repetition that overwhelms the subject.</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Value contrast · colour contrast · repeated motif · breathing room.</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Grayscale and thumbnail checks confirm separation and rhythm.</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08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Audience, Story and Responsible Provenance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erence.jpeg"/>
          <p:cNvPicPr>
            <a:picLocks noChangeAspect="1"/>
          </p:cNvPicPr>
          <p:nvPr/>
        </p:nvPicPr>
        <p:blipFill>
          <a:blip r:embed="rId2"/>
          <a:srcRect l="6639" r="6639"/>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visual is credible when its message fits the audience and its source, prompts and edits remain explainable.</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Commercial, organisational and public-facing visual communication.</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provenance note accompanies the editable master and export.</a:t>
            </a:r>
          </a:p>
        </p:txBody>
      </p:sp>
    </p:spTree>
  </p:cSld>
  <p:transition spd="med" advClick="1">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Audience, Story and Responsible Provenance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Audience need · claim risk · asset rights · prompt log · Content Credentials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Misleading realism, unlicensed references or unsupported claims.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provenance note accompanies the editable master and export.</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Audience, Story and Responsible Provenance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Commercial, organisational and public-facing visual communication.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Audience need · claim risk · asset rights · prompt log · Content Credentials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Misleading realism, unlicensed references or unsupported claims.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provenance note accompanies the editable master and export.</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Audience, Story and Responsible Provenance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59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Audience need</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claim risk</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asset rights</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 log</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Content Credentials</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visual is credible when its message fits the audience and its source, prompts and edits remain explainable.</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provenance note accompanies the editable master and export.</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Diagnostic · Audience, Story and Responsible Provenance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Misleading realism, unlicensed references or unsupported claims.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Audience need · claim risk · asset rights · prompt log · Content Credentials.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provenance note accompanies the editable master and export.</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1</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01 · Prompt-to-Image Visual Brief</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61</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refly_a dog reading a book while sitting at a desk by candle light, while wearing glasses,  120801.jpg"/>
          <p:cNvPicPr>
            <a:picLocks noChangeAspect="1"/>
          </p:cNvPicPr>
          <p:nvPr/>
        </p:nvPicPr>
        <p:blipFill>
          <a:blip r:embed="rId2"/>
          <a:srcRect t="19402" b="19402"/>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reading campaign needs an imaginative hero image with clear copy space for a social tile.</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Translate an audience brief into a controlled Firefly prompt set and selected visual direction.</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Three prompt/result records, selected JPEG and decision log identifying A1 exploration and A2 integration decisions.</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01</a:t>
            </a:r>
          </a:p>
        </p:txBody>
      </p:sp>
    </p:spTree>
  </p:cSld>
  <p:transition spd="med" advClick="1">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1</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02 · Design Principles and Prompt Refinement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62</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erence.jpg"/>
          <p:cNvPicPr>
            <a:picLocks noChangeAspect="1"/>
          </p:cNvPicPr>
          <p:nvPr/>
        </p:nvPicPr>
        <p:blipFill>
          <a:blip r:embed="rId2"/>
          <a:srcRect t="10660" b="10660"/>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creative studio wants a poster-ready yarn-art visual with one strong headline zone.</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Use Photoshop layout evidence to refine a generated visual against hierarchy, balance and contrast criteria.</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PSD, exported JPEG and a short comparison note covering K1/K2 design principles.</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02</a:t>
            </a:r>
          </a:p>
        </p:txBody>
      </p:sp>
    </p:spTree>
  </p:cSld>
  <p:transition spd="med" advClick="1">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EXPLAIN THE DECISION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Topic 1 Checkpoint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63</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Purpose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does the audience need to notice?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Method</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Why does this technique fit the content and edge?</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Control</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setting most changes the outcome?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Failure</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defect would make the result unacceptable?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Proof</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view and evidence demonstrate quality?</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Next</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controlled variation would improve the result?</a:t>
            </a:r>
          </a:p>
        </p:txBody>
      </p:sp>
    </p:spTree>
  </p:cSld>
  <p:transition spd="med" advClick="1">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02920"/>
            <a:ext cx="1143000" cy="1143000"/>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04672"/>
            <a:ext cx="1143000" cy="320040"/>
          </a:xfrm>
          <a:prstGeom prst="rect">
            <a:avLst/>
          </a:prstGeom>
          <a:noFill/>
        </p:spPr>
        <p:txBody>
          <a:bodyPr wrap="square" anchor="t" lIns="54864" rIns="54864" tIns="54864" bIns="54864">
            <a:spAutoFit/>
          </a:bodyPr>
          <a:lstStyle/>
          <a:p>
            <a:pPr algn="ctr">
              <a:spcAft>
                <a:spcPts val="0"/>
              </a:spcAft>
            </a:pPr>
            <a:r>
              <a:rPr sz="2200" b="1">
                <a:solidFill>
                  <a:srgbClr val="FFFFFF"/>
                </a:solidFill>
                <a:latin typeface="Arial"/>
              </a:rPr>
              <a:t>02</a:t>
            </a:r>
          </a:p>
        </p:txBody>
      </p:sp>
      <p:sp>
        <p:nvSpPr>
          <p:cNvPr id="5" name="TextBox 4"/>
          <p:cNvSpPr txBox="1"/>
          <p:nvPr/>
        </p:nvSpPr>
        <p:spPr>
          <a:xfrm>
            <a:off x="685800" y="1920240"/>
            <a:ext cx="10881360" cy="1097280"/>
          </a:xfrm>
          <a:prstGeom prst="rect">
            <a:avLst/>
          </a:prstGeom>
          <a:noFill/>
        </p:spPr>
        <p:txBody>
          <a:bodyPr wrap="square" anchor="t" lIns="54864" rIns="54864" tIns="54864" bIns="54864">
            <a:spAutoFit/>
          </a:bodyPr>
          <a:lstStyle/>
          <a:p>
            <a:pPr algn="l">
              <a:spcAft>
                <a:spcPts val="0"/>
              </a:spcAft>
            </a:pPr>
            <a:r>
              <a:rPr sz="3800" b="1">
                <a:solidFill>
                  <a:srgbClr val="FFFFFF"/>
                </a:solidFill>
                <a:latin typeface="Arial"/>
              </a:rPr>
              <a:t>Firefly Storyboards and Reference Control</a:t>
            </a:r>
          </a:p>
        </p:txBody>
      </p:sp>
      <p:sp>
        <p:nvSpPr>
          <p:cNvPr id="6" name="TextBox 5"/>
          <p:cNvSpPr txBox="1"/>
          <p:nvPr/>
        </p:nvSpPr>
        <p:spPr>
          <a:xfrm>
            <a:off x="713232" y="3246120"/>
            <a:ext cx="10241280" cy="777240"/>
          </a:xfrm>
          <a:prstGeom prst="rect">
            <a:avLst/>
          </a:prstGeom>
          <a:noFill/>
        </p:spPr>
        <p:txBody>
          <a:bodyPr wrap="square" anchor="t" lIns="54864" rIns="54864" tIns="54864" bIns="54864">
            <a:spAutoFit/>
          </a:bodyPr>
          <a:lstStyle/>
          <a:p>
            <a:pPr algn="l">
              <a:spcAft>
                <a:spcPts val="0"/>
              </a:spcAft>
            </a:pPr>
            <a:r>
              <a:rPr sz="1800" b="0">
                <a:solidFill>
                  <a:srgbClr val="C8CFDA"/>
                </a:solidFill>
                <a:latin typeface="Arial"/>
              </a:rPr>
              <a:t>Control composition and style, then organise variations into a communicable flow.</a:t>
            </a:r>
          </a:p>
        </p:txBody>
      </p:sp>
      <p:sp>
        <p:nvSpPr>
          <p:cNvPr id="7" name="TextBox 6"/>
          <p:cNvSpPr txBox="1"/>
          <p:nvPr/>
        </p:nvSpPr>
        <p:spPr>
          <a:xfrm>
            <a:off x="713232" y="5349240"/>
            <a:ext cx="5943600" cy="320040"/>
          </a:xfrm>
          <a:prstGeom prst="rect">
            <a:avLst/>
          </a:prstGeom>
          <a:noFill/>
        </p:spPr>
        <p:txBody>
          <a:bodyPr wrap="square" anchor="t" lIns="54864" rIns="54864" tIns="54864" bIns="54864">
            <a:spAutoFit/>
          </a:bodyPr>
          <a:lstStyle/>
          <a:p>
            <a:pPr algn="l">
              <a:spcAft>
                <a:spcPts val="0"/>
              </a:spcAft>
            </a:pPr>
            <a:r>
              <a:rPr sz="1400" b="1">
                <a:solidFill>
                  <a:srgbClr val="00B8D9"/>
                </a:solidFill>
                <a:latin typeface="Arial"/>
              </a:rPr>
              <a:t>LO2 · K3 · A3</a:t>
            </a:r>
          </a:p>
        </p:txBody>
      </p:sp>
      <p:sp>
        <p:nvSpPr>
          <p:cNvPr id="8" name="TextBox 7"/>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D7DEE9"/>
                </a:solidFill>
                <a:latin typeface="Arial"/>
              </a:rPr>
              <a:t>Generative-AI-Visuals-in-Photoshop-and-Firefly  ·  TGS-2024045220</a:t>
            </a:r>
          </a:p>
        </p:txBody>
      </p:sp>
      <p:sp>
        <p:nvSpPr>
          <p:cNvPr id="9" name="TextBox 8"/>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D7DEE9"/>
                </a:solidFill>
                <a:latin typeface="Arial"/>
              </a:rPr>
              <a:t>© 2026 Tertiary Infotech Academy Pte Ltd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D7DEE9"/>
                </a:solidFill>
                <a:latin typeface="Arial"/>
              </a:rPr>
              <a:t>64</a:t>
            </a:r>
          </a:p>
        </p:txBody>
      </p:sp>
    </p:spTree>
  </p:cSld>
  <p:transition spd="med" advClick="1">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ILLUSTRATIVE DECISION RATINGS · 1–5</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Reference-control Decision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65</a:t>
            </a:r>
          </a:p>
        </p:txBody>
      </p:sp>
      <p:graphicFrame>
        <p:nvGraphicFramePr>
          <p:cNvPr id="11" name="Chart 10"/>
          <p:cNvGraphicFramePr>
            <a:graphicFrameLocks noGrp="1"/>
          </p:cNvGraphicFramePr>
          <p:nvPr/>
        </p:nvGraphicFramePr>
        <p:xfrm>
          <a:off x="749808" y="1783080"/>
          <a:ext cx="7360920" cy="4343400"/>
        </p:xfrm>
        <a:graphic>
          <a:graphicData uri="http://schemas.openxmlformats.org/drawingml/2006/chart">
            <c:chart xmlns:c="http://schemas.openxmlformats.org/drawingml/2006/chart" r:id="rId2"/>
          </a:graphicData>
        </a:graphic>
      </p:graphicFrame>
      <p:sp>
        <p:nvSpPr>
          <p:cNvPr id="12" name="Rounded Rectangle 11"/>
          <p:cNvSpPr/>
          <p:nvPr/>
        </p:nvSpPr>
        <p:spPr>
          <a:xfrm>
            <a:off x="8394192" y="1874519"/>
            <a:ext cx="297180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68512" y="2148840"/>
            <a:ext cx="2423160"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READ THE CHART</a:t>
            </a:r>
          </a:p>
        </p:txBody>
      </p:sp>
      <p:sp>
        <p:nvSpPr>
          <p:cNvPr id="14" name="TextBox 13"/>
          <p:cNvSpPr txBox="1"/>
          <p:nvPr/>
        </p:nvSpPr>
        <p:spPr>
          <a:xfrm>
            <a:off x="8668512" y="2770632"/>
            <a:ext cx="2423160" cy="2057400"/>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Illustrative decision ratings (1–5): composition and style references solve different control problems. Combine them only after isolating each influence.</a:t>
            </a:r>
          </a:p>
        </p:txBody>
      </p:sp>
      <p:sp>
        <p:nvSpPr>
          <p:cNvPr id="15" name="TextBox 14"/>
          <p:cNvSpPr txBox="1"/>
          <p:nvPr/>
        </p:nvSpPr>
        <p:spPr>
          <a:xfrm>
            <a:off x="8668512" y="5074920"/>
            <a:ext cx="2423160" cy="256032"/>
          </a:xfrm>
          <a:prstGeom prst="rect">
            <a:avLst/>
          </a:prstGeom>
          <a:noFill/>
        </p:spPr>
        <p:txBody>
          <a:bodyPr wrap="square" anchor="t" lIns="54864" rIns="54864" tIns="54864" bIns="54864">
            <a:spAutoFit/>
          </a:bodyPr>
          <a:lstStyle/>
          <a:p>
            <a:pPr algn="l">
              <a:spcAft>
                <a:spcPts val="0"/>
              </a:spcAft>
            </a:pPr>
            <a:r>
              <a:rPr sz="900" b="0">
                <a:solidFill>
                  <a:srgbClr val="5B6372"/>
                </a:solidFill>
                <a:latin typeface="Arial"/>
              </a:rPr>
              <a:t>Editable native PowerPoint chart</a:t>
            </a:r>
          </a:p>
        </p:txBody>
      </p:sp>
    </p:spTree>
  </p:cSld>
  <p:transition spd="med" advClick="1">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CONCEPT 09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Choosing a Firefly Image Model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66</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jpeg"/>
          <p:cNvPicPr>
            <a:picLocks noChangeAspect="1"/>
          </p:cNvPicPr>
          <p:nvPr/>
        </p:nvPicPr>
        <p:blipFill>
          <a:blip r:embed="rId2"/>
          <a:srcRect l="13640" r="13640"/>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Firefly models offer different balances of speed, realism, prompt interpretation and control.</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Matching generation quality and latency to the storyboard purpose.</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The selected model is recorded with a visible comparison or reason.</a:t>
            </a:r>
          </a:p>
        </p:txBody>
      </p:sp>
    </p:spTree>
  </p:cSld>
  <p:transition spd="med" advClick="1">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Choosing a Firefly Image Model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Current model · output intent · speed · detail · available controls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Assuming the newest model behaves identically to an older one.</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The selected model is recorded with a visible comparison or reason.</a:t>
            </a:r>
          </a:p>
        </p:txBody>
      </p:sp>
      <p:sp>
        <p:nvSpPr>
          <p:cNvPr id="23" name="Rounded Rectangle 22"/>
          <p:cNvSpPr/>
          <p:nvPr/>
        </p:nvSpPr>
        <p:spPr>
          <a:xfrm>
            <a:off x="685800" y="5349240"/>
            <a:ext cx="10771632" cy="65836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Choosing a Firefly Image Model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Matching generation quality and latency to the storyboard purpose.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Current model · output intent · speed · detail · available controls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Assuming the newest model behaves identically to an older one.</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The selected model is recorded with a visible comparison or reason.</a:t>
            </a:r>
          </a:p>
        </p:txBody>
      </p:sp>
      <p:sp>
        <p:nvSpPr>
          <p:cNvPr id="30" name="Rounded Rectangle 29"/>
          <p:cNvSpPr/>
          <p:nvPr/>
        </p:nvSpPr>
        <p:spPr>
          <a:xfrm>
            <a:off x="804672" y="5532120"/>
            <a:ext cx="10561320" cy="530352"/>
          </a:xfrm>
          <a:prstGeom prst="roundRect">
            <a:avLst/>
          </a:prstGeom>
          <a:solidFill>
            <a:srgbClr val="FFFFFF"/>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7C3AED"/>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Choosing a Firefly Image Model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69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Current model</a:t>
            </a:r>
          </a:p>
        </p:txBody>
      </p:sp>
      <p:sp>
        <p:nvSpPr>
          <p:cNvPr id="16" name="Rounded Rectangle 15"/>
          <p:cNvSpPr/>
          <p:nvPr/>
        </p:nvSpPr>
        <p:spPr>
          <a:xfrm>
            <a:off x="896112" y="3099816"/>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output intent</a:t>
            </a:r>
          </a:p>
        </p:txBody>
      </p:sp>
      <p:sp>
        <p:nvSpPr>
          <p:cNvPr id="19" name="Rounded Rectangle 18"/>
          <p:cNvSpPr/>
          <p:nvPr/>
        </p:nvSpPr>
        <p:spPr>
          <a:xfrm>
            <a:off x="896112" y="3685032"/>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speed</a:t>
            </a:r>
          </a:p>
        </p:txBody>
      </p:sp>
      <p:sp>
        <p:nvSpPr>
          <p:cNvPr id="22" name="Rounded Rectangle 21"/>
          <p:cNvSpPr/>
          <p:nvPr/>
        </p:nvSpPr>
        <p:spPr>
          <a:xfrm>
            <a:off x="896112" y="4270248"/>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detail</a:t>
            </a:r>
          </a:p>
        </p:txBody>
      </p:sp>
      <p:sp>
        <p:nvSpPr>
          <p:cNvPr id="25" name="Rounded Rectangle 24"/>
          <p:cNvSpPr/>
          <p:nvPr/>
        </p:nvSpPr>
        <p:spPr>
          <a:xfrm>
            <a:off x="896112" y="4855464"/>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available controls</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9A78"/>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Firefly models offer different balances of speed, realism, prompt interpretation and control.</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9A78"/>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The selected model is recorded with a visible comparison or reason.</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Choosing a Firefly Image Model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Assuming the newest model behaves identically to an older one.</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Current model · output intent · speed · detail · available controls.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The selected model is recorded with a visible comparison or reason.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98500"/>
                </a:solidFill>
                <a:latin typeface="Arial"/>
              </a:rPr>
              <a:t>Accept only when the defect is reduced and protected content remains intact.</a:t>
            </a:r>
          </a:p>
        </p:txBody>
      </p:sp>
    </p:spTree>
  </p:cSld>
  <p:transition spd="med" advClick="1">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CONCEPT 10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Content Type and Visual Intensity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71</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P - Generative AI (GenAI).jpg"/>
          <p:cNvPicPr>
            <a:picLocks noChangeAspect="1"/>
          </p:cNvPicPr>
          <p:nvPr/>
        </p:nvPicPr>
        <p:blipFill>
          <a:blip r:embed="rId2"/>
          <a:srcRect l="6426" r="6426"/>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Content type steers photo/illustration behaviour while visual intensity adjusts how strongly styling affects the result.</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Moving between documentary-looking and illustrative storyboard frames.</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Two controlled variants demonstrate the effect of the setting.</a:t>
            </a:r>
          </a:p>
        </p:txBody>
      </p:sp>
    </p:spTree>
  </p:cSld>
  <p:transition spd="med" advClick="1">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Content Type and Visual Intensity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Photo/art · auto mode · visual intensity · effects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Treating intensity as a substitute for a clear prompt.</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Two controlled variants demonstrate the effect of the setting.</a:t>
            </a:r>
          </a:p>
        </p:txBody>
      </p:sp>
      <p:sp>
        <p:nvSpPr>
          <p:cNvPr id="23" name="Rounded Rectangle 22"/>
          <p:cNvSpPr/>
          <p:nvPr/>
        </p:nvSpPr>
        <p:spPr>
          <a:xfrm>
            <a:off x="685800" y="5349240"/>
            <a:ext cx="10771632" cy="65836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Content Type and Visual Intensity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Moving between documentary-looking and illustrative storyboard frames.</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Photo/art · auto mode · visual intensity · effects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Treating intensity as a substitute for a clear prompt.</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Two controlled variants demonstrate the effect of the setting.</a:t>
            </a:r>
          </a:p>
        </p:txBody>
      </p:sp>
      <p:sp>
        <p:nvSpPr>
          <p:cNvPr id="30" name="Rounded Rectangle 29"/>
          <p:cNvSpPr/>
          <p:nvPr/>
        </p:nvSpPr>
        <p:spPr>
          <a:xfrm>
            <a:off x="804672" y="5532120"/>
            <a:ext cx="10561320" cy="530352"/>
          </a:xfrm>
          <a:prstGeom prst="roundRect">
            <a:avLst/>
          </a:prstGeom>
          <a:solidFill>
            <a:srgbClr val="FFFFFF"/>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9A78"/>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Content Type and Visual Intensity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Photo/art</a:t>
            </a:r>
          </a:p>
        </p:txBody>
      </p:sp>
      <p:sp>
        <p:nvSpPr>
          <p:cNvPr id="16" name="Rounded Rectangle 15"/>
          <p:cNvSpPr/>
          <p:nvPr/>
        </p:nvSpPr>
        <p:spPr>
          <a:xfrm>
            <a:off x="896112" y="3099816"/>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auto mode</a:t>
            </a:r>
          </a:p>
        </p:txBody>
      </p:sp>
      <p:sp>
        <p:nvSpPr>
          <p:cNvPr id="19" name="Rounded Rectangle 18"/>
          <p:cNvSpPr/>
          <p:nvPr/>
        </p:nvSpPr>
        <p:spPr>
          <a:xfrm>
            <a:off x="896112" y="3685032"/>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visual intensity</a:t>
            </a:r>
          </a:p>
        </p:txBody>
      </p:sp>
      <p:sp>
        <p:nvSpPr>
          <p:cNvPr id="22" name="Rounded Rectangle 21"/>
          <p:cNvSpPr/>
          <p:nvPr/>
        </p:nvSpPr>
        <p:spPr>
          <a:xfrm>
            <a:off x="896112" y="4270248"/>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effects</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98500"/>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Content type steers photo/illustration behaviour while visual intensity adjusts how strongly styling affects the result.</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98500"/>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Two controlled variants demonstrate the effect of the setting.</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Content Type and Visual Intensity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Treating intensity as a substitute for a clear prompt.</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Photo/art · auto mode · visual intensity · effects.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Two controlled variants demonstrate the effect of the setting.</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224AF4"/>
                </a:solidFill>
                <a:latin typeface="Arial"/>
              </a:rPr>
              <a:t>Accept only when the defect is reduced and protected content remains intact.</a:t>
            </a:r>
          </a:p>
        </p:txBody>
      </p:sp>
    </p:spTree>
  </p:cSld>
  <p:transition spd="med" advClick="1">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CONCEPT 11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Colour, Lighting and Camera Controls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76</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refly_a dog reading a book while sitting at a desk by candle light, while wearing glasses,  120801.jpg"/>
          <p:cNvPicPr>
            <a:picLocks noChangeAspect="1"/>
          </p:cNvPicPr>
          <p:nvPr/>
        </p:nvPicPr>
        <p:blipFill>
          <a:blip r:embed="rId2"/>
          <a:srcRect t="14301" b="14301"/>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Secondary controls guide palette, lighting direction, field of view and depth cues.</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Keeping a sequence visually coherent without copying every frame.</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Frames share a documented palette and plausible light direction.</a:t>
            </a:r>
          </a:p>
        </p:txBody>
      </p:sp>
    </p:spTree>
  </p:cSld>
  <p:transition spd="med" advClick="1">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Colour, Lighting and Camera Controls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Colour/tone · lighting · camera angle · lens/depth cues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lighting instruction that conflicts with the reference composition.</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Frames share a documented palette and plausible light direction.</a:t>
            </a:r>
          </a:p>
        </p:txBody>
      </p:sp>
      <p:sp>
        <p:nvSpPr>
          <p:cNvPr id="23" name="Rounded Rectangle 22"/>
          <p:cNvSpPr/>
          <p:nvPr/>
        </p:nvSpPr>
        <p:spPr>
          <a:xfrm>
            <a:off x="685800" y="5349240"/>
            <a:ext cx="10771632" cy="65836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Colour, Lighting and Camera Controls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Keeping a sequence visually coherent without copying every frame.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Colour/tone · lighting · camera angle · lens/depth cues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lighting instruction that conflicts with the reference composition.</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Frames share a documented palette and plausible light direction.</a:t>
            </a:r>
          </a:p>
        </p:txBody>
      </p:sp>
      <p:sp>
        <p:nvSpPr>
          <p:cNvPr id="30" name="Rounded Rectangle 29"/>
          <p:cNvSpPr/>
          <p:nvPr/>
        </p:nvSpPr>
        <p:spPr>
          <a:xfrm>
            <a:off x="804672" y="5532120"/>
            <a:ext cx="10561320" cy="530352"/>
          </a:xfrm>
          <a:prstGeom prst="roundRect">
            <a:avLst/>
          </a:prstGeom>
          <a:solidFill>
            <a:srgbClr val="FFFFFF"/>
          </a:solidFill>
          <a:ln>
            <a:solidFill>
              <a:srgbClr val="E98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98500"/>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Colour, Lighting and Camera Controls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79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Colour/tone</a:t>
            </a:r>
          </a:p>
        </p:txBody>
      </p:sp>
      <p:sp>
        <p:nvSpPr>
          <p:cNvPr id="16" name="Rounded Rectangle 15"/>
          <p:cNvSpPr/>
          <p:nvPr/>
        </p:nvSpPr>
        <p:spPr>
          <a:xfrm>
            <a:off x="896112" y="3099816"/>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lighting</a:t>
            </a:r>
          </a:p>
        </p:txBody>
      </p:sp>
      <p:sp>
        <p:nvSpPr>
          <p:cNvPr id="19" name="Rounded Rectangle 18"/>
          <p:cNvSpPr/>
          <p:nvPr/>
        </p:nvSpPr>
        <p:spPr>
          <a:xfrm>
            <a:off x="896112" y="3685032"/>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camera angle</a:t>
            </a:r>
          </a:p>
        </p:txBody>
      </p:sp>
      <p:sp>
        <p:nvSpPr>
          <p:cNvPr id="22" name="Rounded Rectangle 21"/>
          <p:cNvSpPr/>
          <p:nvPr/>
        </p:nvSpPr>
        <p:spPr>
          <a:xfrm>
            <a:off x="896112" y="4270248"/>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lens/depth cues</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224AF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Secondary controls guide palette, lighting direction, field of view and depth cues.</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224AF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Frames share a documented palette and plausible light direction.</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Colour, Lighting and Camera Controls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 lighting instruction that conflicts with the reference composition.</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Colour/tone · lighting · camera angle · lens/depth cues.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Frames share a documented palette and plausible light direction.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B8D9"/>
                </a:solidFill>
                <a:latin typeface="Arial"/>
              </a:rPr>
              <a:t>Accept only when the defect is reduced and protected content remains intact.</a:t>
            </a:r>
          </a:p>
        </p:txBody>
      </p:sp>
    </p:spTree>
  </p:cSld>
  <p:transition spd="med" advClick="1">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CONCEPT 12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Composition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Composition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81</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erence.jpg"/>
          <p:cNvPicPr>
            <a:picLocks noChangeAspect="1"/>
          </p:cNvPicPr>
          <p:nvPr/>
        </p:nvPicPr>
        <p:blipFill>
          <a:blip r:embed="rId2"/>
          <a:srcRect t="4102" b="4102"/>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composition reference transfers spatial arrangement and structural relationships without duplicating the source pixels.</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Maintaining camera position, pose or layout across storyboard alternatives.</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Overlay or side-by-side evidence confirms structural similarity.</a:t>
            </a:r>
          </a:p>
        </p:txBody>
      </p:sp>
    </p:spTree>
  </p:cSld>
  <p:transition spd="med" advClick="1">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Composition Reference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Composition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Reference strength · crop · silhouette · dominant lines · prompt</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Using a reference without rights or expecting identity fidelity.</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Overlay or side-by-side evidence confirms structural similarity.</a:t>
            </a:r>
          </a:p>
        </p:txBody>
      </p:sp>
      <p:sp>
        <p:nvSpPr>
          <p:cNvPr id="23" name="Rounded Rectangle 22"/>
          <p:cNvSpPr/>
          <p:nvPr/>
        </p:nvSpPr>
        <p:spPr>
          <a:xfrm>
            <a:off x="685800" y="5349240"/>
            <a:ext cx="10771632" cy="65836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Composition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Composition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Maintaining camera position, pose or layout across storyboard alternatives.</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Reference strength · crop · silhouette · dominant lines · prompt</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Using a reference without rights or expecting identity fidelity.</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Overlay or side-by-side evidence confirms structural similarity.</a:t>
            </a:r>
          </a:p>
        </p:txBody>
      </p:sp>
      <p:sp>
        <p:nvSpPr>
          <p:cNvPr id="30" name="Rounded Rectangle 29"/>
          <p:cNvSpPr/>
          <p:nvPr/>
        </p:nvSpPr>
        <p:spPr>
          <a:xfrm>
            <a:off x="804672" y="5532120"/>
            <a:ext cx="10561320" cy="530352"/>
          </a:xfrm>
          <a:prstGeom prst="roundRect">
            <a:avLst/>
          </a:prstGeom>
          <a:solidFill>
            <a:srgbClr val="FFFFFF"/>
          </a:solidFill>
          <a:ln>
            <a:solidFill>
              <a:srgbClr val="224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224AF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Composition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Composition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Reference strength</a:t>
            </a:r>
          </a:p>
        </p:txBody>
      </p:sp>
      <p:sp>
        <p:nvSpPr>
          <p:cNvPr id="16" name="Rounded Rectangle 15"/>
          <p:cNvSpPr/>
          <p:nvPr/>
        </p:nvSpPr>
        <p:spPr>
          <a:xfrm>
            <a:off x="896112" y="3099816"/>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crop</a:t>
            </a:r>
          </a:p>
        </p:txBody>
      </p:sp>
      <p:sp>
        <p:nvSpPr>
          <p:cNvPr id="19" name="Rounded Rectangle 18"/>
          <p:cNvSpPr/>
          <p:nvPr/>
        </p:nvSpPr>
        <p:spPr>
          <a:xfrm>
            <a:off x="896112" y="3685032"/>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silhouette</a:t>
            </a:r>
          </a:p>
        </p:txBody>
      </p:sp>
      <p:sp>
        <p:nvSpPr>
          <p:cNvPr id="22" name="Rounded Rectangle 21"/>
          <p:cNvSpPr/>
          <p:nvPr/>
        </p:nvSpPr>
        <p:spPr>
          <a:xfrm>
            <a:off x="896112" y="4270248"/>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dominant lines</a:t>
            </a:r>
          </a:p>
        </p:txBody>
      </p:sp>
      <p:sp>
        <p:nvSpPr>
          <p:cNvPr id="25" name="Rounded Rectangle 24"/>
          <p:cNvSpPr/>
          <p:nvPr/>
        </p:nvSpPr>
        <p:spPr>
          <a:xfrm>
            <a:off x="896112" y="4855464"/>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B8D9"/>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composition reference transfers spatial arrangement and structural relationships without duplicating the source pixels.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B8D9"/>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Overlay or side-by-side evidence confirms structural similarity.</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Composition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Composition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Using a reference without rights or expecting identity fidelity.</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Reference strength · crop · silhouette · dominant lines · prompt.</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Overlay or side-by-side evidence confirms structural similarity.</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11D74"/>
                </a:solidFill>
                <a:latin typeface="Arial"/>
              </a:rPr>
              <a:t>Accept only when the defect is reduced and protected content remains intact.</a:t>
            </a:r>
          </a:p>
        </p:txBody>
      </p:sp>
    </p:spTree>
  </p:cSld>
  <p:transition spd="med" advClick="1">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13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Style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Style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86</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ummingbird.jpg"/>
          <p:cNvPicPr>
            <a:picLocks noChangeAspect="1"/>
          </p:cNvPicPr>
          <p:nvPr/>
        </p:nvPicPr>
        <p:blipFill>
          <a:blip r:embed="rId2"/>
          <a:srcRect l="19362" r="19362"/>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style reference guides colour, texture, lighting and rendering character while the prompt controls subject matter.</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Unifying multiple scenes under one art direction.</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contact sheet shows consistent treatment across different subjects.</a:t>
            </a:r>
          </a:p>
        </p:txBody>
      </p:sp>
    </p:spTree>
  </p:cSld>
  <p:transition spd="med" advClick="1">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Style Reference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Style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Reference strength · visual intensity · effects · prompt specificity</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Combining style and composition changes without a baseline.</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contact sheet shows consistent treatment across different subjects.</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Style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Style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Unifying multiple scenes under one art direction.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Reference strength · visual intensity · effects · prompt specificity</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Combining style and composition changes without a baseline.</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contact sheet shows consistent treatment across different subjects.</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Style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Style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89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Reference strength</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visual intensity</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effects</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 specificity</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style reference guides colour, texture, lighting and rendering character while the prompt controls subject matter.</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contact sheet shows consistent treatment across different subjects.</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Style Reference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Style Reference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Combining style and composition changes without a baseline.</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Reference strength · visual intensity · effects · prompt specificity.</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contact sheet shows consistent treatment across different subjects.</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14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Storyboard Architecture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91</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dventure.jpg"/>
          <p:cNvPicPr>
            <a:picLocks noChangeAspect="1"/>
          </p:cNvPicPr>
          <p:nvPr/>
        </p:nvPicPr>
        <p:blipFill>
          <a:blip r:embed="rId2"/>
          <a:srcRect l="21824" r="21824"/>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storyboard converts a narrative into beats with a purpose, frame, transition and evidence for each beat.</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Explaining an experience, campaign sequence or task journey.</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Every frame has a caption, purpose and transition note.</a:t>
            </a:r>
          </a:p>
        </p:txBody>
      </p:sp>
    </p:spTree>
  </p:cSld>
  <p:transition spd="med" advClick="1">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Storyboard Architecture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Opening · context · action · transformation · outcome · CTA</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gallery of attractive images with no causal sequence.</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Every frame has a caption, purpose and transition note.</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Storyboard Architecture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Explaining an experience, campaign sequence or task journey.</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Opening · context · action · transformation · outcome · CTA</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gallery of attractive images with no causal sequence.</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Every frame has a caption, purpose and transition note.</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Storyboard Architecture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Opening</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context</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action</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transformation</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outcome</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storyboard converts a narrative into beats with a purpose, frame, transition and evidence for each beat.</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Every frame has a caption, purpose and transition note.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Storyboard Architecture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 gallery of attractive images with no causal sequence.</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Opening · context · action · transformation · outcome · CTA.</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Every frame has a caption, purpose and transition note.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CONCEPT 15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Task Flow for Team Collaboration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96</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refly_a robot dancing at a party 830052.jpg"/>
          <p:cNvPicPr>
            <a:picLocks noChangeAspect="1"/>
          </p:cNvPicPr>
          <p:nvPr/>
        </p:nvPicPr>
        <p:blipFill>
          <a:blip r:embed="rId2"/>
          <a:srcRect l="7636" r="7636"/>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task flow assigns inputs, decisions, hand-offs and review gates so visual work can be repeated by a team.</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Moving from ideation to approved, editable and channel-ready output.</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 flow diagram identifies ownership and acceptance at each gate.</a:t>
            </a:r>
          </a:p>
        </p:txBody>
      </p:sp>
    </p:spTree>
  </p:cSld>
  <p:transition spd="med" advClick="1">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Task Flow for Team Collaboration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Owner · input · action · decision · output · reviewer</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Unowned approval steps or ambiguous version names.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flow diagram identifies ownership and acceptance at each gate.</a:t>
            </a:r>
          </a:p>
        </p:txBody>
      </p:sp>
      <p:sp>
        <p:nvSpPr>
          <p:cNvPr id="23" name="Rounded Rectangle 22"/>
          <p:cNvSpPr/>
          <p:nvPr/>
        </p:nvSpPr>
        <p:spPr>
          <a:xfrm>
            <a:off x="685800" y="5349240"/>
            <a:ext cx="10771632" cy="65836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Task Flow for Team Collaboration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Moving from ideation to approved, editable and channel-ready output.</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Owner · input · action · decision · output · reviewer</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Unowned approval steps or ambiguous version names.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flow diagram identifies ownership and acceptance at each gate.</a:t>
            </a:r>
          </a:p>
        </p:txBody>
      </p:sp>
      <p:sp>
        <p:nvSpPr>
          <p:cNvPr id="30" name="Rounded Rectangle 29"/>
          <p:cNvSpPr/>
          <p:nvPr/>
        </p:nvSpPr>
        <p:spPr>
          <a:xfrm>
            <a:off x="804672" y="5532120"/>
            <a:ext cx="10561320" cy="530352"/>
          </a:xfrm>
          <a:prstGeom prst="roundRect">
            <a:avLst/>
          </a:prstGeom>
          <a:solidFill>
            <a:srgbClr val="FFFFFF"/>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7C3AED"/>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Task Flow for Team Collaboration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99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Owner</a:t>
            </a:r>
          </a:p>
        </p:txBody>
      </p:sp>
      <p:sp>
        <p:nvSpPr>
          <p:cNvPr id="16" name="Rounded Rectangle 15"/>
          <p:cNvSpPr/>
          <p:nvPr/>
        </p:nvSpPr>
        <p:spPr>
          <a:xfrm>
            <a:off x="896112" y="3099816"/>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input</a:t>
            </a:r>
          </a:p>
        </p:txBody>
      </p:sp>
      <p:sp>
        <p:nvSpPr>
          <p:cNvPr id="19" name="Rounded Rectangle 18"/>
          <p:cNvSpPr/>
          <p:nvPr/>
        </p:nvSpPr>
        <p:spPr>
          <a:xfrm>
            <a:off x="896112" y="3685032"/>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action</a:t>
            </a:r>
          </a:p>
        </p:txBody>
      </p:sp>
      <p:sp>
        <p:nvSpPr>
          <p:cNvPr id="22" name="Rounded Rectangle 21"/>
          <p:cNvSpPr/>
          <p:nvPr/>
        </p:nvSpPr>
        <p:spPr>
          <a:xfrm>
            <a:off x="896112" y="4270248"/>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decision</a:t>
            </a:r>
          </a:p>
        </p:txBody>
      </p:sp>
      <p:sp>
        <p:nvSpPr>
          <p:cNvPr id="25" name="Rounded Rectangle 24"/>
          <p:cNvSpPr/>
          <p:nvPr/>
        </p:nvSpPr>
        <p:spPr>
          <a:xfrm>
            <a:off x="896112" y="4855464"/>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output</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9A78"/>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task flow assigns inputs, decisions, hand-offs and review gates so visual work can be repeated by a team.</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9A78"/>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flow diagram identifies ownership and acceptance at each gate.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Task Flow for Team Collaboration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Unowned approval steps or ambiguous version names.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Owner · input · action · decision · output · reviewer.</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flow diagram identifies ownership and acceptance at each gate.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98500"/>
                </a:solidFill>
                <a:latin typeface="Arial"/>
              </a:rPr>
              <a:t>Accept only when the defect is reduced and protected content remains intact.</a:t>
            </a:r>
          </a:p>
        </p:txBody>
      </p:sp>
    </p:spTree>
  </p:cSld>
  <p:transition spd="med" advClick="1">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CONCEPT 16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Generated Texture with Editable Photoshop Type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 — Create type; Create and manage clipping masks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101</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ark bench.jpg"/>
          <p:cNvPicPr>
            <a:picLocks noChangeAspect="1"/>
          </p:cNvPicPr>
          <p:nvPr/>
        </p:nvPicPr>
        <p:blipFill>
          <a:blip r:embed="rId2"/>
          <a:srcRect t="12985" b="12985"/>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Generate a rights-aware texture as imagery. Keep editable type as the base layer, place the generated texture immediately above it, and clip the texture to the type so the letterforms control visibility without rasterising the text.</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Creating expressive display typography while keeping wording, font, colour and fit editable.</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The PSD retains a live type base layer, clipped texture layer immediately above it and named colour/fit controls; the reopened export passes a thumbnail legibility check.</a:t>
            </a:r>
          </a:p>
        </p:txBody>
      </p:sp>
    </p:spTree>
  </p:cSld>
  <p:transition spd="med" advClick="1">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Generated Texture with Editable Photoshop Type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 — Create type; Create and manage clipping masks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Texture prompt · live type base layer · texture layer above · clipping mask · scale/position · colour overlay · tracking · legibility</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Reversing the clipping stack, treating generated pixels as editable copy, using obsolete Text Effects interfaces, or losing contrast at delivery size.</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The PSD retains a live type base layer, clipped texture layer immediately above it and named colour/fit controls; the reopened export passes a thumbnail legibility check.</a:t>
            </a:r>
          </a:p>
        </p:txBody>
      </p:sp>
      <p:sp>
        <p:nvSpPr>
          <p:cNvPr id="23" name="Rounded Rectangle 22"/>
          <p:cNvSpPr/>
          <p:nvPr/>
        </p:nvSpPr>
        <p:spPr>
          <a:xfrm>
            <a:off x="685800" y="5349240"/>
            <a:ext cx="10771632" cy="65836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Generated Texture with Editable Photoshop Type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 — Create type; Create and manage clipping masks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Creating expressive display typography while keeping wording, font, colour and fit editable.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Texture prompt · live type base layer · texture layer above · clipping mask · scale/position · colour overlay · tracking · legibility</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Reversing the clipping stack, treating generated pixels as editable copy, using obsolete Text Effects interfaces, or losing contrast at delivery size.</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The PSD retains a live type base layer, clipped texture layer immediately above it and named colour/fit controls; the reopened export passes a thumbnail legibility check.</a:t>
            </a:r>
          </a:p>
        </p:txBody>
      </p:sp>
      <p:sp>
        <p:nvSpPr>
          <p:cNvPr id="30" name="Rounded Rectangle 29"/>
          <p:cNvSpPr/>
          <p:nvPr/>
        </p:nvSpPr>
        <p:spPr>
          <a:xfrm>
            <a:off x="804672" y="5532120"/>
            <a:ext cx="10561320" cy="530352"/>
          </a:xfrm>
          <a:prstGeom prst="roundRect">
            <a:avLst/>
          </a:prstGeom>
          <a:solidFill>
            <a:srgbClr val="FFFFFF"/>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9A78"/>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Generated Texture with Editable Photoshop Type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 — Create type; Create and manage clipping masks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Texture prompt</a:t>
            </a:r>
          </a:p>
        </p:txBody>
      </p:sp>
      <p:sp>
        <p:nvSpPr>
          <p:cNvPr id="16" name="Rounded Rectangle 15"/>
          <p:cNvSpPr/>
          <p:nvPr/>
        </p:nvSpPr>
        <p:spPr>
          <a:xfrm>
            <a:off x="896112" y="3099816"/>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live type base layer</a:t>
            </a:r>
          </a:p>
        </p:txBody>
      </p:sp>
      <p:sp>
        <p:nvSpPr>
          <p:cNvPr id="19" name="Rounded Rectangle 18"/>
          <p:cNvSpPr/>
          <p:nvPr/>
        </p:nvSpPr>
        <p:spPr>
          <a:xfrm>
            <a:off x="896112" y="3685032"/>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texture layer above</a:t>
            </a:r>
          </a:p>
        </p:txBody>
      </p:sp>
      <p:sp>
        <p:nvSpPr>
          <p:cNvPr id="22" name="Rounded Rectangle 21"/>
          <p:cNvSpPr/>
          <p:nvPr/>
        </p:nvSpPr>
        <p:spPr>
          <a:xfrm>
            <a:off x="896112" y="4270248"/>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clipping mask</a:t>
            </a:r>
          </a:p>
        </p:txBody>
      </p:sp>
      <p:sp>
        <p:nvSpPr>
          <p:cNvPr id="25" name="Rounded Rectangle 24"/>
          <p:cNvSpPr/>
          <p:nvPr/>
        </p:nvSpPr>
        <p:spPr>
          <a:xfrm>
            <a:off x="896112" y="4855464"/>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scale/position</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98500"/>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Generate a rights-aware texture as imagery. Keep editable type as the base layer, place the generated texture immediately above it, and clip the texture to the type so the letterforms control visibility without rasterising the text.</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98500"/>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The PSD retains a live type base layer, clipped texture layer immediately above it and named colour/fit controls; the reopened export passes a thumbnail legibility check.</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Diagnostic · Generated Texture with Editable Photoshop Type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 — Create type; Create and manage clipping masks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Reversing the clipping stack, treating generated pixels as editable copy, using obsolete Text Effects interfaces, or losing contrast at delivery size.</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Texture prompt · live type base layer · texture layer above · clipping mask · scale/position · colour overlay · tracking · legibility.</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The PSD retains a live type base layer, clipped texture layer immediately above it and named colour/fit controls; the reopened export passes a thumbnail legibility check.</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224AF4"/>
                </a:solidFill>
                <a:latin typeface="Arial"/>
              </a:rPr>
              <a:t>Accept only when the defect is reduced and protected content remains intact.</a:t>
            </a:r>
          </a:p>
        </p:txBody>
      </p:sp>
    </p:spTree>
  </p:cSld>
  <p:transition spd="med" advClick="1">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2</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03 · Composition and Style References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106</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ummingbird.jpg"/>
          <p:cNvPicPr>
            <a:picLocks noChangeAspect="1"/>
          </p:cNvPicPr>
          <p:nvPr/>
        </p:nvPicPr>
        <p:blipFill>
          <a:blip r:embed="rId2"/>
          <a:srcRect l="14254" r="14254"/>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wellness campaign needs varied subjects that retain one composition and art direction.</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Create a controlled Firefly comparison using composition and style references independently and together.</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Four labelled JPEG conditions, comparison PSD and a reference-control decision note.</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03</a:t>
            </a:r>
          </a:p>
        </p:txBody>
      </p:sp>
    </p:spTree>
  </p:cSld>
  <p:transition spd="med" advClick="1">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2</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04 · Storyboard and Task Flow</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107</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venture.jpg"/>
          <p:cNvPicPr>
            <a:picLocks noChangeAspect="1"/>
          </p:cNvPicPr>
          <p:nvPr/>
        </p:nvPicPr>
        <p:blipFill>
          <a:blip r:embed="rId2"/>
          <a:srcRect l="17127" r="17127"/>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fictional Wellness Week Singapore 2026 campaign needs a short visual journey from stress to restorative action.</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Build a five-frame Firefly storyboard and a team task flow that communicates intent and ownership.</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Five-frame layered storyboard PSD, exported JPEG, task-flow panel and peer-review note.</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04</a:t>
            </a:r>
          </a:p>
        </p:txBody>
      </p:sp>
    </p:spTree>
  </p:cSld>
  <p:transition spd="med" advClick="1">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EXPLAIN THE DECISION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Topic 2 Checkpoint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108</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Purpose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does the audience need to notice?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Method</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Why does this technique fit the content and edge?</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Control</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setting most changes the outcome?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Failure</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defect would make the result unacceptable?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Proof</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view and evidence demonstrate quality?</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Next</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controlled variation would improve the result?</a:t>
            </a:r>
          </a:p>
        </p:txBody>
      </p:sp>
    </p:spTree>
  </p:cSld>
  <p:transition spd="med" advClick="1">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02920"/>
            <a:ext cx="1143000" cy="1143000"/>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04672"/>
            <a:ext cx="1143000" cy="320040"/>
          </a:xfrm>
          <a:prstGeom prst="rect">
            <a:avLst/>
          </a:prstGeom>
          <a:noFill/>
        </p:spPr>
        <p:txBody>
          <a:bodyPr wrap="square" anchor="t" lIns="54864" rIns="54864" tIns="54864" bIns="54864">
            <a:spAutoFit/>
          </a:bodyPr>
          <a:lstStyle/>
          <a:p>
            <a:pPr algn="ctr">
              <a:spcAft>
                <a:spcPts val="0"/>
              </a:spcAft>
            </a:pPr>
            <a:r>
              <a:rPr sz="2200" b="1">
                <a:solidFill>
                  <a:srgbClr val="FFFFFF"/>
                </a:solidFill>
                <a:latin typeface="Arial"/>
              </a:rPr>
              <a:t>03</a:t>
            </a:r>
          </a:p>
        </p:txBody>
      </p:sp>
      <p:sp>
        <p:nvSpPr>
          <p:cNvPr id="5" name="TextBox 4"/>
          <p:cNvSpPr txBox="1"/>
          <p:nvPr/>
        </p:nvSpPr>
        <p:spPr>
          <a:xfrm>
            <a:off x="685800" y="1920240"/>
            <a:ext cx="10881360" cy="1097280"/>
          </a:xfrm>
          <a:prstGeom prst="rect">
            <a:avLst/>
          </a:prstGeom>
          <a:noFill/>
        </p:spPr>
        <p:txBody>
          <a:bodyPr wrap="square" anchor="t" lIns="54864" rIns="54864" tIns="54864" bIns="54864">
            <a:spAutoFit/>
          </a:bodyPr>
          <a:lstStyle/>
          <a:p>
            <a:pPr algn="l">
              <a:spcAft>
                <a:spcPts val="0"/>
              </a:spcAft>
            </a:pPr>
            <a:r>
              <a:rPr sz="3800" b="1">
                <a:solidFill>
                  <a:srgbClr val="FFFFFF"/>
                </a:solidFill>
                <a:latin typeface="Arial"/>
              </a:rPr>
              <a:t>Photoshop Generative Editing and Critique</a:t>
            </a:r>
          </a:p>
        </p:txBody>
      </p:sp>
      <p:sp>
        <p:nvSpPr>
          <p:cNvPr id="6" name="TextBox 5"/>
          <p:cNvSpPr txBox="1"/>
          <p:nvPr/>
        </p:nvSpPr>
        <p:spPr>
          <a:xfrm>
            <a:off x="713232" y="3246120"/>
            <a:ext cx="10241280" cy="777240"/>
          </a:xfrm>
          <a:prstGeom prst="rect">
            <a:avLst/>
          </a:prstGeom>
          <a:noFill/>
        </p:spPr>
        <p:txBody>
          <a:bodyPr wrap="square" anchor="t" lIns="54864" rIns="54864" tIns="54864" bIns="54864">
            <a:spAutoFit/>
          </a:bodyPr>
          <a:lstStyle/>
          <a:p>
            <a:pPr algn="l">
              <a:spcAft>
                <a:spcPts val="0"/>
              </a:spcAft>
            </a:pPr>
            <a:r>
              <a:rPr sz="1800" b="0">
                <a:solidFill>
                  <a:srgbClr val="C8CFDA"/>
                </a:solidFill>
                <a:latin typeface="Arial"/>
              </a:rPr>
              <a:t>Use selections and generative features to build, evaluate and improve editable composites.</a:t>
            </a:r>
          </a:p>
        </p:txBody>
      </p:sp>
      <p:sp>
        <p:nvSpPr>
          <p:cNvPr id="7" name="TextBox 6"/>
          <p:cNvSpPr txBox="1"/>
          <p:nvPr/>
        </p:nvSpPr>
        <p:spPr>
          <a:xfrm>
            <a:off x="713232" y="5349240"/>
            <a:ext cx="5943600" cy="320040"/>
          </a:xfrm>
          <a:prstGeom prst="rect">
            <a:avLst/>
          </a:prstGeom>
          <a:noFill/>
        </p:spPr>
        <p:txBody>
          <a:bodyPr wrap="square" anchor="t" lIns="54864" rIns="54864" tIns="54864" bIns="54864">
            <a:spAutoFit/>
          </a:bodyPr>
          <a:lstStyle/>
          <a:p>
            <a:pPr algn="l">
              <a:spcAft>
                <a:spcPts val="0"/>
              </a:spcAft>
            </a:pPr>
            <a:r>
              <a:rPr sz="1400" b="1">
                <a:solidFill>
                  <a:srgbClr val="00B8D9"/>
                </a:solidFill>
                <a:latin typeface="Arial"/>
              </a:rPr>
              <a:t>LO3 · K3 · K5 · A4 · A5 · A6</a:t>
            </a:r>
          </a:p>
        </p:txBody>
      </p:sp>
      <p:sp>
        <p:nvSpPr>
          <p:cNvPr id="8" name="TextBox 7"/>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D7DEE9"/>
                </a:solidFill>
                <a:latin typeface="Arial"/>
              </a:rPr>
              <a:t>Generative-AI-Visuals-in-Photoshop-and-Firefly  ·  TGS-2024045220</a:t>
            </a:r>
          </a:p>
        </p:txBody>
      </p:sp>
      <p:sp>
        <p:nvSpPr>
          <p:cNvPr id="9" name="TextBox 8"/>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D7DEE9"/>
                </a:solidFill>
                <a:latin typeface="Arial"/>
              </a:rPr>
              <a:t>© 2026 Tertiary Infotech Academy Pte Ltd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D7DEE9"/>
                </a:solidFill>
                <a:latin typeface="Arial"/>
              </a:rPr>
              <a:t>109</a:t>
            </a:r>
          </a:p>
        </p:txBody>
      </p:sp>
    </p:spTree>
  </p:cSld>
  <p:transition spd="med" advClick="1">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EDITABLE DECISION CHART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Reversibility by Technique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110</a:t>
            </a:r>
          </a:p>
        </p:txBody>
      </p:sp>
      <p:graphicFrame>
        <p:nvGraphicFramePr>
          <p:cNvPr id="11" name="Chart 10"/>
          <p:cNvGraphicFramePr>
            <a:graphicFrameLocks noGrp="1"/>
          </p:cNvGraphicFramePr>
          <p:nvPr/>
        </p:nvGraphicFramePr>
        <p:xfrm>
          <a:off x="749808" y="1783080"/>
          <a:ext cx="7360920" cy="4343400"/>
        </p:xfrm>
        <a:graphic>
          <a:graphicData uri="http://schemas.openxmlformats.org/drawingml/2006/chart">
            <c:chart xmlns:c="http://schemas.openxmlformats.org/drawingml/2006/chart" r:id="rId2"/>
          </a:graphicData>
        </a:graphic>
      </p:graphicFrame>
      <p:sp>
        <p:nvSpPr>
          <p:cNvPr id="12" name="Rounded Rectangle 11"/>
          <p:cNvSpPr/>
          <p:nvPr/>
        </p:nvSpPr>
        <p:spPr>
          <a:xfrm>
            <a:off x="8394192" y="1874519"/>
            <a:ext cx="297180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68512" y="2148840"/>
            <a:ext cx="2423160"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READ THE CHART</a:t>
            </a:r>
          </a:p>
        </p:txBody>
      </p:sp>
      <p:sp>
        <p:nvSpPr>
          <p:cNvPr id="14" name="TextBox 13"/>
          <p:cNvSpPr txBox="1"/>
          <p:nvPr/>
        </p:nvSpPr>
        <p:spPr>
          <a:xfrm>
            <a:off x="8668512" y="2770632"/>
            <a:ext cx="2423160" cy="2057400"/>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Scale: 1 = low, 5 = high. Prefer an editable generated layer, mask or Smart Object so critique can lead to a traceable revision.</a:t>
            </a:r>
          </a:p>
        </p:txBody>
      </p:sp>
      <p:sp>
        <p:nvSpPr>
          <p:cNvPr id="15" name="TextBox 14"/>
          <p:cNvSpPr txBox="1"/>
          <p:nvPr/>
        </p:nvSpPr>
        <p:spPr>
          <a:xfrm>
            <a:off x="8668512" y="5074920"/>
            <a:ext cx="2423160" cy="256032"/>
          </a:xfrm>
          <a:prstGeom prst="rect">
            <a:avLst/>
          </a:prstGeom>
          <a:noFill/>
        </p:spPr>
        <p:txBody>
          <a:bodyPr wrap="square" anchor="t" lIns="54864" rIns="54864" tIns="54864" bIns="54864">
            <a:spAutoFit/>
          </a:bodyPr>
          <a:lstStyle/>
          <a:p>
            <a:pPr algn="l">
              <a:spcAft>
                <a:spcPts val="0"/>
              </a:spcAft>
            </a:pPr>
            <a:r>
              <a:rPr sz="900" b="0">
                <a:solidFill>
                  <a:srgbClr val="5B6372"/>
                </a:solidFill>
                <a:latin typeface="Arial"/>
              </a:rPr>
              <a:t>Editable native PowerPoint chart</a:t>
            </a:r>
          </a:p>
        </p:txBody>
      </p:sp>
    </p:spTree>
  </p:cSld>
  <p:transition spd="med" advClick="1">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CONCEPT 17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Photoshop Generative AI Feature Map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andscape-start.jpeg"/>
          <p:cNvPicPr>
            <a:picLocks noChangeAspect="1"/>
          </p:cNvPicPr>
          <p:nvPr/>
        </p:nvPicPr>
        <p:blipFill>
          <a:blip r:embed="rId2"/>
          <a:srcRect l="19474" r="19474"/>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Photoshop connects Generative Fill, Expand, Background, Harmonize and reference-based generation to selections and layers.</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Selecting the smallest feature that solves the editing problem.</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The Layers panel shows the generated content and editable source structure.</a:t>
            </a:r>
          </a:p>
        </p:txBody>
      </p:sp>
    </p:spTree>
  </p:cSld>
  <p:transition spd="med" advClick="1">
    <p:fade/>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Photoshop Generative AI Feature Map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Selection · prompt/reference · model · variations · generated layer</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Flattening before review or confusing destructive and generated edits.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The Layers panel shows the generated content and editable source structure.</a:t>
            </a:r>
          </a:p>
        </p:txBody>
      </p:sp>
      <p:sp>
        <p:nvSpPr>
          <p:cNvPr id="23" name="Rounded Rectangle 22"/>
          <p:cNvSpPr/>
          <p:nvPr/>
        </p:nvSpPr>
        <p:spPr>
          <a:xfrm>
            <a:off x="685800" y="5349240"/>
            <a:ext cx="10771632" cy="65836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Photoshop Generative AI Feature Map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Selecting the smallest feature that solves the editing problem.</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Selection · prompt/reference · model · variations · generated layer</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Flattening before review or confusing destructive and generated edits.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The Layers panel shows the generated content and editable source structure.</a:t>
            </a:r>
          </a:p>
        </p:txBody>
      </p:sp>
      <p:sp>
        <p:nvSpPr>
          <p:cNvPr id="30" name="Rounded Rectangle 29"/>
          <p:cNvSpPr/>
          <p:nvPr/>
        </p:nvSpPr>
        <p:spPr>
          <a:xfrm>
            <a:off x="804672" y="5532120"/>
            <a:ext cx="10561320" cy="530352"/>
          </a:xfrm>
          <a:prstGeom prst="roundRect">
            <a:avLst/>
          </a:prstGeom>
          <a:solidFill>
            <a:srgbClr val="FFFFFF"/>
          </a:solidFill>
          <a:ln>
            <a:solidFill>
              <a:srgbClr val="E98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98500"/>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Photoshop Generative AI Feature Map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Selection</a:t>
            </a:r>
          </a:p>
        </p:txBody>
      </p:sp>
      <p:sp>
        <p:nvSpPr>
          <p:cNvPr id="16" name="Rounded Rectangle 15"/>
          <p:cNvSpPr/>
          <p:nvPr/>
        </p:nvSpPr>
        <p:spPr>
          <a:xfrm>
            <a:off x="896112" y="3099816"/>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prompt/reference</a:t>
            </a:r>
          </a:p>
        </p:txBody>
      </p:sp>
      <p:sp>
        <p:nvSpPr>
          <p:cNvPr id="19" name="Rounded Rectangle 18"/>
          <p:cNvSpPr/>
          <p:nvPr/>
        </p:nvSpPr>
        <p:spPr>
          <a:xfrm>
            <a:off x="896112" y="3685032"/>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model</a:t>
            </a:r>
          </a:p>
        </p:txBody>
      </p:sp>
      <p:sp>
        <p:nvSpPr>
          <p:cNvPr id="22" name="Rounded Rectangle 21"/>
          <p:cNvSpPr/>
          <p:nvPr/>
        </p:nvSpPr>
        <p:spPr>
          <a:xfrm>
            <a:off x="896112" y="4270248"/>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variations</a:t>
            </a:r>
          </a:p>
        </p:txBody>
      </p:sp>
      <p:sp>
        <p:nvSpPr>
          <p:cNvPr id="25" name="Rounded Rectangle 24"/>
          <p:cNvSpPr/>
          <p:nvPr/>
        </p:nvSpPr>
        <p:spPr>
          <a:xfrm>
            <a:off x="896112" y="4855464"/>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generated layer</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224AF4"/>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Photoshop connects Generative Fill, Expand, Background, Harmonize and reference-based generation to selections and layers.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224AF4"/>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The Layers panel shows the generated content and editable source structure.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Photoshop Generative AI Feature Map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Flattening before review or confusing destructive and generated edits.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Selection · prompt/reference · model · variations · generated layer.</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The Layers panel shows the generated content and editable source structure.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B8D9"/>
                </a:solidFill>
                <a:latin typeface="Arial"/>
              </a:rPr>
              <a:t>Accept only when the defect is reduced and protected content remains intact.</a:t>
            </a:r>
          </a:p>
        </p:txBody>
      </p:sp>
    </p:spTree>
  </p:cSld>
  <p:transition spd="med" advClick="1">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CONCEPT 18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Selection as a Generative Instruction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erence.jpeg"/>
          <p:cNvPicPr>
            <a:picLocks noChangeAspect="1"/>
          </p:cNvPicPr>
          <p:nvPr/>
        </p:nvPicPr>
        <p:blipFill>
          <a:blip r:embed="rId2"/>
          <a:srcRect l="6639" r="6639"/>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Selection geometry defines where change may occur and gives the model contextual pixels at its boundary.</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Precise insertion, replacement and local repair.</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Selection/mask evidence and a 100% edge inspection are retained.</a:t>
            </a:r>
          </a:p>
        </p:txBody>
      </p:sp>
    </p:spTree>
  </p:cSld>
  <p:transition spd="med" advClick="1">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Selection as a Generative Instruction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Selection edge · feather · context margin · mask · target layer</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Selections that clip shadows or include protected details.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Selection/mask evidence and a 100% edge inspection are retained.</a:t>
            </a:r>
          </a:p>
        </p:txBody>
      </p:sp>
      <p:sp>
        <p:nvSpPr>
          <p:cNvPr id="23" name="Rounded Rectangle 22"/>
          <p:cNvSpPr/>
          <p:nvPr/>
        </p:nvSpPr>
        <p:spPr>
          <a:xfrm>
            <a:off x="685800" y="5349240"/>
            <a:ext cx="10771632" cy="65836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Selection as a Generative Instruction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Precise insertion, replacement and local repair.</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Selection edge · feather · context margin · mask · target layer</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Selections that clip shadows or include protected details.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Selection/mask evidence and a 100% edge inspection are retained.</a:t>
            </a:r>
          </a:p>
        </p:txBody>
      </p:sp>
      <p:sp>
        <p:nvSpPr>
          <p:cNvPr id="30" name="Rounded Rectangle 29"/>
          <p:cNvSpPr/>
          <p:nvPr/>
        </p:nvSpPr>
        <p:spPr>
          <a:xfrm>
            <a:off x="804672" y="5532120"/>
            <a:ext cx="10561320" cy="530352"/>
          </a:xfrm>
          <a:prstGeom prst="roundRect">
            <a:avLst/>
          </a:prstGeom>
          <a:solidFill>
            <a:srgbClr val="FFFFFF"/>
          </a:solidFill>
          <a:ln>
            <a:solidFill>
              <a:srgbClr val="224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224AF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Selection as a Generative Instruction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119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Selection edge</a:t>
            </a:r>
          </a:p>
        </p:txBody>
      </p:sp>
      <p:sp>
        <p:nvSpPr>
          <p:cNvPr id="16" name="Rounded Rectangle 15"/>
          <p:cNvSpPr/>
          <p:nvPr/>
        </p:nvSpPr>
        <p:spPr>
          <a:xfrm>
            <a:off x="896112" y="3099816"/>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feather</a:t>
            </a:r>
          </a:p>
        </p:txBody>
      </p:sp>
      <p:sp>
        <p:nvSpPr>
          <p:cNvPr id="19" name="Rounded Rectangle 18"/>
          <p:cNvSpPr/>
          <p:nvPr/>
        </p:nvSpPr>
        <p:spPr>
          <a:xfrm>
            <a:off x="896112" y="3685032"/>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context margin</a:t>
            </a:r>
          </a:p>
        </p:txBody>
      </p:sp>
      <p:sp>
        <p:nvSpPr>
          <p:cNvPr id="22" name="Rounded Rectangle 21"/>
          <p:cNvSpPr/>
          <p:nvPr/>
        </p:nvSpPr>
        <p:spPr>
          <a:xfrm>
            <a:off x="896112" y="4270248"/>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mask</a:t>
            </a:r>
          </a:p>
        </p:txBody>
      </p:sp>
      <p:sp>
        <p:nvSpPr>
          <p:cNvPr id="25" name="Rounded Rectangle 24"/>
          <p:cNvSpPr/>
          <p:nvPr/>
        </p:nvSpPr>
        <p:spPr>
          <a:xfrm>
            <a:off x="896112" y="4855464"/>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target layer</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B8D9"/>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Selection geometry defines where change may occur and gives the model contextual pixels at its boundary.</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B8D9"/>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Selection/mask evidence and a 100% edge inspection are retained.</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Selection as a Generative Instruction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Selections that clip shadows or include protected details.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Selection edge · feather · context margin · mask · target layer.</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Selection/mask evidence and a 100% edge inspection are retained.</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11D74"/>
                </a:solidFill>
                <a:latin typeface="Arial"/>
              </a:rPr>
              <a:t>Accept only when the defect is reduced and protected content remains intact.</a:t>
            </a:r>
          </a:p>
        </p:txBody>
      </p:sp>
    </p:spTree>
  </p:cSld>
  <p:transition spd="med" advClick="1">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19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Fill</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121</a:t>
            </a:r>
          </a:p>
        </p:txBody>
      </p:sp>
      <p:sp>
        <p:nvSpPr>
          <p:cNvPr id="11" name="Rounded Rectangle 10"/>
          <p:cNvSpPr/>
          <p:nvPr/>
        </p:nvSpPr>
        <p:spPr>
          <a:xfrm>
            <a:off x="68580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jpeg"/>
          <p:cNvPicPr>
            <a:picLocks noChangeAspect="1"/>
          </p:cNvPicPr>
          <p:nvPr/>
        </p:nvPicPr>
        <p:blipFill>
          <a:blip r:embed="rId2"/>
          <a:srcRect l="13640" r="13640"/>
          <a:stretch>
            <a:fillRect/>
          </a:stretch>
        </p:blipFill>
        <p:spPr>
          <a:xfrm>
            <a:off x="758952" y="1828800"/>
            <a:ext cx="4681728" cy="4297680"/>
          </a:xfrm>
          <a:prstGeom prst="rect">
            <a:avLst/>
          </a:prstGeom>
        </p:spPr>
      </p:pic>
      <p:sp>
        <p:nvSpPr>
          <p:cNvPr id="13" name="Rounded Rectangle 12"/>
          <p:cNvSpPr/>
          <p:nvPr/>
        </p:nvSpPr>
        <p:spPr>
          <a:xfrm>
            <a:off x="5742432"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8736"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6510528"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6510528"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Generative Fill creates non-destructive variations on a new generated layer inside the selected region.</a:t>
            </a:r>
          </a:p>
        </p:txBody>
      </p:sp>
      <p:sp>
        <p:nvSpPr>
          <p:cNvPr id="18" name="Rounded Rectangle 17"/>
          <p:cNvSpPr/>
          <p:nvPr/>
        </p:nvSpPr>
        <p:spPr>
          <a:xfrm>
            <a:off x="5742432"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88736"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8736"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6510528"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6510528"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Adding, replacing or removing local content with contextual blending.</a:t>
            </a:r>
          </a:p>
        </p:txBody>
      </p:sp>
      <p:sp>
        <p:nvSpPr>
          <p:cNvPr id="23" name="Rounded Rectangle 22"/>
          <p:cNvSpPr/>
          <p:nvPr/>
        </p:nvSpPr>
        <p:spPr>
          <a:xfrm>
            <a:off x="5742432"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6510528"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6510528"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5742432"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888736"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6510528"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6510528"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Before/after, selected variation and layered PSD prove the decision.</a:t>
            </a:r>
          </a:p>
        </p:txBody>
      </p:sp>
    </p:spTree>
  </p:cSld>
  <p:transition spd="med" advClick="1">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Generative Fill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Fill</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Prompt or blank prompt · model · variation · generated layer</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Anatomy errors, repeated textures and lighting mismatch.</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Before/after, selected variation and layered PSD prove the decision.</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Fill</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Adding, replacing or removing local content with contextual blending.</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Prompt or blank prompt · model · variation · generated layer</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Anatomy errors, repeated textures and lighting mismatch.</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Before/after, selected variation and layered PSD prove the decision.</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Fill</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 or blank prompt</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model</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variation</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generated layer</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Generative Fill creates non-destructive variations on a new generated layer inside the selected region.</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Before/after, selected variation and layered PSD prove the decision.</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Fill</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Anatomy errors, repeated textures and lighting mismatch.</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Prompt or blank prompt · model · variation · generated layer.</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Before/after, selected variation and layered PSD prove the decision.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20 · AUTHENTIC ASSET + EDITABLE ANNOTATIONS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Generative Expand</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Expand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126</a:t>
            </a:r>
          </a:p>
        </p:txBody>
      </p:sp>
      <p:sp>
        <p:nvSpPr>
          <p:cNvPr id="11" name="Rounded Rectangle 10"/>
          <p:cNvSpPr/>
          <p:nvPr/>
        </p:nvSpPr>
        <p:spPr>
          <a:xfrm>
            <a:off x="6675120" y="1755648"/>
            <a:ext cx="4828032"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P - Generative AI (GenAI).jpg"/>
          <p:cNvPicPr>
            <a:picLocks noChangeAspect="1"/>
          </p:cNvPicPr>
          <p:nvPr/>
        </p:nvPicPr>
        <p:blipFill>
          <a:blip r:embed="rId2"/>
          <a:srcRect l="6426" r="6426"/>
          <a:stretch>
            <a:fillRect/>
          </a:stretch>
        </p:blipFill>
        <p:spPr>
          <a:xfrm>
            <a:off x="6748272" y="1828800"/>
            <a:ext cx="4681728" cy="4297680"/>
          </a:xfrm>
          <a:prstGeom prst="rect">
            <a:avLst/>
          </a:prstGeom>
        </p:spPr>
      </p:pic>
      <p:sp>
        <p:nvSpPr>
          <p:cNvPr id="13" name="Rounded Rectangle 12"/>
          <p:cNvSpPr/>
          <p:nvPr/>
        </p:nvSpPr>
        <p:spPr>
          <a:xfrm>
            <a:off x="685800" y="178308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 y="1956816"/>
            <a:ext cx="475488" cy="47548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01168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1</a:t>
            </a:r>
          </a:p>
        </p:txBody>
      </p:sp>
      <p:sp>
        <p:nvSpPr>
          <p:cNvPr id="16" name="TextBox 15"/>
          <p:cNvSpPr txBox="1"/>
          <p:nvPr/>
        </p:nvSpPr>
        <p:spPr>
          <a:xfrm>
            <a:off x="1453895" y="192938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How it works</a:t>
            </a:r>
          </a:p>
        </p:txBody>
      </p:sp>
      <p:sp>
        <p:nvSpPr>
          <p:cNvPr id="17" name="TextBox 16"/>
          <p:cNvSpPr txBox="1"/>
          <p:nvPr/>
        </p:nvSpPr>
        <p:spPr>
          <a:xfrm>
            <a:off x="1453895" y="222199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Generative Expand extends the canvas and synthesises contextual pixels beyond the original frame.</a:t>
            </a:r>
          </a:p>
        </p:txBody>
      </p:sp>
      <p:sp>
        <p:nvSpPr>
          <p:cNvPr id="18" name="Rounded Rectangle 17"/>
          <p:cNvSpPr/>
          <p:nvPr/>
        </p:nvSpPr>
        <p:spPr>
          <a:xfrm>
            <a:off x="685800" y="288036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 y="3054096"/>
            <a:ext cx="475488" cy="47548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0896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2</a:t>
            </a:r>
          </a:p>
        </p:txBody>
      </p:sp>
      <p:sp>
        <p:nvSpPr>
          <p:cNvPr id="21" name="TextBox 20"/>
          <p:cNvSpPr txBox="1"/>
          <p:nvPr/>
        </p:nvSpPr>
        <p:spPr>
          <a:xfrm>
            <a:off x="1453895" y="302666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Best used for</a:t>
            </a:r>
          </a:p>
        </p:txBody>
      </p:sp>
      <p:sp>
        <p:nvSpPr>
          <p:cNvPr id="22" name="TextBox 21"/>
          <p:cNvSpPr txBox="1"/>
          <p:nvPr/>
        </p:nvSpPr>
        <p:spPr>
          <a:xfrm>
            <a:off x="1453895" y="331927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Reframing a master visual for landscape, portrait and square channels.</a:t>
            </a:r>
          </a:p>
        </p:txBody>
      </p:sp>
      <p:sp>
        <p:nvSpPr>
          <p:cNvPr id="23" name="Rounded Rectangle 22"/>
          <p:cNvSpPr/>
          <p:nvPr/>
        </p:nvSpPr>
        <p:spPr>
          <a:xfrm>
            <a:off x="685800" y="3977639"/>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2104" y="4151376"/>
            <a:ext cx="475488" cy="47548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20624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3</a:t>
            </a:r>
          </a:p>
        </p:txBody>
      </p:sp>
      <p:sp>
        <p:nvSpPr>
          <p:cNvPr id="26" name="TextBox 25"/>
          <p:cNvSpPr txBox="1"/>
          <p:nvPr/>
        </p:nvSpPr>
        <p:spPr>
          <a:xfrm>
            <a:off x="1453895" y="412394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Professional decision</a:t>
            </a:r>
          </a:p>
        </p:txBody>
      </p:sp>
      <p:sp>
        <p:nvSpPr>
          <p:cNvPr id="27" name="TextBox 26"/>
          <p:cNvSpPr txBox="1"/>
          <p:nvPr/>
        </p:nvSpPr>
        <p:spPr>
          <a:xfrm>
            <a:off x="1453895" y="4416552"/>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Choose this method when its content model and edge behaviour fit the brief.</a:t>
            </a:r>
          </a:p>
        </p:txBody>
      </p:sp>
      <p:sp>
        <p:nvSpPr>
          <p:cNvPr id="28" name="Rounded Rectangle 27"/>
          <p:cNvSpPr/>
          <p:nvPr/>
        </p:nvSpPr>
        <p:spPr>
          <a:xfrm>
            <a:off x="685800" y="5074920"/>
            <a:ext cx="4846320" cy="93268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2104" y="524865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303520"/>
            <a:ext cx="475488" cy="228600"/>
          </a:xfrm>
          <a:prstGeom prst="rect">
            <a:avLst/>
          </a:prstGeom>
          <a:noFill/>
        </p:spPr>
        <p:txBody>
          <a:bodyPr wrap="square" anchor="t" lIns="54864" rIns="54864" tIns="54864" bIns="54864">
            <a:spAutoFit/>
          </a:bodyPr>
          <a:lstStyle/>
          <a:p>
            <a:pPr algn="ctr">
              <a:spcAft>
                <a:spcPts val="0"/>
              </a:spcAft>
            </a:pPr>
            <a:r>
              <a:rPr sz="1100" b="1">
                <a:solidFill>
                  <a:srgbClr val="FFFFFF"/>
                </a:solidFill>
                <a:latin typeface="Arial"/>
              </a:rPr>
              <a:t>4</a:t>
            </a:r>
          </a:p>
        </p:txBody>
      </p:sp>
      <p:sp>
        <p:nvSpPr>
          <p:cNvPr id="31" name="TextBox 30"/>
          <p:cNvSpPr txBox="1"/>
          <p:nvPr/>
        </p:nvSpPr>
        <p:spPr>
          <a:xfrm>
            <a:off x="1453895" y="5221224"/>
            <a:ext cx="3886200" cy="256032"/>
          </a:xfrm>
          <a:prstGeom prst="rect">
            <a:avLst/>
          </a:prstGeom>
          <a:noFill/>
        </p:spPr>
        <p:txBody>
          <a:bodyPr wrap="square" anchor="t" lIns="54864" rIns="54864" tIns="54864" bIns="54864">
            <a:spAutoFit/>
          </a:bodyPr>
          <a:lstStyle/>
          <a:p>
            <a:pPr algn="l">
              <a:spcAft>
                <a:spcPts val="0"/>
              </a:spcAft>
            </a:pPr>
            <a:r>
              <a:rPr sz="1400" b="1">
                <a:solidFill>
                  <a:srgbClr val="161920"/>
                </a:solidFill>
                <a:latin typeface="Arial"/>
              </a:rPr>
              <a:t>Quality signal</a:t>
            </a:r>
          </a:p>
        </p:txBody>
      </p:sp>
      <p:sp>
        <p:nvSpPr>
          <p:cNvPr id="32" name="TextBox 31"/>
          <p:cNvSpPr txBox="1"/>
          <p:nvPr/>
        </p:nvSpPr>
        <p:spPr>
          <a:xfrm>
            <a:off x="1453895" y="5513831"/>
            <a:ext cx="3886200" cy="384048"/>
          </a:xfrm>
          <a:prstGeom prst="rect">
            <a:avLst/>
          </a:prstGeom>
          <a:noFill/>
        </p:spPr>
        <p:txBody>
          <a:bodyPr wrap="square" anchor="t" lIns="54864" rIns="54864" tIns="54864" bIns="54864">
            <a:spAutoFit/>
          </a:bodyPr>
          <a:lstStyle/>
          <a:p>
            <a:pPr algn="l">
              <a:spcAft>
                <a:spcPts val="0"/>
              </a:spcAft>
            </a:pPr>
            <a:r>
              <a:rPr sz="1130" b="0">
                <a:solidFill>
                  <a:srgbClr val="5B6372"/>
                </a:solidFill>
                <a:latin typeface="Arial"/>
              </a:rPr>
              <a:t>Three channel crops preserve subject integrity and useful copy space.</a:t>
            </a:r>
          </a:p>
        </p:txBody>
      </p:sp>
    </p:spTree>
  </p:cSld>
  <p:transition spd="med" advClick="1">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Generative Expand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Expand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Crop ratio · anchor · prompt/blank · safe area · variation</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Extending low-quality edges or moving the focal point unintentionally.</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Three channel crops preserve subject integrity and useful copy space.</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Generative Expand</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Expand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Reframing a master visual for landscape, portrait and square channels.</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Crop ratio · anchor · prompt/blank · safe area · variation</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Extending low-quality edges or moving the focal point unintentionally.</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Three channel crops preserve subject integrity and useful copy space.</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Generative Expand</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Expand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129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Crop ratio</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anchor</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prompt/blank</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safe area</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variation</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Generative Expand extends the canvas and synthesises contextual pixels beyond the original frame.</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Three channel crops preserve subject integrity and useful copy space.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Generative Expand</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Expand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Extending low-quality edges or moving the focal point unintentionally.</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Crop ratio · anchor · prompt/blank · safe area · variation.</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Three channel crops preserve subject integrity and useful copy space.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CONCEPT 21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Generate Background and Harmonize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131</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Background generation replaces the environment; Harmonize adjusts a placed subject to the surrounding tone, colour and light.</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Fast composites that still require realistic integration.</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Layered before/after and zoomed edge/shadow evidence pass review.</a:t>
            </a:r>
          </a:p>
        </p:txBody>
      </p:sp>
    </p:spTree>
  </p:cSld>
  <p:transition spd="med" advClick="1">
    <p:fade/>
  </p:transition>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Generate Background and Harmonize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Subject isolation · background prompt · scale · contact shadow · Harmonize</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Floating subjects, incorrect perspective or inconsistent light direction.</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Layered before/after and zoomed edge/shadow evidence pass review.</a:t>
            </a:r>
          </a:p>
        </p:txBody>
      </p:sp>
      <p:sp>
        <p:nvSpPr>
          <p:cNvPr id="23" name="Rounded Rectangle 22"/>
          <p:cNvSpPr/>
          <p:nvPr/>
        </p:nvSpPr>
        <p:spPr>
          <a:xfrm>
            <a:off x="685800" y="5349240"/>
            <a:ext cx="10771632" cy="65836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Generate Background and Harmonize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Fast composites that still require realistic integration.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Subject isolation · background prompt · scale · contact shadow · Harmonize</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Floating subjects, incorrect perspective or inconsistent light direction.</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Layered before/after and zoomed edge/shadow evidence pass review.</a:t>
            </a:r>
          </a:p>
        </p:txBody>
      </p:sp>
      <p:sp>
        <p:nvSpPr>
          <p:cNvPr id="30" name="Rounded Rectangle 29"/>
          <p:cNvSpPr/>
          <p:nvPr/>
        </p:nvSpPr>
        <p:spPr>
          <a:xfrm>
            <a:off x="804672" y="5532120"/>
            <a:ext cx="10561320" cy="530352"/>
          </a:xfrm>
          <a:prstGeom prst="roundRect">
            <a:avLst/>
          </a:prstGeom>
          <a:solidFill>
            <a:srgbClr val="FFFFFF"/>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7C3AED"/>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Generate Background and Harmonize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Subject isolation</a:t>
            </a:r>
          </a:p>
        </p:txBody>
      </p:sp>
      <p:sp>
        <p:nvSpPr>
          <p:cNvPr id="16" name="Rounded Rectangle 15"/>
          <p:cNvSpPr/>
          <p:nvPr/>
        </p:nvSpPr>
        <p:spPr>
          <a:xfrm>
            <a:off x="896112" y="3099816"/>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background prompt</a:t>
            </a:r>
          </a:p>
        </p:txBody>
      </p:sp>
      <p:sp>
        <p:nvSpPr>
          <p:cNvPr id="19" name="Rounded Rectangle 18"/>
          <p:cNvSpPr/>
          <p:nvPr/>
        </p:nvSpPr>
        <p:spPr>
          <a:xfrm>
            <a:off x="896112" y="3685032"/>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scale</a:t>
            </a:r>
          </a:p>
        </p:txBody>
      </p:sp>
      <p:sp>
        <p:nvSpPr>
          <p:cNvPr id="22" name="Rounded Rectangle 21"/>
          <p:cNvSpPr/>
          <p:nvPr/>
        </p:nvSpPr>
        <p:spPr>
          <a:xfrm>
            <a:off x="896112" y="4270248"/>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contact shadow</a:t>
            </a:r>
          </a:p>
        </p:txBody>
      </p:sp>
      <p:sp>
        <p:nvSpPr>
          <p:cNvPr id="25" name="Rounded Rectangle 24"/>
          <p:cNvSpPr/>
          <p:nvPr/>
        </p:nvSpPr>
        <p:spPr>
          <a:xfrm>
            <a:off x="896112" y="4855464"/>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Harmonize</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9A78"/>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Background generation replaces the environment; Harmonize adjusts a placed subject to the surrounding tone, colour and light.</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9A78"/>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Layered before/after and zoomed edge/shadow evidence pass review.</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Generate Background and Harmonize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Generative AI Overview</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Floating subjects, incorrect perspective or inconsistent light direction.</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Subject isolation · background prompt · scale · contact shadow · Harmonize.</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Layered before/after and zoomed edge/shadow evidence pass review.</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98500"/>
                </a:solidFill>
                <a:latin typeface="Arial"/>
              </a:rPr>
              <a:t>Accept only when the defect is reduced and protected content remains intact.</a:t>
            </a:r>
          </a:p>
        </p:txBody>
      </p:sp>
    </p:spTree>
  </p:cSld>
  <p:transition spd="med" advClick="1">
    <p:fade/>
  </p:transition>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CONCEPT 22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Reference Image in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Reference Image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136</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reference image provides additional visual guidance while the prompt and selection define the requested change.</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Improving consistency of an object, material or visual direction.</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The reference, selected output and rights record are stored together.</a:t>
            </a:r>
          </a:p>
        </p:txBody>
      </p:sp>
    </p:spTree>
  </p:cSld>
  <p:transition spd="med" advClick="1">
    <p:fade/>
  </p:transition>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Reference Image in Generative Fill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Reference Image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Reference asset · rights · prompt · selection · variation</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Expecting an exact copy or using a reference without permission.</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The reference, selected output and rights record are stored together.</a:t>
            </a:r>
          </a:p>
        </p:txBody>
      </p:sp>
      <p:sp>
        <p:nvSpPr>
          <p:cNvPr id="23" name="Rounded Rectangle 22"/>
          <p:cNvSpPr/>
          <p:nvPr/>
        </p:nvSpPr>
        <p:spPr>
          <a:xfrm>
            <a:off x="685800" y="5349240"/>
            <a:ext cx="10771632" cy="65836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Reference Image in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Reference Image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Improving consistency of an object, material or visual direction.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Reference asset · rights · prompt · selection · variation</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Expecting an exact copy or using a reference without permission.</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The reference, selected output and rights record are stored together.</a:t>
            </a:r>
          </a:p>
        </p:txBody>
      </p:sp>
      <p:sp>
        <p:nvSpPr>
          <p:cNvPr id="30" name="Rounded Rectangle 29"/>
          <p:cNvSpPr/>
          <p:nvPr/>
        </p:nvSpPr>
        <p:spPr>
          <a:xfrm>
            <a:off x="804672" y="5532120"/>
            <a:ext cx="10561320" cy="530352"/>
          </a:xfrm>
          <a:prstGeom prst="roundRect">
            <a:avLst/>
          </a:prstGeom>
          <a:solidFill>
            <a:srgbClr val="FFFFFF"/>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9A78"/>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Reference Image in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Reference Image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139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Reference asset</a:t>
            </a:r>
          </a:p>
        </p:txBody>
      </p:sp>
      <p:sp>
        <p:nvSpPr>
          <p:cNvPr id="16" name="Rounded Rectangle 15"/>
          <p:cNvSpPr/>
          <p:nvPr/>
        </p:nvSpPr>
        <p:spPr>
          <a:xfrm>
            <a:off x="896112" y="3099816"/>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rights</a:t>
            </a:r>
          </a:p>
        </p:txBody>
      </p:sp>
      <p:sp>
        <p:nvSpPr>
          <p:cNvPr id="19" name="Rounded Rectangle 18"/>
          <p:cNvSpPr/>
          <p:nvPr/>
        </p:nvSpPr>
        <p:spPr>
          <a:xfrm>
            <a:off x="896112" y="3685032"/>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prompt</a:t>
            </a:r>
          </a:p>
        </p:txBody>
      </p:sp>
      <p:sp>
        <p:nvSpPr>
          <p:cNvPr id="22" name="Rounded Rectangle 21"/>
          <p:cNvSpPr/>
          <p:nvPr/>
        </p:nvSpPr>
        <p:spPr>
          <a:xfrm>
            <a:off x="896112" y="4270248"/>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selection</a:t>
            </a:r>
          </a:p>
        </p:txBody>
      </p:sp>
      <p:sp>
        <p:nvSpPr>
          <p:cNvPr id="25" name="Rounded Rectangle 24"/>
          <p:cNvSpPr/>
          <p:nvPr/>
        </p:nvSpPr>
        <p:spPr>
          <a:xfrm>
            <a:off x="896112" y="4855464"/>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variation</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98500"/>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reference image provides additional visual guidance while the prompt and selection define the requested change.</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98500"/>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The reference, selected output and rights record are stored together.</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Reference Image in Generative Fill</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Reference Image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Expecting an exact copy or using a reference without permission.</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Reference asset · rights · prompt · selection · variation.</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The reference, selected output and rights record are stored together.</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224AF4"/>
                </a:solidFill>
                <a:latin typeface="Arial"/>
              </a:rPr>
              <a:t>Accept only when the defect is reduced and protected content remains intact.</a:t>
            </a:r>
          </a:p>
        </p:txBody>
      </p:sp>
    </p:spTree>
  </p:cSld>
  <p:transition spd="med" advClick="1">
    <p:fade/>
  </p:transition>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CONCEPT 23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Inpainting and Outpainting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141</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Inpainting changes content inside a boundary; outpainting synthesises beyond an existing boundary.</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Choosing between local repair and frame extension.</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difference review confirms only the intended region changed.</a:t>
            </a:r>
          </a:p>
        </p:txBody>
      </p:sp>
    </p:spTree>
  </p:cSld>
  <p:transition spd="med" advClick="1">
    <p:fade/>
  </p:transition>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Inpainting and Outpainting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142</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Protected area · context overlap · seam location · content continuity</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Visible seams, repeated objects or altered protected content.</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difference review confirms only the intended region changed.</a:t>
            </a:r>
          </a:p>
        </p:txBody>
      </p:sp>
      <p:sp>
        <p:nvSpPr>
          <p:cNvPr id="23" name="Rounded Rectangle 22"/>
          <p:cNvSpPr/>
          <p:nvPr/>
        </p:nvSpPr>
        <p:spPr>
          <a:xfrm>
            <a:off x="685800" y="5349240"/>
            <a:ext cx="10771632" cy="65836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Inpainting and Outpainting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143</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Choosing between local repair and frame extension.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Protected area · context overlap · seam location · content continuity</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Visible seams, repeated objects or altered protected content.</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difference review confirms only the intended region changed.</a:t>
            </a:r>
          </a:p>
        </p:txBody>
      </p:sp>
      <p:sp>
        <p:nvSpPr>
          <p:cNvPr id="30" name="Rounded Rectangle 29"/>
          <p:cNvSpPr/>
          <p:nvPr/>
        </p:nvSpPr>
        <p:spPr>
          <a:xfrm>
            <a:off x="804672" y="5532120"/>
            <a:ext cx="10561320" cy="530352"/>
          </a:xfrm>
          <a:prstGeom prst="roundRect">
            <a:avLst/>
          </a:prstGeom>
          <a:solidFill>
            <a:srgbClr val="FFFFFF"/>
          </a:solidFill>
          <a:ln>
            <a:solidFill>
              <a:srgbClr val="E98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98500"/>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Inpainting and Outpainting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144</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Protected area</a:t>
            </a:r>
          </a:p>
        </p:txBody>
      </p:sp>
      <p:sp>
        <p:nvSpPr>
          <p:cNvPr id="16" name="Rounded Rectangle 15"/>
          <p:cNvSpPr/>
          <p:nvPr/>
        </p:nvSpPr>
        <p:spPr>
          <a:xfrm>
            <a:off x="896112" y="3099816"/>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context overlap</a:t>
            </a:r>
          </a:p>
        </p:txBody>
      </p:sp>
      <p:sp>
        <p:nvSpPr>
          <p:cNvPr id="19" name="Rounded Rectangle 18"/>
          <p:cNvSpPr/>
          <p:nvPr/>
        </p:nvSpPr>
        <p:spPr>
          <a:xfrm>
            <a:off x="896112" y="3685032"/>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seam location</a:t>
            </a:r>
          </a:p>
        </p:txBody>
      </p:sp>
      <p:sp>
        <p:nvSpPr>
          <p:cNvPr id="22" name="Rounded Rectangle 21"/>
          <p:cNvSpPr/>
          <p:nvPr/>
        </p:nvSpPr>
        <p:spPr>
          <a:xfrm>
            <a:off x="896112" y="4270248"/>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content continuity</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224AF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Inpainting changes content inside a boundary; outpainting synthesises beyond an existing boundary.</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224AF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difference review confirms only the intended region changed.</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Inpainting and Outpainting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145</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Visible seams, repeated objects or altered protected content.</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Protected area · context overlap · seam location · content continuity.</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difference review confirms only the intended region changed.</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B8D9"/>
                </a:solidFill>
                <a:latin typeface="Arial"/>
              </a:rPr>
              <a:t>Accept only when the defect is reduced and protected content remains intact.</a:t>
            </a:r>
          </a:p>
        </p:txBody>
      </p:sp>
    </p:spTree>
  </p:cSld>
  <p:transition spd="med" advClick="1">
    <p:fade/>
  </p:transition>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CONCEPT 24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Aesthetic Critique and Golden-ratio Heuristics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146</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Critique separates description, interpretation, evaluation and recommendation; compositional heuristics are prompts for judgement, not guarantees.</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Explaining why a visual works and proposing an actionable revision.</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criterion-based critique identifies evidence, impact and one testable change.</a:t>
            </a:r>
          </a:p>
        </p:txBody>
      </p:sp>
    </p:spTree>
  </p:cSld>
  <p:transition spd="med" advClick="1">
    <p:fade/>
  </p:transition>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Aesthetic Critique and Golden-ratio Heuristics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147</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Hierarchy · balance · rhythm · focal placement · audience fit · technical finish</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Treating a grid or ratio as proof of quality.</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criterion-based critique identifies evidence, impact and one testable change.</a:t>
            </a:r>
          </a:p>
        </p:txBody>
      </p:sp>
      <p:sp>
        <p:nvSpPr>
          <p:cNvPr id="23" name="Rounded Rectangle 22"/>
          <p:cNvSpPr/>
          <p:nvPr/>
        </p:nvSpPr>
        <p:spPr>
          <a:xfrm>
            <a:off x="685800" y="5349240"/>
            <a:ext cx="10771632" cy="65836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Aesthetic Critique and Golden-ratio Heuristics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148</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Explaining why a visual works and proposing an actionable revision.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Hierarchy · balance · rhythm · focal placement · audience fit · technical finish</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Treating a grid or ratio as proof of quality.</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criterion-based critique identifies evidence, impact and one testable change.</a:t>
            </a:r>
          </a:p>
        </p:txBody>
      </p:sp>
      <p:sp>
        <p:nvSpPr>
          <p:cNvPr id="30" name="Rounded Rectangle 29"/>
          <p:cNvSpPr/>
          <p:nvPr/>
        </p:nvSpPr>
        <p:spPr>
          <a:xfrm>
            <a:off x="804672" y="5532120"/>
            <a:ext cx="10561320" cy="530352"/>
          </a:xfrm>
          <a:prstGeom prst="roundRect">
            <a:avLst/>
          </a:prstGeom>
          <a:solidFill>
            <a:srgbClr val="FFFFFF"/>
          </a:solidFill>
          <a:ln>
            <a:solidFill>
              <a:srgbClr val="224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224AF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Aesthetic Critique and Golden-ratio Heuristics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149</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Hierarchy</a:t>
            </a:r>
          </a:p>
        </p:txBody>
      </p:sp>
      <p:sp>
        <p:nvSpPr>
          <p:cNvPr id="16" name="Rounded Rectangle 15"/>
          <p:cNvSpPr/>
          <p:nvPr/>
        </p:nvSpPr>
        <p:spPr>
          <a:xfrm>
            <a:off x="896112" y="3099816"/>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balance</a:t>
            </a:r>
          </a:p>
        </p:txBody>
      </p:sp>
      <p:sp>
        <p:nvSpPr>
          <p:cNvPr id="19" name="Rounded Rectangle 18"/>
          <p:cNvSpPr/>
          <p:nvPr/>
        </p:nvSpPr>
        <p:spPr>
          <a:xfrm>
            <a:off x="896112" y="3685032"/>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rhythm</a:t>
            </a:r>
          </a:p>
        </p:txBody>
      </p:sp>
      <p:sp>
        <p:nvSpPr>
          <p:cNvPr id="22" name="Rounded Rectangle 21"/>
          <p:cNvSpPr/>
          <p:nvPr/>
        </p:nvSpPr>
        <p:spPr>
          <a:xfrm>
            <a:off x="896112" y="4270248"/>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focal placement</a:t>
            </a:r>
          </a:p>
        </p:txBody>
      </p:sp>
      <p:sp>
        <p:nvSpPr>
          <p:cNvPr id="25" name="Rounded Rectangle 24"/>
          <p:cNvSpPr/>
          <p:nvPr/>
        </p:nvSpPr>
        <p:spPr>
          <a:xfrm>
            <a:off x="896112" y="4855464"/>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audience fit</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B8D9"/>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Critique separates description, interpretation, evaluation and recommendation; compositional heuristics are prompts for judgement, not guarantees.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B8D9"/>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criterion-based critique identifies evidence, impact and one testable change.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Diagnostic · Aesthetic Critique and Golden-ratio Heuristics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150</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Treating a grid or ratio as proof of quality.</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Hierarchy · balance · rhythm · focal placement · audience fit · technical finish.</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criterion-based critique identifies evidence, impact and one testable change.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11D74"/>
                </a:solidFill>
                <a:latin typeface="Arial"/>
              </a:rPr>
              <a:t>Accept only when the defect is reduced and protected content remains intact.</a:t>
            </a:r>
          </a:p>
        </p:txBody>
      </p:sp>
    </p:spTree>
  </p:cSld>
  <p:transition spd="med" advClick="1">
    <p:fade/>
  </p:transition>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3</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05 · Generative Fill: Directed Inpainting</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151</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refly_a robot dancing at a party 830052.jpg"/>
          <p:cNvPicPr>
            <a:picLocks noChangeAspect="1"/>
          </p:cNvPicPr>
          <p:nvPr/>
        </p:nvPicPr>
        <p:blipFill>
          <a:blip r:embed="rId2"/>
          <a:srcRect l="573" r="573"/>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An editorial wildlife visual needs a plausible environmental detail without damaging the original subject.</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Use a controlled selection and Generative Fill to add, replace and remove content non-destructively.</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PSD, selected variations, final JPEG and zoomed edge/Layers-panel evidence.</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05</a:t>
            </a:r>
          </a:p>
        </p:txBody>
      </p:sp>
    </p:spTree>
  </p:cSld>
  <p:transition spd="med" advClick="1">
    <p:fade/>
  </p:transition>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3</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06 · Background Replacement and Harmonize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152</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rk bench.jpg"/>
          <p:cNvPicPr>
            <a:picLocks noChangeAspect="1"/>
          </p:cNvPicPr>
          <p:nvPr/>
        </p:nvPicPr>
        <p:blipFill>
          <a:blip r:embed="rId2"/>
          <a:srcRect t="18274" b="18274"/>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portrait must be adapted into an outdoor campaign visual while remaining editable.</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Generate a new background, integrate a placed element and evaluate lighting, perspective and contact.</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PSD, final JPEG, before/after comparison and criterion-based integration note.</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06</a:t>
            </a:r>
          </a:p>
        </p:txBody>
      </p:sp>
    </p:spTree>
  </p:cSld>
  <p:transition spd="med" advClick="1">
    <p:fade/>
  </p:transition>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3</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07 · Generative Expand for Channel Ratios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153</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andscape-start.jpeg"/>
          <p:cNvPicPr>
            <a:picLocks noChangeAspect="1"/>
          </p:cNvPicPr>
          <p:nvPr/>
        </p:nvPicPr>
        <p:blipFill>
          <a:blip r:embed="rId2"/>
          <a:srcRect l="14385" r="14385"/>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campaign hero must work across social, presentation and mobile-story channels.</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Extend one master visual into square, landscape and portrait variants without losing hierarchy.</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Master PSD plus three channel JPEGs and a ratio-by-ratio verification checklist.</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07</a:t>
            </a:r>
          </a:p>
        </p:txBody>
      </p:sp>
    </p:spTree>
  </p:cSld>
  <p:transition spd="med" advClick="1">
    <p:fade/>
  </p:transition>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3</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Lab 08 · Reference Image and Multi-Prompt Composition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154</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erence.jpeg"/>
          <p:cNvPicPr>
            <a:picLocks noChangeAspect="1"/>
          </p:cNvPicPr>
          <p:nvPr/>
        </p:nvPicPr>
        <p:blipFill>
          <a:blip r:embed="rId2"/>
          <a:srcRect t="582" b="582"/>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 fashion visual requires an altered garment treatment that follows a supplied material reference.</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Use a permitted reference image and staged selections to construct a coherent multi-element composition.</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reference-guided PSD, final JPEG, rights note and four-part critique with revision.</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08</a:t>
            </a:r>
          </a:p>
        </p:txBody>
      </p:sp>
    </p:spTree>
  </p:cSld>
  <p:transition spd="med" advClick="1">
    <p:fade/>
  </p:transition>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EXPLAIN THE DECISION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Topic 3 Checkpoint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155</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Purpose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does the audience need to notice?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Method</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Why does this technique fit the content and edge?</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Control</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setting most changes the outcome?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Failure</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defect would make the result unacceptable?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Proof</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view and evidence demonstrate quality?</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Next</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controlled variation would improve the result?</a:t>
            </a:r>
          </a:p>
        </p:txBody>
      </p:sp>
    </p:spTree>
  </p:cSld>
  <p:transition spd="med" advClick="1">
    <p:fade/>
  </p:transition>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02920"/>
            <a:ext cx="1143000" cy="11430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04672"/>
            <a:ext cx="1143000" cy="320040"/>
          </a:xfrm>
          <a:prstGeom prst="rect">
            <a:avLst/>
          </a:prstGeom>
          <a:noFill/>
        </p:spPr>
        <p:txBody>
          <a:bodyPr wrap="square" anchor="t" lIns="54864" rIns="54864" tIns="54864" bIns="54864">
            <a:spAutoFit/>
          </a:bodyPr>
          <a:lstStyle/>
          <a:p>
            <a:pPr algn="ctr">
              <a:spcAft>
                <a:spcPts val="0"/>
              </a:spcAft>
            </a:pPr>
            <a:r>
              <a:rPr sz="2200" b="1">
                <a:solidFill>
                  <a:srgbClr val="FFFFFF"/>
                </a:solidFill>
                <a:latin typeface="Arial"/>
              </a:rPr>
              <a:t>04</a:t>
            </a:r>
          </a:p>
        </p:txBody>
      </p:sp>
      <p:sp>
        <p:nvSpPr>
          <p:cNvPr id="5" name="TextBox 4"/>
          <p:cNvSpPr txBox="1"/>
          <p:nvPr/>
        </p:nvSpPr>
        <p:spPr>
          <a:xfrm>
            <a:off x="685800" y="1920240"/>
            <a:ext cx="10881360" cy="1097280"/>
          </a:xfrm>
          <a:prstGeom prst="rect">
            <a:avLst/>
          </a:prstGeom>
          <a:noFill/>
        </p:spPr>
        <p:txBody>
          <a:bodyPr wrap="square" anchor="t" lIns="54864" rIns="54864" tIns="54864" bIns="54864">
            <a:spAutoFit/>
          </a:bodyPr>
          <a:lstStyle/>
          <a:p>
            <a:pPr algn="l">
              <a:spcAft>
                <a:spcPts val="0"/>
              </a:spcAft>
            </a:pPr>
            <a:r>
              <a:rPr sz="3800" b="1">
                <a:solidFill>
                  <a:srgbClr val="FFFFFF"/>
                </a:solidFill>
                <a:latin typeface="Arial"/>
              </a:rPr>
              <a:t>Colour Strategy, Enhancement and Delivery</a:t>
            </a:r>
          </a:p>
        </p:txBody>
      </p:sp>
      <p:sp>
        <p:nvSpPr>
          <p:cNvPr id="6" name="TextBox 5"/>
          <p:cNvSpPr txBox="1"/>
          <p:nvPr/>
        </p:nvSpPr>
        <p:spPr>
          <a:xfrm>
            <a:off x="713232" y="3246120"/>
            <a:ext cx="10241280" cy="777240"/>
          </a:xfrm>
          <a:prstGeom prst="rect">
            <a:avLst/>
          </a:prstGeom>
          <a:noFill/>
        </p:spPr>
        <p:txBody>
          <a:bodyPr wrap="square" anchor="t" lIns="54864" rIns="54864" tIns="54864" bIns="54864">
            <a:spAutoFit/>
          </a:bodyPr>
          <a:lstStyle/>
          <a:p>
            <a:pPr algn="l">
              <a:spcAft>
                <a:spcPts val="0"/>
              </a:spcAft>
            </a:pPr>
            <a:r>
              <a:rPr sz="1800" b="0">
                <a:solidFill>
                  <a:srgbClr val="C8CFDA"/>
                </a:solidFill>
                <a:latin typeface="Arial"/>
              </a:rPr>
              <a:t>Build a coherent palette, preserve editability and verify the delivered visual.</a:t>
            </a:r>
          </a:p>
        </p:txBody>
      </p:sp>
      <p:sp>
        <p:nvSpPr>
          <p:cNvPr id="7" name="TextBox 6"/>
          <p:cNvSpPr txBox="1"/>
          <p:nvPr/>
        </p:nvSpPr>
        <p:spPr>
          <a:xfrm>
            <a:off x="713232" y="5349240"/>
            <a:ext cx="5943600" cy="320040"/>
          </a:xfrm>
          <a:prstGeom prst="rect">
            <a:avLst/>
          </a:prstGeom>
          <a:noFill/>
        </p:spPr>
        <p:txBody>
          <a:bodyPr wrap="square" anchor="t" lIns="54864" rIns="54864" tIns="54864" bIns="54864">
            <a:spAutoFit/>
          </a:bodyPr>
          <a:lstStyle/>
          <a:p>
            <a:pPr algn="l">
              <a:spcAft>
                <a:spcPts val="0"/>
              </a:spcAft>
            </a:pPr>
            <a:r>
              <a:rPr sz="1400" b="1">
                <a:solidFill>
                  <a:srgbClr val="00B8D9"/>
                </a:solidFill>
                <a:latin typeface="Arial"/>
              </a:rPr>
              <a:t>LO4 · K4 · K5 · A7</a:t>
            </a:r>
          </a:p>
        </p:txBody>
      </p:sp>
      <p:sp>
        <p:nvSpPr>
          <p:cNvPr id="8" name="TextBox 7"/>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D7DEE9"/>
                </a:solidFill>
                <a:latin typeface="Arial"/>
              </a:rPr>
              <a:t>Generative-AI-Visuals-in-Photoshop-and-Firefly  ·  TGS-2024045220</a:t>
            </a:r>
          </a:p>
        </p:txBody>
      </p:sp>
      <p:sp>
        <p:nvSpPr>
          <p:cNvPr id="9" name="TextBox 8"/>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D7DEE9"/>
                </a:solidFill>
                <a:latin typeface="Arial"/>
              </a:rPr>
              <a:t>© 2026 Tertiary Infotech Academy Pte Ltd</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D7DEE9"/>
                </a:solidFill>
                <a:latin typeface="Arial"/>
              </a:rPr>
              <a:t>156</a:t>
            </a:r>
          </a:p>
        </p:txBody>
      </p:sp>
    </p:spTree>
  </p:cSld>
  <p:transition spd="med" advClick="1">
    <p:fade/>
  </p:transition>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EDITABLE PALETTE-WEIGHTING CHART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Campaign Colour Roles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157</a:t>
            </a:r>
          </a:p>
        </p:txBody>
      </p:sp>
      <p:graphicFrame>
        <p:nvGraphicFramePr>
          <p:cNvPr id="10" name="Chart 9"/>
          <p:cNvGraphicFramePr>
            <a:graphicFrameLocks noGrp="1"/>
          </p:cNvGraphicFramePr>
          <p:nvPr/>
        </p:nvGraphicFramePr>
        <p:xfrm>
          <a:off x="749808" y="1783080"/>
          <a:ext cx="736092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8394192" y="1874519"/>
            <a:ext cx="297180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8512" y="2148840"/>
            <a:ext cx="2423160"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READ THE CHART</a:t>
            </a:r>
          </a:p>
        </p:txBody>
      </p:sp>
      <p:sp>
        <p:nvSpPr>
          <p:cNvPr id="13" name="TextBox 12"/>
          <p:cNvSpPr txBox="1"/>
          <p:nvPr/>
        </p:nvSpPr>
        <p:spPr>
          <a:xfrm>
            <a:off x="8668512" y="2770632"/>
            <a:ext cx="2423160" cy="2057400"/>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Illustrative shares keep the primary colour dominant while secondary, accent and neutral roles support hierarchy rather than compete with it.</a:t>
            </a:r>
          </a:p>
        </p:txBody>
      </p:sp>
      <p:sp>
        <p:nvSpPr>
          <p:cNvPr id="14" name="TextBox 13"/>
          <p:cNvSpPr txBox="1"/>
          <p:nvPr/>
        </p:nvSpPr>
        <p:spPr>
          <a:xfrm>
            <a:off x="8668512" y="5074920"/>
            <a:ext cx="2423160" cy="256032"/>
          </a:xfrm>
          <a:prstGeom prst="rect">
            <a:avLst/>
          </a:prstGeom>
          <a:noFill/>
        </p:spPr>
        <p:txBody>
          <a:bodyPr wrap="square" anchor="t" lIns="54864" rIns="54864" tIns="54864" bIns="54864">
            <a:spAutoFit/>
          </a:bodyPr>
          <a:lstStyle/>
          <a:p>
            <a:pPr algn="l">
              <a:spcAft>
                <a:spcPts val="0"/>
              </a:spcAft>
            </a:pPr>
            <a:r>
              <a:rPr sz="900" b="0">
                <a:solidFill>
                  <a:srgbClr val="5B6372"/>
                </a:solidFill>
                <a:latin typeface="Arial"/>
              </a:rPr>
              <a:t>Editable native PowerPoint chart</a:t>
            </a:r>
          </a:p>
        </p:txBody>
      </p:sp>
    </p:spTree>
  </p:cSld>
  <p:transition spd="med" advClick="1">
    <p:fade/>
  </p:transition>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EDITABLE QA CHART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Output Verification Priority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158</a:t>
            </a:r>
          </a:p>
        </p:txBody>
      </p:sp>
      <p:graphicFrame>
        <p:nvGraphicFramePr>
          <p:cNvPr id="10" name="Chart 9"/>
          <p:cNvGraphicFramePr>
            <a:graphicFrameLocks noGrp="1"/>
          </p:cNvGraphicFramePr>
          <p:nvPr/>
        </p:nvGraphicFramePr>
        <p:xfrm>
          <a:off x="749808" y="1783080"/>
          <a:ext cx="736092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8394192" y="1874519"/>
            <a:ext cx="2971800" cy="361188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8512" y="2148840"/>
            <a:ext cx="2423160"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READ THE CHART</a:t>
            </a:r>
          </a:p>
        </p:txBody>
      </p:sp>
      <p:sp>
        <p:nvSpPr>
          <p:cNvPr id="13" name="TextBox 12"/>
          <p:cNvSpPr txBox="1"/>
          <p:nvPr/>
        </p:nvSpPr>
        <p:spPr>
          <a:xfrm>
            <a:off x="8668512" y="2770632"/>
            <a:ext cx="2423160" cy="2057400"/>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A professional hand-off verifies the exported file and its provenance—not only the layered working canvas.</a:t>
            </a:r>
          </a:p>
        </p:txBody>
      </p:sp>
      <p:sp>
        <p:nvSpPr>
          <p:cNvPr id="14" name="TextBox 13"/>
          <p:cNvSpPr txBox="1"/>
          <p:nvPr/>
        </p:nvSpPr>
        <p:spPr>
          <a:xfrm>
            <a:off x="8668512" y="5074920"/>
            <a:ext cx="2423160" cy="256032"/>
          </a:xfrm>
          <a:prstGeom prst="rect">
            <a:avLst/>
          </a:prstGeom>
          <a:noFill/>
        </p:spPr>
        <p:txBody>
          <a:bodyPr wrap="square" anchor="t" lIns="54864" rIns="54864" tIns="54864" bIns="54864">
            <a:spAutoFit/>
          </a:bodyPr>
          <a:lstStyle/>
          <a:p>
            <a:pPr algn="l">
              <a:spcAft>
                <a:spcPts val="0"/>
              </a:spcAft>
            </a:pPr>
            <a:r>
              <a:rPr sz="900" b="0">
                <a:solidFill>
                  <a:srgbClr val="5B6372"/>
                </a:solidFill>
                <a:latin typeface="Arial"/>
              </a:rPr>
              <a:t>Editable native PowerPoint chart</a:t>
            </a:r>
          </a:p>
        </p:txBody>
      </p:sp>
    </p:spTree>
  </p:cSld>
  <p:transition spd="med" advClick="1">
    <p:fade/>
  </p:transition>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25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Hue, Saturation, Brightness and Value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159</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Hue identifies colour family, saturation its intensity, and value/brightness its light-dark position.</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Diagnosing palette and separation before choosing an adjustment.</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palette swatch and grayscale review support the colour decision.</a:t>
            </a:r>
          </a:p>
        </p:txBody>
      </p:sp>
    </p:spTree>
  </p:cSld>
  <p:transition spd="med" advClick="1">
    <p:fade/>
  </p:transition>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Hue, Saturation, Brightness and Value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160</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Hue relationship · saturation range · value contrast · skin/brand constraints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Increasing saturation when the problem is value separation.</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palette swatch and grayscale review support the colour decision.</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Hue, Saturation, Brightness and Value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161</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Diagnosing palette and separation before choosing an adjustment.</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Hue relationship · saturation range · value contrast · skin/brand constraints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Increasing saturation when the problem is value separation.</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palette swatch and grayscale review support the colour decision.</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Hue, Saturation, Brightness and Value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162</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Hue relationship</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saturation range</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value contrast</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skin/brand constraints</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Hue identifies colour family, saturation its intensity, and value/brightness its light-dark position.</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palette swatch and grayscale review support the colour decision.</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Hue, Saturation, Brightness and Value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163</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Increasing saturation when the problem is value separation.</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Hue relationship · saturation range · value contrast · skin/brand constraints.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palette swatch and grayscale review support the colour decision.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26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Adjustment Layers and Masks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Adjustment Layers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164</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Adjustment layers store tonal or colour changes separately; masks control where each adjustment applies.</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Reversible campaign colour work and local corrections.</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Named adjustment layers and masks remain editable in the PSD.</a:t>
            </a:r>
          </a:p>
        </p:txBody>
      </p:sp>
    </p:spTree>
  </p:cSld>
  <p:transition spd="med" advClick="1">
    <p:fade/>
  </p:transition>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Adjustment Layers and Masks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Adjustment Layers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165</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Adjustment type · layer order · mask density · blend mode · opacity</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Painting directly on the only copy or leaving masks unnamed.</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Named adjustment layers and masks remain editable in the PSD.</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Adjustment Layers and Masks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Adjustment Layers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166</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Reversible campaign colour work and local corrections.</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Adjustment type · layer order · mask density · blend mode · opacity</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Painting directly on the only copy or leaving masks unnamed.</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Named adjustment layers and masks remain editable in the PSD.</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Adjustment Layers and Masks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Adjustment Layers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167</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Adjustment type</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layer order</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mask density</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blend mode</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opacity</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Adjustment layers store tonal or colour changes separately; masks control where each adjustment applies.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Named adjustment layers and masks remain editable in the PSD.</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Adjustment Layers and Masks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Adjustment Layers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168</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Painting directly on the only copy or leaving masks unnamed.</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Adjustment type · layer order · mask density · blend mode · opacity.</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Named adjustment layers and masks remain editable in the PSD.</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CONCEPT 27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Histogram and Levels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169</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The histogram displays tonal distribution; Levels remaps black point, white point and midtones.</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Correcting global tonal range and identifying clipping.</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Before/after histograms and highlight/shadow checks show controlled range.</a:t>
            </a:r>
          </a:p>
        </p:txBody>
      </p:sp>
    </p:spTree>
  </p:cSld>
  <p:transition spd="med" advClick="1">
    <p:fade/>
  </p:transition>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Histogram and Levels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170</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Channel · black point · gamma · white point · output levels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Forcing every image to fill the histogram or clipping detail.</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Before/after histograms and highlight/shadow checks show controlled range.</a:t>
            </a:r>
          </a:p>
        </p:txBody>
      </p:sp>
      <p:sp>
        <p:nvSpPr>
          <p:cNvPr id="23" name="Rounded Rectangle 22"/>
          <p:cNvSpPr/>
          <p:nvPr/>
        </p:nvSpPr>
        <p:spPr>
          <a:xfrm>
            <a:off x="685800" y="5349240"/>
            <a:ext cx="10771632" cy="65836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Histogram and Levels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171</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Correcting global tonal range and identifying clipping.</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Channel · black point · gamma · white point · output levels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Forcing every image to fill the histogram or clipping detail.</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Before/after histograms and highlight/shadow checks show controlled range.</a:t>
            </a:r>
          </a:p>
        </p:txBody>
      </p:sp>
      <p:sp>
        <p:nvSpPr>
          <p:cNvPr id="30" name="Rounded Rectangle 29"/>
          <p:cNvSpPr/>
          <p:nvPr/>
        </p:nvSpPr>
        <p:spPr>
          <a:xfrm>
            <a:off x="804672" y="5532120"/>
            <a:ext cx="10561320" cy="530352"/>
          </a:xfrm>
          <a:prstGeom prst="roundRect">
            <a:avLst/>
          </a:prstGeom>
          <a:solidFill>
            <a:srgbClr val="FFFFFF"/>
          </a:solidFill>
          <a:ln>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7C3AED"/>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Histogram and Levels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172</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Channel</a:t>
            </a:r>
          </a:p>
        </p:txBody>
      </p:sp>
      <p:sp>
        <p:nvSpPr>
          <p:cNvPr id="16" name="Rounded Rectangle 15"/>
          <p:cNvSpPr/>
          <p:nvPr/>
        </p:nvSpPr>
        <p:spPr>
          <a:xfrm>
            <a:off x="896112" y="3099816"/>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black point</a:t>
            </a:r>
          </a:p>
        </p:txBody>
      </p:sp>
      <p:sp>
        <p:nvSpPr>
          <p:cNvPr id="19" name="Rounded Rectangle 18"/>
          <p:cNvSpPr/>
          <p:nvPr/>
        </p:nvSpPr>
        <p:spPr>
          <a:xfrm>
            <a:off x="896112" y="3685032"/>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gamma</a:t>
            </a:r>
          </a:p>
        </p:txBody>
      </p:sp>
      <p:sp>
        <p:nvSpPr>
          <p:cNvPr id="22" name="Rounded Rectangle 21"/>
          <p:cNvSpPr/>
          <p:nvPr/>
        </p:nvSpPr>
        <p:spPr>
          <a:xfrm>
            <a:off x="896112" y="4270248"/>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white point</a:t>
            </a:r>
          </a:p>
        </p:txBody>
      </p:sp>
      <p:sp>
        <p:nvSpPr>
          <p:cNvPr id="25" name="Rounded Rectangle 24"/>
          <p:cNvSpPr/>
          <p:nvPr/>
        </p:nvSpPr>
        <p:spPr>
          <a:xfrm>
            <a:off x="896112" y="4855464"/>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output levels</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9A78"/>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The histogram displays tonal distribution; Levels remaps black point, white point and midtones.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9A78"/>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Before/after histograms and highlight/shadow checks show controlled range.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Histogram and Levels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173</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Forcing every image to fill the histogram or clipping detail.</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Channel · black point · gamma · white point · output levels.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Before/after histograms and highlight/shadow checks show controlled range.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98500"/>
                </a:solidFill>
                <a:latin typeface="Arial"/>
              </a:rPr>
              <a:t>Accept only when the defect is reduced and protected content remains intact.</a:t>
            </a:r>
          </a:p>
        </p:txBody>
      </p:sp>
    </p:spTree>
  </p:cSld>
  <p:transition spd="med" advClick="1">
    <p:fade/>
  </p:transition>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CONCEPT 28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Curves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Curves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174</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Curves remaps input to output values with points that target overall tone or individual colour channels.</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Fine contrast shaping and colour-balance correction.</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labelled Curves layer and before/after comparison show the intended change.</a:t>
            </a:r>
          </a:p>
        </p:txBody>
      </p:sp>
    </p:spTree>
  </p:cSld>
  <p:transition spd="med" advClick="1">
    <p:fade/>
  </p:transition>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Curves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Curves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175</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Anchor points · slope · channel · mask · clipping preview</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Too many points, banding or unwanted colour casts.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labelled Curves layer and before/after comparison show the intended change.</a:t>
            </a:r>
          </a:p>
        </p:txBody>
      </p:sp>
      <p:sp>
        <p:nvSpPr>
          <p:cNvPr id="23" name="Rounded Rectangle 22"/>
          <p:cNvSpPr/>
          <p:nvPr/>
        </p:nvSpPr>
        <p:spPr>
          <a:xfrm>
            <a:off x="685800" y="5349240"/>
            <a:ext cx="10771632" cy="65836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Curves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Curves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176</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Fine contrast shaping and colour-balance correction.</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Anchor points · slope · channel · mask · clipping preview</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Too many points, banding or unwanted colour casts.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labelled Curves layer and before/after comparison show the intended change.</a:t>
            </a:r>
          </a:p>
        </p:txBody>
      </p:sp>
      <p:sp>
        <p:nvSpPr>
          <p:cNvPr id="30" name="Rounded Rectangle 29"/>
          <p:cNvSpPr/>
          <p:nvPr/>
        </p:nvSpPr>
        <p:spPr>
          <a:xfrm>
            <a:off x="804672" y="5532120"/>
            <a:ext cx="10561320" cy="530352"/>
          </a:xfrm>
          <a:prstGeom prst="roundRect">
            <a:avLst/>
          </a:prstGeom>
          <a:solidFill>
            <a:srgbClr val="FFFFFF"/>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9A78"/>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Annotated Decision Model · Curves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Curves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177</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Anchor points</a:t>
            </a:r>
          </a:p>
        </p:txBody>
      </p:sp>
      <p:sp>
        <p:nvSpPr>
          <p:cNvPr id="16" name="Rounded Rectangle 15"/>
          <p:cNvSpPr/>
          <p:nvPr/>
        </p:nvSpPr>
        <p:spPr>
          <a:xfrm>
            <a:off x="896112" y="3099816"/>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slope</a:t>
            </a:r>
          </a:p>
        </p:txBody>
      </p:sp>
      <p:sp>
        <p:nvSpPr>
          <p:cNvPr id="19" name="Rounded Rectangle 18"/>
          <p:cNvSpPr/>
          <p:nvPr/>
        </p:nvSpPr>
        <p:spPr>
          <a:xfrm>
            <a:off x="896112" y="3685032"/>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channel</a:t>
            </a:r>
          </a:p>
        </p:txBody>
      </p:sp>
      <p:sp>
        <p:nvSpPr>
          <p:cNvPr id="22" name="Rounded Rectangle 21"/>
          <p:cNvSpPr/>
          <p:nvPr/>
        </p:nvSpPr>
        <p:spPr>
          <a:xfrm>
            <a:off x="896112" y="4270248"/>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mask</a:t>
            </a:r>
          </a:p>
        </p:txBody>
      </p:sp>
      <p:sp>
        <p:nvSpPr>
          <p:cNvPr id="25" name="Rounded Rectangle 24"/>
          <p:cNvSpPr/>
          <p:nvPr/>
        </p:nvSpPr>
        <p:spPr>
          <a:xfrm>
            <a:off x="896112" y="4855464"/>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clipping preview</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98500"/>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Curves remaps input to output values with points that target overall tone or individual colour channels.</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98500"/>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labelled Curves layer and before/after comparison show the intended change.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Curves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Curves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178</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Too many points, banding or unwanted colour casts.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Anchor points · slope · channel · mask · clipping preview.</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labelled Curves layer and before/after comparison show the intended change.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224AF4"/>
                </a:solidFill>
                <a:latin typeface="Arial"/>
              </a:rPr>
              <a:t>Accept only when the defect is reduced and protected content remains intact.</a:t>
            </a:r>
          </a:p>
        </p:txBody>
      </p:sp>
    </p:spTree>
  </p:cSld>
  <p:transition spd="med" advClick="1">
    <p:fade/>
  </p:transition>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CONCEPT 29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Colour Balance and Hue/Saturation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179</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Colour Balance shifts tonal ranges toward complementary colours; Hue/Saturation targets hue families and intensity.</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Harmonising composite elements and establishing a campaign palette.</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Sampled swatches and targeted masks demonstrate controlled application.</a:t>
            </a:r>
          </a:p>
        </p:txBody>
      </p:sp>
    </p:spTree>
  </p:cSld>
  <p:transition spd="med" advClick="1">
    <p:fade/>
  </p:transition>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Colour Balance and Hue/Saturation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180</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Shadows/midtones/highlights · target colour range · saturation · mask</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Global shifts that damage skin tones, neutrals or brand colours.</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Sampled swatches and targeted masks demonstrate controlled application.</a:t>
            </a:r>
          </a:p>
        </p:txBody>
      </p:sp>
      <p:sp>
        <p:nvSpPr>
          <p:cNvPr id="23" name="Rounded Rectangle 22"/>
          <p:cNvSpPr/>
          <p:nvPr/>
        </p:nvSpPr>
        <p:spPr>
          <a:xfrm>
            <a:off x="685800" y="5349240"/>
            <a:ext cx="10771632" cy="65836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98500"/>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Colour Balance and Hue/Saturation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181</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Harmonising composite elements and establishing a campaign palette.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Shadows/midtones/highlights · target colour range · saturation · mask</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Global shifts that damage skin tones, neutrals or brand colours.</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Sampled swatches and targeted masks demonstrate controlled application.</a:t>
            </a:r>
          </a:p>
        </p:txBody>
      </p:sp>
      <p:sp>
        <p:nvSpPr>
          <p:cNvPr id="30" name="Rounded Rectangle 29"/>
          <p:cNvSpPr/>
          <p:nvPr/>
        </p:nvSpPr>
        <p:spPr>
          <a:xfrm>
            <a:off x="804672" y="5532120"/>
            <a:ext cx="10561320" cy="530352"/>
          </a:xfrm>
          <a:prstGeom prst="roundRect">
            <a:avLst/>
          </a:prstGeom>
          <a:solidFill>
            <a:srgbClr val="FFFFFF"/>
          </a:solidFill>
          <a:ln>
            <a:solidFill>
              <a:srgbClr val="E98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98500"/>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Colour Balance and Hue/Saturation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182</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Shadows/midtones/highlights</a:t>
            </a:r>
          </a:p>
        </p:txBody>
      </p:sp>
      <p:sp>
        <p:nvSpPr>
          <p:cNvPr id="16" name="Rounded Rectangle 15"/>
          <p:cNvSpPr/>
          <p:nvPr/>
        </p:nvSpPr>
        <p:spPr>
          <a:xfrm>
            <a:off x="896112" y="3099816"/>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target colour range</a:t>
            </a:r>
          </a:p>
        </p:txBody>
      </p:sp>
      <p:sp>
        <p:nvSpPr>
          <p:cNvPr id="19" name="Rounded Rectangle 18"/>
          <p:cNvSpPr/>
          <p:nvPr/>
        </p:nvSpPr>
        <p:spPr>
          <a:xfrm>
            <a:off x="896112" y="3685032"/>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saturation</a:t>
            </a:r>
          </a:p>
        </p:txBody>
      </p:sp>
      <p:sp>
        <p:nvSpPr>
          <p:cNvPr id="22" name="Rounded Rectangle 21"/>
          <p:cNvSpPr/>
          <p:nvPr/>
        </p:nvSpPr>
        <p:spPr>
          <a:xfrm>
            <a:off x="896112" y="4270248"/>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mask</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224AF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Colour Balance shifts tonal ranges toward complementary colours; Hue/Saturation targets hue families and intensity.</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224AF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Sampled swatches and targeted masks demonstrate controlled application.</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Colour Balance and Hue/Saturation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Photoshop Help</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183</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Global shifts that damage skin tones, neutrals or brand colours.</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Shadows/midtones/highlights · target colour range · saturation · mask.</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Sampled swatches and targeted masks demonstrate controlled application.</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B8D9"/>
                </a:solidFill>
                <a:latin typeface="Arial"/>
              </a:rPr>
              <a:t>Accept only when the defect is reduced and protected content remains intact.</a:t>
            </a:r>
          </a:p>
        </p:txBody>
      </p:sp>
    </p:spTree>
  </p:cSld>
  <p:transition spd="med" advClick="1">
    <p:fade/>
  </p:transition>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CONCEPT 30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Neural Filters and Restoration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Neural Filters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184</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Neural Filters provide AI-assisted transformations that can output to a new layer for further review.</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Restoration, colourisation and portrait enhancement where source evidence is incomplete.</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Original, AI output and manual corrections remain separately reviewable.</a:t>
            </a:r>
          </a:p>
        </p:txBody>
      </p:sp>
    </p:spTree>
  </p:cSld>
  <p:transition spd="med" advClick="1">
    <p:fade/>
  </p:transition>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Neural Filters and Restoration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Neural Filters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185</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Filter model · strength · output method · local cleanup · review</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Invented detail, identity changes or treating an AI result as historical fact.</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Original, AI output and manual corrections remain separately reviewable.</a:t>
            </a:r>
          </a:p>
        </p:txBody>
      </p:sp>
      <p:sp>
        <p:nvSpPr>
          <p:cNvPr id="23" name="Rounded Rectangle 22"/>
          <p:cNvSpPr/>
          <p:nvPr/>
        </p:nvSpPr>
        <p:spPr>
          <a:xfrm>
            <a:off x="685800" y="5349240"/>
            <a:ext cx="10771632" cy="65836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Neural Filters and Restoration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Neural Filters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186</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Restoration, colourisation and portrait enhancement where source evidence is incomplete.</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Filter model · strength · output method · local cleanup · review</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Invented detail, identity changes or treating an AI result as historical fact.</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Original, AI output and manual corrections remain separately reviewable.</a:t>
            </a:r>
          </a:p>
        </p:txBody>
      </p:sp>
      <p:sp>
        <p:nvSpPr>
          <p:cNvPr id="30" name="Rounded Rectangle 29"/>
          <p:cNvSpPr/>
          <p:nvPr/>
        </p:nvSpPr>
        <p:spPr>
          <a:xfrm>
            <a:off x="804672" y="5532120"/>
            <a:ext cx="10561320" cy="530352"/>
          </a:xfrm>
          <a:prstGeom prst="roundRect">
            <a:avLst/>
          </a:prstGeom>
          <a:solidFill>
            <a:srgbClr val="FFFFFF"/>
          </a:solidFill>
          <a:ln>
            <a:solidFill>
              <a:srgbClr val="224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224AF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Neural Filters and Restoration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Neural Filters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187</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Filter model</a:t>
            </a:r>
          </a:p>
        </p:txBody>
      </p:sp>
      <p:sp>
        <p:nvSpPr>
          <p:cNvPr id="16" name="Rounded Rectangle 15"/>
          <p:cNvSpPr/>
          <p:nvPr/>
        </p:nvSpPr>
        <p:spPr>
          <a:xfrm>
            <a:off x="896112" y="3099816"/>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strength</a:t>
            </a:r>
          </a:p>
        </p:txBody>
      </p:sp>
      <p:sp>
        <p:nvSpPr>
          <p:cNvPr id="19" name="Rounded Rectangle 18"/>
          <p:cNvSpPr/>
          <p:nvPr/>
        </p:nvSpPr>
        <p:spPr>
          <a:xfrm>
            <a:off x="896112" y="3685032"/>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output method</a:t>
            </a:r>
          </a:p>
        </p:txBody>
      </p:sp>
      <p:sp>
        <p:nvSpPr>
          <p:cNvPr id="22" name="Rounded Rectangle 21"/>
          <p:cNvSpPr/>
          <p:nvPr/>
        </p:nvSpPr>
        <p:spPr>
          <a:xfrm>
            <a:off x="896112" y="4270248"/>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local cleanup</a:t>
            </a:r>
          </a:p>
        </p:txBody>
      </p:sp>
      <p:sp>
        <p:nvSpPr>
          <p:cNvPr id="25" name="Rounded Rectangle 24"/>
          <p:cNvSpPr/>
          <p:nvPr/>
        </p:nvSpPr>
        <p:spPr>
          <a:xfrm>
            <a:off x="896112" y="4855464"/>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review</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00B8D9"/>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Neural Filters provide AI-assisted transformations that can output to a new layer for further review.</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00B8D9"/>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Original, AI output and manual corrections remain separately reviewable.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Neural Filters and Restoration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Neural Filters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188</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Invented detail, identity changes or treating an AI result as historical fact.</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Filter model · strength · output method · local cleanup · review.</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Original, AI output and manual corrections remain separately reviewable.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E11D74"/>
                </a:solidFill>
                <a:latin typeface="Arial"/>
              </a:rPr>
              <a:t>Accept only when the defect is reduced and protected content remains intact.</a:t>
            </a:r>
          </a:p>
        </p:txBody>
      </p:sp>
    </p:spTree>
  </p:cSld>
  <p:transition spd="med" advClick="1">
    <p:fade/>
  </p:transition>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CONCEPT 31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Campaign Colour Consistency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189</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campaign palette combines role-based colours, contrast targets and adjustment recipes across assets.</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Keeping storyboard, social and poster outputs recognisably related.</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 palette sheet and three channel exports show consistent roles.</a:t>
            </a:r>
          </a:p>
        </p:txBody>
      </p:sp>
    </p:spTree>
  </p:cSld>
  <p:transition spd="med" advClick="1">
    <p:fade/>
  </p:transition>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Campaign Colour Consistency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190</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Primary/secondary/accent roles · value range · accessibility · export profile</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Matching hex values while ignoring surrounding colour and output profile.</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 palette sheet and three channel exports show consistent roles.</a:t>
            </a:r>
          </a:p>
        </p:txBody>
      </p:sp>
      <p:sp>
        <p:nvSpPr>
          <p:cNvPr id="23" name="Rounded Rectangle 22"/>
          <p:cNvSpPr/>
          <p:nvPr/>
        </p:nvSpPr>
        <p:spPr>
          <a:xfrm>
            <a:off x="685800" y="5349240"/>
            <a:ext cx="10771632"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Worked Artifact · Campaign Colour Consistency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191</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B8D9"/>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Keeping storyboard, social and poster outputs recognisably related.</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Primary/secondary/accent roles · value range · accessibility · export profile</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Matching hex values while ignoring surrounding colour and output profile.</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 palette sheet and three channel exports show consistent roles.</a:t>
            </a:r>
          </a:p>
        </p:txBody>
      </p:sp>
      <p:sp>
        <p:nvSpPr>
          <p:cNvPr id="30" name="Rounded Rectangle 29"/>
          <p:cNvSpPr/>
          <p:nvPr/>
        </p:nvSpPr>
        <p:spPr>
          <a:xfrm>
            <a:off x="804672" y="5532120"/>
            <a:ext cx="10561320" cy="530352"/>
          </a:xfrm>
          <a:prstGeom prst="roundRect">
            <a:avLst/>
          </a:prstGeom>
          <a:solidFill>
            <a:srgbClr val="FFFFFF"/>
          </a:solidFill>
          <a:ln>
            <a:solidFill>
              <a:srgbClr val="00B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00B8D9"/>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Campaign Colour Consistency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192</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Primary/secondary/accent roles</a:t>
            </a:r>
          </a:p>
        </p:txBody>
      </p:sp>
      <p:sp>
        <p:nvSpPr>
          <p:cNvPr id="16" name="Rounded Rectangle 15"/>
          <p:cNvSpPr/>
          <p:nvPr/>
        </p:nvSpPr>
        <p:spPr>
          <a:xfrm>
            <a:off x="896112" y="3099816"/>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value range</a:t>
            </a:r>
          </a:p>
        </p:txBody>
      </p:sp>
      <p:sp>
        <p:nvSpPr>
          <p:cNvPr id="19" name="Rounded Rectangle 18"/>
          <p:cNvSpPr/>
          <p:nvPr/>
        </p:nvSpPr>
        <p:spPr>
          <a:xfrm>
            <a:off x="896112" y="3685032"/>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accessibility</a:t>
            </a:r>
          </a:p>
        </p:txBody>
      </p:sp>
      <p:sp>
        <p:nvSpPr>
          <p:cNvPr id="22" name="Rounded Rectangle 21"/>
          <p:cNvSpPr/>
          <p:nvPr/>
        </p:nvSpPr>
        <p:spPr>
          <a:xfrm>
            <a:off x="896112" y="4270248"/>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export profile</a:t>
            </a:r>
          </a:p>
        </p:txBody>
      </p:sp>
      <p:sp>
        <p:nvSpPr>
          <p:cNvPr id="25" name="Rounded Rectangle 24"/>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E11D74"/>
                </a:solidFill>
                <a:latin typeface="Arial"/>
              </a:rPr>
              <a:t>EDITABLE CANVAS / OUTPUT STATE</a:t>
            </a:r>
          </a:p>
        </p:txBody>
      </p:sp>
      <p:sp>
        <p:nvSpPr>
          <p:cNvPr id="28" name="TextBox 27"/>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A campaign palette combines role-based colours, contrast targets and adjustment recipes across assets.</a:t>
            </a:r>
          </a:p>
        </p:txBody>
      </p:sp>
      <p:sp>
        <p:nvSpPr>
          <p:cNvPr id="29" name="Rounded Rectangle 28"/>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1" name="Rounded Rectangle 30"/>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E11D74"/>
                </a:solidFill>
                <a:latin typeface="Arial"/>
              </a:rPr>
              <a:t>PROOF PANEL</a:t>
            </a:r>
          </a:p>
        </p:txBody>
      </p:sp>
      <p:sp>
        <p:nvSpPr>
          <p:cNvPr id="33" name="TextBox 32"/>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A palette sheet and three channel exports show consistent roles.</a:t>
            </a:r>
          </a:p>
        </p:txBody>
      </p:sp>
      <p:sp>
        <p:nvSpPr>
          <p:cNvPr id="34" name="TextBox 33"/>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Diagnostic · Campaign Colour Consistency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Legacy trainer slides v6</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193</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Matching hex values while ignoring surrounding colour and output profile.</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Primary/secondary/accent roles · value range · accessibility · export profile.</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A palette sheet and three channel exports show consistent roles.</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7C3AED"/>
                </a:solidFill>
                <a:latin typeface="Arial"/>
              </a:rPr>
              <a:t>Accept only when the defect is reduced and protected content remains intact.</a:t>
            </a:r>
          </a:p>
        </p:txBody>
      </p:sp>
    </p:spTree>
  </p:cSld>
  <p:transition spd="med" advClick="1">
    <p:fade/>
  </p:transition>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CONCEPT 32 · HOW IT WORKS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Output Verification and Content Credentials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194</a:t>
            </a:r>
          </a:p>
        </p:txBody>
      </p:sp>
      <p:sp>
        <p:nvSpPr>
          <p:cNvPr id="11" name="Rounded Rectangle 10"/>
          <p:cNvSpPr/>
          <p:nvPr/>
        </p:nvSpPr>
        <p:spPr>
          <a:xfrm>
            <a:off x="685800"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How it works</a:t>
            </a:r>
          </a:p>
        </p:txBody>
      </p:sp>
      <p:sp>
        <p:nvSpPr>
          <p:cNvPr id="14" name="TextBox 13"/>
          <p:cNvSpPr txBox="1"/>
          <p:nvPr/>
        </p:nvSpPr>
        <p:spPr>
          <a:xfrm>
            <a:off x="905256"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Professional delivery includes export settings, reopen checks, provenance and a retained editable master.</a:t>
            </a:r>
          </a:p>
        </p:txBody>
      </p:sp>
      <p:sp>
        <p:nvSpPr>
          <p:cNvPr id="15" name="Rounded Rectangle 14"/>
          <p:cNvSpPr/>
          <p:nvPr/>
        </p:nvSpPr>
        <p:spPr>
          <a:xfrm>
            <a:off x="6181344" y="1755648"/>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56816"/>
            <a:ext cx="4892040"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Best used for</a:t>
            </a:r>
          </a:p>
        </p:txBody>
      </p:sp>
      <p:sp>
        <p:nvSpPr>
          <p:cNvPr id="18" name="TextBox 17"/>
          <p:cNvSpPr txBox="1"/>
          <p:nvPr/>
        </p:nvSpPr>
        <p:spPr>
          <a:xfrm>
            <a:off x="6400800" y="2414015"/>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Hand-off to stakeholders, publication and audit-ready delivery.</a:t>
            </a:r>
          </a:p>
        </p:txBody>
      </p:sp>
      <p:sp>
        <p:nvSpPr>
          <p:cNvPr id="19" name="Rounded Rectangle 18"/>
          <p:cNvSpPr/>
          <p:nvPr/>
        </p:nvSpPr>
        <p:spPr>
          <a:xfrm>
            <a:off x="685800"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078224"/>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Professional decision</a:t>
            </a:r>
          </a:p>
        </p:txBody>
      </p:sp>
      <p:sp>
        <p:nvSpPr>
          <p:cNvPr id="22" name="TextBox 21"/>
          <p:cNvSpPr txBox="1"/>
          <p:nvPr/>
        </p:nvSpPr>
        <p:spPr>
          <a:xfrm>
            <a:off x="905256"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this method when its content model and edge behaviour fit the brief.</a:t>
            </a:r>
          </a:p>
        </p:txBody>
      </p:sp>
      <p:sp>
        <p:nvSpPr>
          <p:cNvPr id="23" name="Rounded Rectangle 22"/>
          <p:cNvSpPr/>
          <p:nvPr/>
        </p:nvSpPr>
        <p:spPr>
          <a:xfrm>
            <a:off x="6181344" y="4078224"/>
            <a:ext cx="5294376"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81344"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279392"/>
            <a:ext cx="4892040"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Quality signal</a:t>
            </a:r>
          </a:p>
        </p:txBody>
      </p:sp>
      <p:sp>
        <p:nvSpPr>
          <p:cNvPr id="26" name="TextBox 25"/>
          <p:cNvSpPr txBox="1"/>
          <p:nvPr/>
        </p:nvSpPr>
        <p:spPr>
          <a:xfrm>
            <a:off x="6400800" y="4736592"/>
            <a:ext cx="4892040"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PSD, verified JPEG and provenance/read-me record form one evidence package.</a:t>
            </a:r>
          </a:p>
        </p:txBody>
      </p:sp>
    </p:spTree>
  </p:cSld>
  <p:transition spd="med" advClick="1">
    <p:fade/>
  </p:transition>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KEY CONTROLS · FAILURE MODE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Output Verification and Content Credentials · control and judgement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195</a:t>
            </a:r>
          </a:p>
        </p:txBody>
      </p:sp>
      <p:sp>
        <p:nvSpPr>
          <p:cNvPr id="11" name="Rounded Rectangle 10"/>
          <p:cNvSpPr/>
          <p:nvPr/>
        </p:nvSpPr>
        <p:spPr>
          <a:xfrm>
            <a:off x="6858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828800"/>
            <a:ext cx="3456432" cy="10972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224AF4"/>
                </a:solidFill>
                <a:latin typeface="Arial"/>
              </a:rPr>
              <a:t>CONTROL MAP</a:t>
            </a:r>
          </a:p>
        </p:txBody>
      </p:sp>
      <p:sp>
        <p:nvSpPr>
          <p:cNvPr id="14" name="TextBox 13"/>
          <p:cNvSpPr txBox="1"/>
          <p:nvPr/>
        </p:nvSpPr>
        <p:spPr>
          <a:xfrm>
            <a:off x="9235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Format · dimensions · profile · compression · metadata · Content Credentials</a:t>
            </a:r>
          </a:p>
        </p:txBody>
      </p:sp>
      <p:sp>
        <p:nvSpPr>
          <p:cNvPr id="15" name="Rounded Rectangle 14"/>
          <p:cNvSpPr/>
          <p:nvPr/>
        </p:nvSpPr>
        <p:spPr>
          <a:xfrm>
            <a:off x="43434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828800"/>
            <a:ext cx="3456432"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WATCH FOR</a:t>
            </a:r>
          </a:p>
        </p:txBody>
      </p:sp>
      <p:sp>
        <p:nvSpPr>
          <p:cNvPr id="18" name="TextBox 17"/>
          <p:cNvSpPr txBox="1"/>
          <p:nvPr/>
        </p:nvSpPr>
        <p:spPr>
          <a:xfrm>
            <a:off x="45811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Assuming an exported file is correct without reopening it.</a:t>
            </a:r>
          </a:p>
        </p:txBody>
      </p:sp>
      <p:sp>
        <p:nvSpPr>
          <p:cNvPr id="19" name="Rounded Rectangle 18"/>
          <p:cNvSpPr/>
          <p:nvPr/>
        </p:nvSpPr>
        <p:spPr>
          <a:xfrm>
            <a:off x="8001000" y="1828800"/>
            <a:ext cx="3456432" cy="32461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01000" y="1828800"/>
            <a:ext cx="3456432"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148840"/>
            <a:ext cx="2944368" cy="32004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QUALITY PROOF</a:t>
            </a:r>
          </a:p>
        </p:txBody>
      </p:sp>
      <p:sp>
        <p:nvSpPr>
          <p:cNvPr id="22" name="TextBox 21"/>
          <p:cNvSpPr txBox="1"/>
          <p:nvPr/>
        </p:nvSpPr>
        <p:spPr>
          <a:xfrm>
            <a:off x="8238744" y="2697480"/>
            <a:ext cx="2944368" cy="1965960"/>
          </a:xfrm>
          <a:prstGeom prst="rect">
            <a:avLst/>
          </a:prstGeom>
          <a:noFill/>
        </p:spPr>
        <p:txBody>
          <a:bodyPr wrap="square" anchor="t" lIns="54864" rIns="54864" tIns="54864" bIns="54864">
            <a:spAutoFit/>
          </a:bodyPr>
          <a:lstStyle/>
          <a:p>
            <a:pPr algn="l">
              <a:spcAft>
                <a:spcPts val="0"/>
              </a:spcAft>
            </a:pPr>
            <a:r>
              <a:rPr sz="1600" b="1">
                <a:solidFill>
                  <a:srgbClr val="161920"/>
                </a:solidFill>
                <a:latin typeface="Arial"/>
              </a:rPr>
              <a:t>PSD, verified JPEG and provenance/read-me record form one evidence package.</a:t>
            </a:r>
          </a:p>
        </p:txBody>
      </p:sp>
      <p:sp>
        <p:nvSpPr>
          <p:cNvPr id="23" name="Rounded Rectangle 22"/>
          <p:cNvSpPr/>
          <p:nvPr/>
        </p:nvSpPr>
        <p:spPr>
          <a:xfrm>
            <a:off x="685800" y="5349240"/>
            <a:ext cx="10771632" cy="65836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22976"/>
            <a:ext cx="10287000" cy="274320"/>
          </a:xfrm>
          <a:prstGeom prst="rect">
            <a:avLst/>
          </a:prstGeom>
          <a:noFill/>
        </p:spPr>
        <p:txBody>
          <a:bodyPr wrap="square" anchor="t" lIns="54864" rIns="54864" tIns="54864" bIns="54864">
            <a:spAutoFit/>
          </a:bodyPr>
          <a:lstStyle/>
          <a:p>
            <a:pPr algn="ctr">
              <a:spcAft>
                <a:spcPts val="0"/>
              </a:spcAft>
            </a:pPr>
            <a:r>
              <a:rPr sz="1400" b="1">
                <a:solidFill>
                  <a:srgbClr val="FFFFFF"/>
                </a:solidFill>
                <a:latin typeface="Arial"/>
              </a:rPr>
              <a:t>Decision rule · preserve a baseline, isolate the intended change, then inspect at the delivery size.</a:t>
            </a:r>
          </a:p>
        </p:txBody>
      </p:sp>
    </p:spTree>
  </p:cSld>
  <p:transition spd="med" advClick="1">
    <p:fade/>
  </p:transition>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INPUT → DECISION → OUTPUT</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Worked Artifact · Output Verification and Content Credentials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196</a:t>
            </a:r>
          </a:p>
        </p:txBody>
      </p:sp>
      <p:sp>
        <p:nvSpPr>
          <p:cNvPr id="11" name="Rounded Rectangle 10"/>
          <p:cNvSpPr/>
          <p:nvPr/>
        </p:nvSpPr>
        <p:spPr>
          <a:xfrm>
            <a:off x="6583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2578608" cy="10972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11D74"/>
                </a:solidFill>
                <a:latin typeface="Arial"/>
              </a:rPr>
              <a:t>01 · INTENT</a:t>
            </a:r>
          </a:p>
        </p:txBody>
      </p:sp>
      <p:sp>
        <p:nvSpPr>
          <p:cNvPr id="14" name="TextBox 13"/>
          <p:cNvSpPr txBox="1"/>
          <p:nvPr/>
        </p:nvSpPr>
        <p:spPr>
          <a:xfrm>
            <a:off x="841247"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Hand-off to stakeholders, publication and audit-ready delivery.</a:t>
            </a:r>
          </a:p>
        </p:txBody>
      </p:sp>
      <p:sp>
        <p:nvSpPr>
          <p:cNvPr id="15" name="TextBox 14"/>
          <p:cNvSpPr txBox="1"/>
          <p:nvPr/>
        </p:nvSpPr>
        <p:spPr>
          <a:xfrm>
            <a:off x="32461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16" name="Rounded Rectangle 15"/>
          <p:cNvSpPr/>
          <p:nvPr/>
        </p:nvSpPr>
        <p:spPr>
          <a:xfrm>
            <a:off x="34015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828800"/>
            <a:ext cx="257860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44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7C3AED"/>
                </a:solidFill>
                <a:latin typeface="Arial"/>
              </a:rPr>
              <a:t>02 · CONTROL SET</a:t>
            </a:r>
          </a:p>
        </p:txBody>
      </p:sp>
      <p:sp>
        <p:nvSpPr>
          <p:cNvPr id="19" name="TextBox 18"/>
          <p:cNvSpPr txBox="1"/>
          <p:nvPr/>
        </p:nvSpPr>
        <p:spPr>
          <a:xfrm>
            <a:off x="35844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Format · dimensions · profile · compression · metadata · Content Credentials</a:t>
            </a:r>
          </a:p>
        </p:txBody>
      </p:sp>
      <p:sp>
        <p:nvSpPr>
          <p:cNvPr id="20" name="TextBox 19"/>
          <p:cNvSpPr txBox="1"/>
          <p:nvPr/>
        </p:nvSpPr>
        <p:spPr>
          <a:xfrm>
            <a:off x="59893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1" name="Rounded Rectangle 20"/>
          <p:cNvSpPr/>
          <p:nvPr/>
        </p:nvSpPr>
        <p:spPr>
          <a:xfrm>
            <a:off x="61447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4768" y="1828800"/>
            <a:ext cx="2578608" cy="10972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009A78"/>
                </a:solidFill>
                <a:latin typeface="Arial"/>
              </a:rPr>
              <a:t>03 · REVIEW GATE</a:t>
            </a:r>
          </a:p>
        </p:txBody>
      </p:sp>
      <p:sp>
        <p:nvSpPr>
          <p:cNvPr id="24" name="TextBox 23"/>
          <p:cNvSpPr txBox="1"/>
          <p:nvPr/>
        </p:nvSpPr>
        <p:spPr>
          <a:xfrm>
            <a:off x="63276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Assuming an exported file is correct without reopening it.</a:t>
            </a:r>
          </a:p>
        </p:txBody>
      </p:sp>
      <p:sp>
        <p:nvSpPr>
          <p:cNvPr id="25" name="TextBox 24"/>
          <p:cNvSpPr txBox="1"/>
          <p:nvPr/>
        </p:nvSpPr>
        <p:spPr>
          <a:xfrm>
            <a:off x="8732520" y="3200400"/>
            <a:ext cx="146304" cy="365760"/>
          </a:xfrm>
          <a:prstGeom prst="rect">
            <a:avLst/>
          </a:prstGeom>
          <a:noFill/>
        </p:spPr>
        <p:txBody>
          <a:bodyPr wrap="square" anchor="t" lIns="54864" rIns="54864" tIns="54864" bIns="54864">
            <a:spAutoFit/>
          </a:bodyPr>
          <a:lstStyle/>
          <a:p>
            <a:pPr algn="ctr">
              <a:spcAft>
                <a:spcPts val="0"/>
              </a:spcAft>
            </a:pPr>
            <a:r>
              <a:rPr sz="2600" b="1">
                <a:solidFill>
                  <a:srgbClr val="5B6372"/>
                </a:solidFill>
                <a:latin typeface="Arial"/>
              </a:rPr>
              <a:t>›</a:t>
            </a:r>
          </a:p>
        </p:txBody>
      </p:sp>
      <p:sp>
        <p:nvSpPr>
          <p:cNvPr id="26" name="Rounded Rectangle 25"/>
          <p:cNvSpPr/>
          <p:nvPr/>
        </p:nvSpPr>
        <p:spPr>
          <a:xfrm>
            <a:off x="8887968" y="1828800"/>
            <a:ext cx="2578608" cy="352044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87968" y="1828800"/>
            <a:ext cx="2578608" cy="10972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121408"/>
            <a:ext cx="2212848" cy="411480"/>
          </a:xfrm>
          <a:prstGeom prst="rect">
            <a:avLst/>
          </a:prstGeom>
          <a:noFill/>
        </p:spPr>
        <p:txBody>
          <a:bodyPr wrap="square" anchor="t" lIns="54864" rIns="54864" tIns="54864" bIns="54864">
            <a:spAutoFit/>
          </a:bodyPr>
          <a:lstStyle/>
          <a:p>
            <a:pPr algn="l">
              <a:spcAft>
                <a:spcPts val="0"/>
              </a:spcAft>
            </a:pPr>
            <a:r>
              <a:rPr sz="1200" b="1">
                <a:solidFill>
                  <a:srgbClr val="E98500"/>
                </a:solidFill>
                <a:latin typeface="Arial"/>
              </a:rPr>
              <a:t>04 · RETAINED EVIDENCE</a:t>
            </a:r>
          </a:p>
        </p:txBody>
      </p:sp>
      <p:sp>
        <p:nvSpPr>
          <p:cNvPr id="29" name="TextBox 28"/>
          <p:cNvSpPr txBox="1"/>
          <p:nvPr/>
        </p:nvSpPr>
        <p:spPr>
          <a:xfrm>
            <a:off x="9070848" y="2688336"/>
            <a:ext cx="2212848" cy="2057400"/>
          </a:xfrm>
          <a:prstGeom prst="rect">
            <a:avLst/>
          </a:prstGeom>
          <a:noFill/>
        </p:spPr>
        <p:txBody>
          <a:bodyPr wrap="square" anchor="t" lIns="54864" rIns="54864" tIns="54864" bIns="54864">
            <a:spAutoFit/>
          </a:bodyPr>
          <a:lstStyle/>
          <a:p>
            <a:pPr algn="l">
              <a:spcAft>
                <a:spcPts val="0"/>
              </a:spcAft>
            </a:pPr>
            <a:r>
              <a:rPr sz="1400" b="0">
                <a:solidFill>
                  <a:srgbClr val="161920"/>
                </a:solidFill>
                <a:latin typeface="Arial"/>
              </a:rPr>
              <a:t>PSD, verified JPEG and provenance/read-me record form one evidence package.</a:t>
            </a:r>
          </a:p>
        </p:txBody>
      </p:sp>
      <p:sp>
        <p:nvSpPr>
          <p:cNvPr id="30" name="Rounded Rectangle 29"/>
          <p:cNvSpPr/>
          <p:nvPr/>
        </p:nvSpPr>
        <p:spPr>
          <a:xfrm>
            <a:off x="804672" y="5532120"/>
            <a:ext cx="10561320" cy="530352"/>
          </a:xfrm>
          <a:prstGeom prst="roundRect">
            <a:avLst/>
          </a:prstGeom>
          <a:solidFill>
            <a:srgbClr val="FFFFFF"/>
          </a:solidFill>
          <a:ln>
            <a:solidFill>
              <a:srgbClr val="E11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650992"/>
            <a:ext cx="10241280" cy="246888"/>
          </a:xfrm>
          <a:prstGeom prst="rect">
            <a:avLst/>
          </a:prstGeom>
          <a:noFill/>
        </p:spPr>
        <p:txBody>
          <a:bodyPr wrap="square" anchor="t" lIns="54864" rIns="54864" tIns="54864" bIns="54864">
            <a:spAutoFit/>
          </a:bodyPr>
          <a:lstStyle/>
          <a:p>
            <a:pPr algn="ctr">
              <a:spcAft>
                <a:spcPts val="0"/>
              </a:spcAft>
            </a:pPr>
            <a:r>
              <a:rPr sz="1250" b="1">
                <a:solidFill>
                  <a:srgbClr val="E11D74"/>
                </a:solidFill>
                <a:latin typeface="Arial"/>
              </a:rPr>
              <a:t>Acceptance trace: explain the final visual from intent, through named controls, to retained evidence.</a:t>
            </a:r>
          </a:p>
        </p:txBody>
      </p:sp>
    </p:spTree>
  </p:cSld>
  <p:transition spd="med" advClick="1">
    <p:fade/>
  </p:transition>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7C3AED"/>
                </a:solidFill>
                <a:latin typeface="Arial"/>
              </a:rPr>
              <a:t>CONTROL SURFACE + CANVAS + PROOF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Annotated Decision Model · Output Verification and Content Credentials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197</a:t>
            </a:r>
          </a:p>
        </p:txBody>
      </p:sp>
      <p:sp>
        <p:nvSpPr>
          <p:cNvPr id="11" name="Rounded Rectangle 10"/>
          <p:cNvSpPr/>
          <p:nvPr/>
        </p:nvSpPr>
        <p:spPr>
          <a:xfrm>
            <a:off x="658368" y="1783080"/>
            <a:ext cx="2743200" cy="4224528"/>
          </a:xfrm>
          <a:prstGeom prst="roundRect">
            <a:avLst/>
          </a:prstGeom>
          <a:solidFill>
            <a:srgbClr val="16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75104"/>
            <a:ext cx="2304288" cy="310896"/>
          </a:xfrm>
          <a:prstGeom prst="rect">
            <a:avLst/>
          </a:prstGeom>
          <a:noFill/>
        </p:spPr>
        <p:txBody>
          <a:bodyPr wrap="square" anchor="t" lIns="54864" rIns="54864" tIns="54864" bIns="54864">
            <a:spAutoFit/>
          </a:bodyPr>
          <a:lstStyle/>
          <a:p>
            <a:pPr algn="l">
              <a:spcAft>
                <a:spcPts val="0"/>
              </a:spcAft>
            </a:pPr>
            <a:r>
              <a:rPr sz="1300" b="1">
                <a:solidFill>
                  <a:srgbClr val="FFFFFF"/>
                </a:solidFill>
                <a:latin typeface="Arial"/>
              </a:rPr>
              <a:t>CONTROL SURFACE</a:t>
            </a:r>
          </a:p>
        </p:txBody>
      </p:sp>
      <p:sp>
        <p:nvSpPr>
          <p:cNvPr id="13" name="Rounded Rectangle 12"/>
          <p:cNvSpPr/>
          <p:nvPr/>
        </p:nvSpPr>
        <p:spPr>
          <a:xfrm>
            <a:off x="896112" y="2514600"/>
            <a:ext cx="384048" cy="384048"/>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78608"/>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1</a:t>
            </a:r>
          </a:p>
        </p:txBody>
      </p:sp>
      <p:sp>
        <p:nvSpPr>
          <p:cNvPr id="15" name="TextBox 14"/>
          <p:cNvSpPr txBox="1"/>
          <p:nvPr/>
        </p:nvSpPr>
        <p:spPr>
          <a:xfrm>
            <a:off x="1408176" y="2532888"/>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Format</a:t>
            </a:r>
          </a:p>
        </p:txBody>
      </p:sp>
      <p:sp>
        <p:nvSpPr>
          <p:cNvPr id="16" name="Rounded Rectangle 15"/>
          <p:cNvSpPr/>
          <p:nvPr/>
        </p:nvSpPr>
        <p:spPr>
          <a:xfrm>
            <a:off x="896112" y="3099816"/>
            <a:ext cx="384048"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163824"/>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2</a:t>
            </a:r>
          </a:p>
        </p:txBody>
      </p:sp>
      <p:sp>
        <p:nvSpPr>
          <p:cNvPr id="18" name="TextBox 17"/>
          <p:cNvSpPr txBox="1"/>
          <p:nvPr/>
        </p:nvSpPr>
        <p:spPr>
          <a:xfrm>
            <a:off x="1408176" y="3118104"/>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dimensions</a:t>
            </a:r>
          </a:p>
        </p:txBody>
      </p:sp>
      <p:sp>
        <p:nvSpPr>
          <p:cNvPr id="19" name="Rounded Rectangle 18"/>
          <p:cNvSpPr/>
          <p:nvPr/>
        </p:nvSpPr>
        <p:spPr>
          <a:xfrm>
            <a:off x="896112" y="3685032"/>
            <a:ext cx="384048" cy="38404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749040"/>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3</a:t>
            </a:r>
          </a:p>
        </p:txBody>
      </p:sp>
      <p:sp>
        <p:nvSpPr>
          <p:cNvPr id="21" name="TextBox 20"/>
          <p:cNvSpPr txBox="1"/>
          <p:nvPr/>
        </p:nvSpPr>
        <p:spPr>
          <a:xfrm>
            <a:off x="1408176" y="3703320"/>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profile</a:t>
            </a:r>
          </a:p>
        </p:txBody>
      </p:sp>
      <p:sp>
        <p:nvSpPr>
          <p:cNvPr id="22" name="Rounded Rectangle 21"/>
          <p:cNvSpPr/>
          <p:nvPr/>
        </p:nvSpPr>
        <p:spPr>
          <a:xfrm>
            <a:off x="896112" y="4270248"/>
            <a:ext cx="384048" cy="38404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334256"/>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4</a:t>
            </a:r>
          </a:p>
        </p:txBody>
      </p:sp>
      <p:sp>
        <p:nvSpPr>
          <p:cNvPr id="24" name="TextBox 23"/>
          <p:cNvSpPr txBox="1"/>
          <p:nvPr/>
        </p:nvSpPr>
        <p:spPr>
          <a:xfrm>
            <a:off x="1408176" y="4288536"/>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compression</a:t>
            </a:r>
          </a:p>
        </p:txBody>
      </p:sp>
      <p:sp>
        <p:nvSpPr>
          <p:cNvPr id="25" name="Rounded Rectangle 24"/>
          <p:cNvSpPr/>
          <p:nvPr/>
        </p:nvSpPr>
        <p:spPr>
          <a:xfrm>
            <a:off x="896112" y="4855464"/>
            <a:ext cx="384048" cy="38404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919472"/>
            <a:ext cx="384048" cy="182880"/>
          </a:xfrm>
          <a:prstGeom prst="rect">
            <a:avLst/>
          </a:prstGeom>
          <a:noFill/>
        </p:spPr>
        <p:txBody>
          <a:bodyPr wrap="square" anchor="t" lIns="54864" rIns="54864" tIns="54864" bIns="54864">
            <a:spAutoFit/>
          </a:bodyPr>
          <a:lstStyle/>
          <a:p>
            <a:pPr algn="ctr">
              <a:spcAft>
                <a:spcPts val="0"/>
              </a:spcAft>
            </a:pPr>
            <a:r>
              <a:rPr sz="900" b="1">
                <a:solidFill>
                  <a:srgbClr val="FFFFFF"/>
                </a:solidFill>
                <a:latin typeface="Arial"/>
              </a:rPr>
              <a:t>5</a:t>
            </a:r>
          </a:p>
        </p:txBody>
      </p:sp>
      <p:sp>
        <p:nvSpPr>
          <p:cNvPr id="27" name="TextBox 26"/>
          <p:cNvSpPr txBox="1"/>
          <p:nvPr/>
        </p:nvSpPr>
        <p:spPr>
          <a:xfrm>
            <a:off x="1408176" y="4873752"/>
            <a:ext cx="1700784" cy="310896"/>
          </a:xfrm>
          <a:prstGeom prst="rect">
            <a:avLst/>
          </a:prstGeom>
          <a:noFill/>
        </p:spPr>
        <p:txBody>
          <a:bodyPr wrap="square" anchor="t" lIns="54864" rIns="54864" tIns="54864" bIns="54864">
            <a:spAutoFit/>
          </a:bodyPr>
          <a:lstStyle/>
          <a:p>
            <a:pPr algn="l">
              <a:spcAft>
                <a:spcPts val="0"/>
              </a:spcAft>
            </a:pPr>
            <a:r>
              <a:rPr sz="1150" b="1">
                <a:solidFill>
                  <a:srgbClr val="FFFFFF"/>
                </a:solidFill>
                <a:latin typeface="Arial"/>
              </a:rPr>
              <a:t>metadata</a:t>
            </a:r>
          </a:p>
        </p:txBody>
      </p:sp>
      <p:sp>
        <p:nvSpPr>
          <p:cNvPr id="28" name="Rounded Rectangle 27"/>
          <p:cNvSpPr/>
          <p:nvPr/>
        </p:nvSpPr>
        <p:spPr>
          <a:xfrm>
            <a:off x="3730752" y="1783080"/>
            <a:ext cx="4645152" cy="4224528"/>
          </a:xfrm>
          <a:prstGeom prst="roundRect">
            <a:avLst/>
          </a:prstGeom>
          <a:solidFill>
            <a:srgbClr val="FFFFFF"/>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59352" y="2011680"/>
            <a:ext cx="4187952" cy="278892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2304288"/>
            <a:ext cx="3657600" cy="420624"/>
          </a:xfrm>
          <a:prstGeom prst="rect">
            <a:avLst/>
          </a:prstGeom>
          <a:noFill/>
        </p:spPr>
        <p:txBody>
          <a:bodyPr wrap="square" anchor="t" lIns="54864" rIns="54864" tIns="54864" bIns="54864">
            <a:spAutoFit/>
          </a:bodyPr>
          <a:lstStyle/>
          <a:p>
            <a:pPr algn="ctr">
              <a:spcAft>
                <a:spcPts val="0"/>
              </a:spcAft>
            </a:pPr>
            <a:r>
              <a:rPr sz="1400" b="1">
                <a:solidFill>
                  <a:srgbClr val="7C3AED"/>
                </a:solidFill>
                <a:latin typeface="Arial"/>
              </a:rPr>
              <a:t>EDITABLE CANVAS / OUTPUT STATE</a:t>
            </a:r>
          </a:p>
        </p:txBody>
      </p:sp>
      <p:sp>
        <p:nvSpPr>
          <p:cNvPr id="31" name="TextBox 30"/>
          <p:cNvSpPr txBox="1"/>
          <p:nvPr/>
        </p:nvSpPr>
        <p:spPr>
          <a:xfrm>
            <a:off x="4261104" y="2944368"/>
            <a:ext cx="3584448" cy="1097280"/>
          </a:xfrm>
          <a:prstGeom prst="rect">
            <a:avLst/>
          </a:prstGeom>
          <a:noFill/>
        </p:spPr>
        <p:txBody>
          <a:bodyPr wrap="square" anchor="ctr" lIns="54864" rIns="54864" tIns="54864" bIns="54864">
            <a:spAutoFit/>
          </a:bodyPr>
          <a:lstStyle/>
          <a:p>
            <a:pPr algn="ctr">
              <a:spcAft>
                <a:spcPts val="0"/>
              </a:spcAft>
            </a:pPr>
            <a:r>
              <a:rPr sz="1400" b="0">
                <a:solidFill>
                  <a:srgbClr val="161920"/>
                </a:solidFill>
                <a:latin typeface="Arial"/>
              </a:rPr>
              <a:t>Professional delivery includes export settings, reopen checks, provenance and a retained editable master.</a:t>
            </a:r>
          </a:p>
        </p:txBody>
      </p:sp>
      <p:sp>
        <p:nvSpPr>
          <p:cNvPr id="32" name="Rounded Rectangle 31"/>
          <p:cNvSpPr/>
          <p:nvPr/>
        </p:nvSpPr>
        <p:spPr>
          <a:xfrm>
            <a:off x="3959352" y="4992624"/>
            <a:ext cx="4187952" cy="713232"/>
          </a:xfrm>
          <a:prstGeom prst="roundRect">
            <a:avLst/>
          </a:prstGeom>
          <a:solidFill>
            <a:srgbClr val="E9F8F3"/>
          </a:solidFill>
          <a:ln>
            <a:solidFill>
              <a:srgbClr val="009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60520" y="5175504"/>
            <a:ext cx="3785615" cy="292608"/>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Inspect at working view and delivery view</a:t>
            </a:r>
          </a:p>
        </p:txBody>
      </p:sp>
      <p:sp>
        <p:nvSpPr>
          <p:cNvPr id="34" name="Rounded Rectangle 33"/>
          <p:cNvSpPr/>
          <p:nvPr/>
        </p:nvSpPr>
        <p:spPr>
          <a:xfrm>
            <a:off x="8705088" y="1783080"/>
            <a:ext cx="2578608" cy="42245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42832" y="1993392"/>
            <a:ext cx="2103120" cy="310896"/>
          </a:xfrm>
          <a:prstGeom prst="rect">
            <a:avLst/>
          </a:prstGeom>
          <a:noFill/>
        </p:spPr>
        <p:txBody>
          <a:bodyPr wrap="square" anchor="t" lIns="54864" rIns="54864" tIns="54864" bIns="54864">
            <a:spAutoFit/>
          </a:bodyPr>
          <a:lstStyle/>
          <a:p>
            <a:pPr algn="l">
              <a:spcAft>
                <a:spcPts val="0"/>
              </a:spcAft>
            </a:pPr>
            <a:r>
              <a:rPr sz="1300" b="1">
                <a:solidFill>
                  <a:srgbClr val="7C3AED"/>
                </a:solidFill>
                <a:latin typeface="Arial"/>
              </a:rPr>
              <a:t>PROOF PANEL</a:t>
            </a:r>
          </a:p>
        </p:txBody>
      </p:sp>
      <p:sp>
        <p:nvSpPr>
          <p:cNvPr id="36" name="TextBox 35"/>
          <p:cNvSpPr txBox="1"/>
          <p:nvPr/>
        </p:nvSpPr>
        <p:spPr>
          <a:xfrm>
            <a:off x="8942832" y="2542032"/>
            <a:ext cx="2103120" cy="1965960"/>
          </a:xfrm>
          <a:prstGeom prst="rect">
            <a:avLst/>
          </a:prstGeom>
          <a:noFill/>
        </p:spPr>
        <p:txBody>
          <a:bodyPr wrap="square" anchor="t" lIns="54864" rIns="54864" tIns="54864" bIns="54864">
            <a:spAutoFit/>
          </a:bodyPr>
          <a:lstStyle/>
          <a:p>
            <a:pPr algn="l">
              <a:spcAft>
                <a:spcPts val="0"/>
              </a:spcAft>
            </a:pPr>
            <a:r>
              <a:rPr sz="1300" b="0">
                <a:solidFill>
                  <a:srgbClr val="161920"/>
                </a:solidFill>
                <a:latin typeface="Arial"/>
              </a:rPr>
              <a:t>PSD, verified JPEG and provenance/read-me record form one evidence package.</a:t>
            </a:r>
          </a:p>
        </p:txBody>
      </p:sp>
      <p:sp>
        <p:nvSpPr>
          <p:cNvPr id="37" name="TextBox 36"/>
          <p:cNvSpPr txBox="1"/>
          <p:nvPr/>
        </p:nvSpPr>
        <p:spPr>
          <a:xfrm>
            <a:off x="8942832" y="4892040"/>
            <a:ext cx="2103120" cy="603504"/>
          </a:xfrm>
          <a:prstGeom prst="rect">
            <a:avLst/>
          </a:prstGeom>
          <a:noFill/>
        </p:spPr>
        <p:txBody>
          <a:bodyPr wrap="square" anchor="t" lIns="54864" rIns="54864" tIns="54864" bIns="54864">
            <a:spAutoFit/>
          </a:bodyPr>
          <a:lstStyle/>
          <a:p>
            <a:pPr algn="l">
              <a:spcAft>
                <a:spcPts val="0"/>
              </a:spcAft>
            </a:pPr>
            <a:r>
              <a:rPr sz="1150" b="1">
                <a:solidFill>
                  <a:srgbClr val="5B6372"/>
                </a:solidFill>
                <a:latin typeface="Arial"/>
              </a:rPr>
              <a:t>Keep source, selected state and export together.</a:t>
            </a:r>
          </a:p>
        </p:txBody>
      </p:sp>
    </p:spTree>
  </p:cSld>
  <p:transition spd="med" advClick="1">
    <p:fade/>
  </p:transition>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SYMPTOM → CAUSE → CORRECTION → VERIFY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300" b="1">
                <a:solidFill>
                  <a:srgbClr val="161920"/>
                </a:solidFill>
                <a:latin typeface="Arial"/>
              </a:rPr>
              <a:t>Diagnostic · Output Verification and Content Credentials</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Content Credentials</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198</a:t>
            </a:r>
          </a:p>
        </p:txBody>
      </p:sp>
      <p:sp>
        <p:nvSpPr>
          <p:cNvPr id="11" name="Rounded Rectangle 10"/>
          <p:cNvSpPr/>
          <p:nvPr/>
        </p:nvSpPr>
        <p:spPr>
          <a:xfrm>
            <a:off x="713232" y="1737360"/>
            <a:ext cx="1417320" cy="749808"/>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65960"/>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OBSERVE</a:t>
            </a:r>
          </a:p>
        </p:txBody>
      </p:sp>
      <p:sp>
        <p:nvSpPr>
          <p:cNvPr id="13" name="Rounded Rectangle 12"/>
          <p:cNvSpPr/>
          <p:nvPr/>
        </p:nvSpPr>
        <p:spPr>
          <a:xfrm>
            <a:off x="2304288" y="1737360"/>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Assuming an exported file is correct without reopening it.</a:t>
            </a:r>
          </a:p>
        </p:txBody>
      </p:sp>
      <p:sp>
        <p:nvSpPr>
          <p:cNvPr id="15" name="Rounded Rectangle 14"/>
          <p:cNvSpPr/>
          <p:nvPr/>
        </p:nvSpPr>
        <p:spPr>
          <a:xfrm>
            <a:off x="713232" y="2807208"/>
            <a:ext cx="1417320" cy="749808"/>
          </a:xfrm>
          <a:prstGeom prst="round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035808"/>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ISOLATE</a:t>
            </a:r>
          </a:p>
        </p:txBody>
      </p:sp>
      <p:sp>
        <p:nvSpPr>
          <p:cNvPr id="17" name="Rounded Rectangle 16"/>
          <p:cNvSpPr/>
          <p:nvPr/>
        </p:nvSpPr>
        <p:spPr>
          <a:xfrm>
            <a:off x="2304288" y="2807208"/>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2888" y="2944368"/>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Hold the brief and baseline constant; inspect: Format · dimensions · profile · compression · metadata · Content Credentials.</a:t>
            </a:r>
          </a:p>
        </p:txBody>
      </p:sp>
      <p:sp>
        <p:nvSpPr>
          <p:cNvPr id="19" name="Rounded Rectangle 18"/>
          <p:cNvSpPr/>
          <p:nvPr/>
        </p:nvSpPr>
        <p:spPr>
          <a:xfrm>
            <a:off x="713232" y="3877056"/>
            <a:ext cx="1417320" cy="749808"/>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105656"/>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CORRECT</a:t>
            </a:r>
          </a:p>
        </p:txBody>
      </p:sp>
      <p:sp>
        <p:nvSpPr>
          <p:cNvPr id="21" name="Rounded Rectangle 20"/>
          <p:cNvSpPr/>
          <p:nvPr/>
        </p:nvSpPr>
        <p:spPr>
          <a:xfrm>
            <a:off x="2304288" y="3877056"/>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2888" y="4014216"/>
            <a:ext cx="8503920" cy="475488"/>
          </a:xfrm>
          <a:prstGeom prst="rect">
            <a:avLst/>
          </a:prstGeom>
          <a:noFill/>
        </p:spPr>
        <p:txBody>
          <a:bodyPr wrap="square" anchor="t" lIns="54864" rIns="54864" tIns="54864" bIns="54864">
            <a:spAutoFit/>
          </a:bodyPr>
          <a:lstStyle/>
          <a:p>
            <a:pPr algn="l">
              <a:spcAft>
                <a:spcPts val="0"/>
              </a:spcAft>
            </a:pPr>
            <a:r>
              <a:rPr sz="1250" b="0">
                <a:solidFill>
                  <a:srgbClr val="161920"/>
                </a:solidFill>
                <a:latin typeface="Arial"/>
              </a:rPr>
              <a:t>Change one control, preserve the editable source, and revise only the affected state.</a:t>
            </a:r>
          </a:p>
        </p:txBody>
      </p:sp>
      <p:sp>
        <p:nvSpPr>
          <p:cNvPr id="23" name="Rounded Rectangle 22"/>
          <p:cNvSpPr/>
          <p:nvPr/>
        </p:nvSpPr>
        <p:spPr>
          <a:xfrm>
            <a:off x="713232" y="4946904"/>
            <a:ext cx="1417320" cy="749808"/>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1307592" cy="256032"/>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VERIFY</a:t>
            </a:r>
          </a:p>
        </p:txBody>
      </p:sp>
      <p:sp>
        <p:nvSpPr>
          <p:cNvPr id="25" name="Rounded Rectangle 24"/>
          <p:cNvSpPr/>
          <p:nvPr/>
        </p:nvSpPr>
        <p:spPr>
          <a:xfrm>
            <a:off x="2304288" y="4946904"/>
            <a:ext cx="8979408" cy="7498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2888" y="5084064"/>
            <a:ext cx="8503920" cy="475488"/>
          </a:xfrm>
          <a:prstGeom prst="rect">
            <a:avLst/>
          </a:prstGeom>
          <a:noFill/>
        </p:spPr>
        <p:txBody>
          <a:bodyPr wrap="square" anchor="t" lIns="54864" rIns="54864" tIns="54864" bIns="54864">
            <a:spAutoFit/>
          </a:bodyPr>
          <a:lstStyle/>
          <a:p>
            <a:pPr algn="l">
              <a:spcAft>
                <a:spcPts val="0"/>
              </a:spcAft>
            </a:pPr>
            <a:r>
              <a:rPr sz="1250" b="1">
                <a:solidFill>
                  <a:srgbClr val="161920"/>
                </a:solidFill>
                <a:latin typeface="Arial"/>
              </a:rPr>
              <a:t>PSD, verified JPEG and provenance/read-me record form one evidence package.</a:t>
            </a:r>
          </a:p>
        </p:txBody>
      </p:sp>
      <p:sp>
        <p:nvSpPr>
          <p:cNvPr id="27" name="TextBox 26"/>
          <p:cNvSpPr txBox="1"/>
          <p:nvPr/>
        </p:nvSpPr>
        <p:spPr>
          <a:xfrm>
            <a:off x="822960" y="6117336"/>
            <a:ext cx="10332720" cy="228600"/>
          </a:xfrm>
          <a:prstGeom prst="rect">
            <a:avLst/>
          </a:prstGeom>
          <a:noFill/>
        </p:spPr>
        <p:txBody>
          <a:bodyPr wrap="square" anchor="t" lIns="54864" rIns="54864" tIns="54864" bIns="54864">
            <a:spAutoFit/>
          </a:bodyPr>
          <a:lstStyle/>
          <a:p>
            <a:pPr algn="ctr">
              <a:spcAft>
                <a:spcPts val="0"/>
              </a:spcAft>
            </a:pPr>
            <a:r>
              <a:rPr sz="1150" b="1">
                <a:solidFill>
                  <a:srgbClr val="009A78"/>
                </a:solidFill>
                <a:latin typeface="Arial"/>
              </a:rPr>
              <a:t>Accept only when the defect is reduced and protected content remains intact.</a:t>
            </a:r>
          </a:p>
        </p:txBody>
      </p:sp>
    </p:spTree>
  </p:cSld>
  <p:transition spd="med" advClick="1">
    <p:fade/>
  </p:transition>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4</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09 · Restoration, Critique and Colour Strategy</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199</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del.jpeg"/>
          <p:cNvPicPr>
            <a:picLocks noChangeAspect="1"/>
          </p:cNvPicPr>
          <p:nvPr/>
        </p:nvPicPr>
        <p:blipFill>
          <a:blip r:embed="rId2"/>
          <a:srcRect l="7578" r="7578"/>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An archive image will support a heritage-wellness story but must not imply certainty where AI reconstructs missing detail.</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Restore a damaged image, evaluate invented detail and develop a reversible colour treatment.</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restoration PSD, verified JPEG, palette swatches and critique of AI-inferred detail.</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09</a:t>
            </a:r>
          </a:p>
        </p:txBody>
      </p:sp>
    </p:spTree>
  </p:cSld>
  <p:transition spd="med" advClick="1">
    <p:fade/>
  </p:transition>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HANDS-ON APPLICATION · TOPIC 4</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Lab 10 · Wellness Campaign Capstone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200</a:t>
            </a:r>
          </a:p>
        </p:txBody>
      </p:sp>
      <p:sp>
        <p:nvSpPr>
          <p:cNvPr id="10" name="Rounded Rectangle 9"/>
          <p:cNvSpPr/>
          <p:nvPr/>
        </p:nvSpPr>
        <p:spPr>
          <a:xfrm>
            <a:off x="685800" y="1755648"/>
            <a:ext cx="3749039" cy="4462272"/>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P - Generative AI (GenAI).jpg"/>
          <p:cNvPicPr>
            <a:picLocks noChangeAspect="1"/>
          </p:cNvPicPr>
          <p:nvPr/>
        </p:nvPicPr>
        <p:blipFill>
          <a:blip r:embed="rId2"/>
          <a:srcRect t="825" b="825"/>
          <a:stretch>
            <a:fillRect/>
          </a:stretch>
        </p:blipFill>
        <p:spPr>
          <a:xfrm>
            <a:off x="758952" y="1828800"/>
            <a:ext cx="3602736" cy="2834640"/>
          </a:xfrm>
          <a:prstGeom prst="rect">
            <a:avLst/>
          </a:prstGeom>
        </p:spPr>
      </p:pic>
      <p:sp>
        <p:nvSpPr>
          <p:cNvPr id="12" name="TextBox 11"/>
          <p:cNvSpPr txBox="1"/>
          <p:nvPr/>
        </p:nvSpPr>
        <p:spPr>
          <a:xfrm>
            <a:off x="914400" y="4892040"/>
            <a:ext cx="3246120" cy="1024128"/>
          </a:xfrm>
          <a:prstGeom prst="rect">
            <a:avLst/>
          </a:prstGeom>
          <a:noFill/>
        </p:spPr>
        <p:txBody>
          <a:bodyPr wrap="square" anchor="t" lIns="54864" rIns="54864" tIns="54864" bIns="54864">
            <a:spAutoFit/>
          </a:bodyPr>
          <a:lstStyle/>
          <a:p>
            <a:pPr algn="l">
              <a:spcAft>
                <a:spcPts val="0"/>
              </a:spcAft>
            </a:pPr>
            <a:r>
              <a:rPr sz="1220" b="0">
                <a:solidFill>
                  <a:srgbClr val="5B6372"/>
                </a:solidFill>
                <a:latin typeface="Arial"/>
              </a:rPr>
              <a:t>Fictional Wellness Week Singapore 2026 needs a coherent hero visual and three channel exports for a positive, inclusive message.</a:t>
            </a:r>
          </a:p>
        </p:txBody>
      </p:sp>
      <p:sp>
        <p:nvSpPr>
          <p:cNvPr id="13" name="TextBox 12"/>
          <p:cNvSpPr txBox="1"/>
          <p:nvPr/>
        </p:nvSpPr>
        <p:spPr>
          <a:xfrm>
            <a:off x="4709160" y="1783080"/>
            <a:ext cx="6537960" cy="658368"/>
          </a:xfrm>
          <a:prstGeom prst="rect">
            <a:avLst/>
          </a:prstGeom>
          <a:noFill/>
        </p:spPr>
        <p:txBody>
          <a:bodyPr wrap="square" anchor="t" lIns="54864" rIns="54864" tIns="54864" bIns="54864">
            <a:spAutoFit/>
          </a:bodyPr>
          <a:lstStyle/>
          <a:p>
            <a:pPr algn="l">
              <a:spcAft>
                <a:spcPts val="0"/>
              </a:spcAft>
            </a:pPr>
            <a:r>
              <a:rPr sz="1500" b="1">
                <a:solidFill>
                  <a:srgbClr val="161920"/>
                </a:solidFill>
                <a:latin typeface="Arial"/>
              </a:rPr>
              <a:t>Integrate A1–A7 into an editable campaign visual, storyboard summary, critique and colour-delivery package.</a:t>
            </a:r>
          </a:p>
        </p:txBody>
      </p:sp>
      <p:sp>
        <p:nvSpPr>
          <p:cNvPr id="14" name="Rounded Rectangle 13"/>
          <p:cNvSpPr/>
          <p:nvPr/>
        </p:nvSpPr>
        <p:spPr>
          <a:xfrm>
            <a:off x="470916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816352"/>
            <a:ext cx="402336" cy="402336"/>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1</a:t>
            </a:r>
          </a:p>
        </p:txBody>
      </p:sp>
      <p:sp>
        <p:nvSpPr>
          <p:cNvPr id="17" name="TextBox 16"/>
          <p:cNvSpPr txBox="1"/>
          <p:nvPr/>
        </p:nvSpPr>
        <p:spPr>
          <a:xfrm>
            <a:off x="480060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Analyse</a:t>
            </a:r>
          </a:p>
        </p:txBody>
      </p:sp>
      <p:sp>
        <p:nvSpPr>
          <p:cNvPr id="18" name="Rounded Rectangle 17"/>
          <p:cNvSpPr/>
          <p:nvPr/>
        </p:nvSpPr>
        <p:spPr>
          <a:xfrm>
            <a:off x="603504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44768" y="2816352"/>
            <a:ext cx="402336" cy="402336"/>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476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2</a:t>
            </a:r>
          </a:p>
        </p:txBody>
      </p:sp>
      <p:sp>
        <p:nvSpPr>
          <p:cNvPr id="21" name="TextBox 20"/>
          <p:cNvSpPr txBox="1"/>
          <p:nvPr/>
        </p:nvSpPr>
        <p:spPr>
          <a:xfrm>
            <a:off x="612647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Choose</a:t>
            </a:r>
          </a:p>
        </p:txBody>
      </p:sp>
      <p:sp>
        <p:nvSpPr>
          <p:cNvPr id="22" name="Rounded Rectangle 21"/>
          <p:cNvSpPr/>
          <p:nvPr/>
        </p:nvSpPr>
        <p:spPr>
          <a:xfrm>
            <a:off x="736092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70648" y="2816352"/>
            <a:ext cx="402336" cy="40233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3</a:t>
            </a:r>
          </a:p>
        </p:txBody>
      </p:sp>
      <p:sp>
        <p:nvSpPr>
          <p:cNvPr id="25" name="TextBox 24"/>
          <p:cNvSpPr txBox="1"/>
          <p:nvPr/>
        </p:nvSpPr>
        <p:spPr>
          <a:xfrm>
            <a:off x="745236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Apply</a:t>
            </a:r>
          </a:p>
        </p:txBody>
      </p:sp>
      <p:sp>
        <p:nvSpPr>
          <p:cNvPr id="26" name="Rounded Rectangle 25"/>
          <p:cNvSpPr/>
          <p:nvPr/>
        </p:nvSpPr>
        <p:spPr>
          <a:xfrm>
            <a:off x="868680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96528" y="281635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4</a:t>
            </a:r>
          </a:p>
        </p:txBody>
      </p:sp>
      <p:sp>
        <p:nvSpPr>
          <p:cNvPr id="29" name="TextBox 28"/>
          <p:cNvSpPr txBox="1"/>
          <p:nvPr/>
        </p:nvSpPr>
        <p:spPr>
          <a:xfrm>
            <a:off x="8778240"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Inspect</a:t>
            </a:r>
          </a:p>
        </p:txBody>
      </p:sp>
      <p:sp>
        <p:nvSpPr>
          <p:cNvPr id="30" name="Rounded Rectangle 29"/>
          <p:cNvSpPr/>
          <p:nvPr/>
        </p:nvSpPr>
        <p:spPr>
          <a:xfrm>
            <a:off x="10012680" y="2670048"/>
            <a:ext cx="1207007" cy="148132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22407" y="2816352"/>
            <a:ext cx="402336" cy="402336"/>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2407" y="2898648"/>
            <a:ext cx="402336" cy="182880"/>
          </a:xfrm>
          <a:prstGeom prst="rect">
            <a:avLst/>
          </a:prstGeom>
          <a:noFill/>
        </p:spPr>
        <p:txBody>
          <a:bodyPr wrap="square" anchor="t" lIns="54864" rIns="54864" tIns="54864" bIns="54864">
            <a:spAutoFit/>
          </a:bodyPr>
          <a:lstStyle/>
          <a:p>
            <a:pPr algn="ctr">
              <a:spcAft>
                <a:spcPts val="0"/>
              </a:spcAft>
            </a:pPr>
            <a:r>
              <a:rPr sz="950" b="1">
                <a:solidFill>
                  <a:srgbClr val="FFFFFF"/>
                </a:solidFill>
                <a:latin typeface="Arial"/>
              </a:rPr>
              <a:t>5</a:t>
            </a:r>
          </a:p>
        </p:txBody>
      </p:sp>
      <p:sp>
        <p:nvSpPr>
          <p:cNvPr id="33" name="TextBox 32"/>
          <p:cNvSpPr txBox="1"/>
          <p:nvPr/>
        </p:nvSpPr>
        <p:spPr>
          <a:xfrm>
            <a:off x="10104119" y="3429000"/>
            <a:ext cx="1024127" cy="438912"/>
          </a:xfrm>
          <a:prstGeom prst="rect">
            <a:avLst/>
          </a:prstGeom>
          <a:noFill/>
        </p:spPr>
        <p:txBody>
          <a:bodyPr wrap="square" anchor="t" lIns="54864" rIns="54864" tIns="54864" bIns="54864">
            <a:spAutoFit/>
          </a:bodyPr>
          <a:lstStyle/>
          <a:p>
            <a:pPr algn="ctr">
              <a:spcAft>
                <a:spcPts val="0"/>
              </a:spcAft>
            </a:pPr>
            <a:r>
              <a:rPr sz="1130" b="1">
                <a:solidFill>
                  <a:srgbClr val="161920"/>
                </a:solidFill>
                <a:latin typeface="Arial"/>
              </a:rPr>
              <a:t>Evidence</a:t>
            </a:r>
          </a:p>
        </p:txBody>
      </p:sp>
      <p:sp>
        <p:nvSpPr>
          <p:cNvPr id="34" name="Rounded Rectangle 33"/>
          <p:cNvSpPr/>
          <p:nvPr/>
        </p:nvSpPr>
        <p:spPr>
          <a:xfrm>
            <a:off x="4709160" y="4443984"/>
            <a:ext cx="6510528" cy="1216152"/>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636008"/>
            <a:ext cx="1325880" cy="256032"/>
          </a:xfrm>
          <a:prstGeom prst="rect">
            <a:avLst/>
          </a:prstGeom>
          <a:noFill/>
        </p:spPr>
        <p:txBody>
          <a:bodyPr wrap="square" anchor="t" lIns="54864" rIns="54864" tIns="54864" bIns="54864">
            <a:spAutoFit/>
          </a:bodyPr>
          <a:lstStyle/>
          <a:p>
            <a:pPr algn="l">
              <a:spcAft>
                <a:spcPts val="0"/>
              </a:spcAft>
            </a:pPr>
            <a:r>
              <a:rPr sz="1050" b="1">
                <a:solidFill>
                  <a:srgbClr val="FFFFFF"/>
                </a:solidFill>
                <a:latin typeface="Arial"/>
              </a:rPr>
              <a:t>EVIDENCE</a:t>
            </a:r>
          </a:p>
        </p:txBody>
      </p:sp>
      <p:sp>
        <p:nvSpPr>
          <p:cNvPr id="36" name="TextBox 35"/>
          <p:cNvSpPr txBox="1"/>
          <p:nvPr/>
        </p:nvSpPr>
        <p:spPr>
          <a:xfrm>
            <a:off x="6144768" y="4572000"/>
            <a:ext cx="4828032" cy="731520"/>
          </a:xfrm>
          <a:prstGeom prst="rect">
            <a:avLst/>
          </a:prstGeom>
          <a:noFill/>
        </p:spPr>
        <p:txBody>
          <a:bodyPr wrap="square" anchor="t" lIns="54864" rIns="54864" tIns="54864" bIns="54864">
            <a:spAutoFit/>
          </a:bodyPr>
          <a:lstStyle/>
          <a:p>
            <a:pPr algn="l">
              <a:spcAft>
                <a:spcPts val="0"/>
              </a:spcAft>
            </a:pPr>
            <a:r>
              <a:rPr sz="1220" b="1">
                <a:solidFill>
                  <a:srgbClr val="FFFFFF"/>
                </a:solidFill>
                <a:latin typeface="Arial"/>
              </a:rPr>
              <a:t>Layered master PSD, prompt log, storyboard strip, peer critique, enhancement record, palette and three verified JPEGs.</a:t>
            </a:r>
          </a:p>
        </p:txBody>
      </p:sp>
      <p:sp>
        <p:nvSpPr>
          <p:cNvPr id="37" name="TextBox 36"/>
          <p:cNvSpPr txBox="1"/>
          <p:nvPr/>
        </p:nvSpPr>
        <p:spPr>
          <a:xfrm>
            <a:off x="4800600" y="5833872"/>
            <a:ext cx="6309360" cy="274320"/>
          </a:xfrm>
          <a:prstGeom prst="rect">
            <a:avLst/>
          </a:prstGeom>
          <a:noFill/>
        </p:spPr>
        <p:txBody>
          <a:bodyPr wrap="square" anchor="t" lIns="54864" rIns="54864" tIns="54864" bIns="54864">
            <a:spAutoFit/>
          </a:bodyPr>
          <a:lstStyle/>
          <a:p>
            <a:pPr algn="l">
              <a:spcAft>
                <a:spcPts val="0"/>
              </a:spcAft>
            </a:pPr>
            <a:r>
              <a:rPr sz="1100" b="1">
                <a:solidFill>
                  <a:srgbClr val="161920"/>
                </a:solidFill>
                <a:latin typeface="Arial"/>
              </a:rPr>
              <a:t>Full procedure · Learner Guide / Lab 10</a:t>
            </a:r>
          </a:p>
        </p:txBody>
      </p:sp>
    </p:spTree>
  </p:cSld>
  <p:transition spd="med" advClick="1">
    <p:fade/>
  </p:transition>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9A78"/>
                </a:solidFill>
                <a:latin typeface="Arial"/>
              </a:rPr>
              <a:t>EXPLAIN THE DECISION</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Topic 4 Checkpoint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201</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Purpose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does the audience need to notice?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Method</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Why does this technique fit the content and edge?</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Control</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setting most changes the outcome?</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Failure</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defect would make the result unacceptable?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Proof</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Which view and evidence demonstrate quality?</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Next</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What controlled variation would improve the result?</a:t>
            </a:r>
          </a:p>
        </p:txBody>
      </p:sp>
    </p:spTree>
  </p:cSld>
  <p:transition spd="med" advClick="1">
    <p:fade/>
  </p:transition>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COURSE SYNTHESIS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Professional Editing Loop</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202</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Brief</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Clarify purpose, audience, channel and constraints.</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Source</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Choose sufficient, rights-cleared assets.</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Construct</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layers, masks and Smart Objects.</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Experiment</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Vary one factor against a baseline.</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Evaluate</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Inspect visual, technical and rights criteria.</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Deliver</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Export, reopen and retain the master.</a:t>
            </a:r>
          </a:p>
        </p:txBody>
      </p:sp>
    </p:spTree>
  </p:cSld>
  <p:transition spd="med" advClick="1">
    <p:fade/>
  </p:transition>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C92828"/>
                </a:solidFill>
                <a:latin typeface="Arial"/>
              </a:rPr>
              <a:t>RESPONSIBLE VISUAL PRACTICE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Copyright and Asset Permission</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8229600" y="6473952"/>
            <a:ext cx="2926080" cy="201168"/>
          </a:xfrm>
          <a:prstGeom prst="rect">
            <a:avLst/>
          </a:prstGeom>
          <a:noFill/>
        </p:spPr>
        <p:txBody>
          <a:bodyPr wrap="square" anchor="t" lIns="54864" rIns="54864" tIns="54864" bIns="54864">
            <a:spAutoFit/>
          </a:bodyPr>
          <a:lstStyle/>
          <a:p>
            <a:pPr algn="r">
              <a:spcAft>
                <a:spcPts val="0"/>
              </a:spcAft>
            </a:pPr>
            <a:r>
              <a:rPr sz="720" b="0">
                <a:solidFill>
                  <a:srgbClr val="5B6372"/>
                </a:solidFill>
                <a:latin typeface="Arial"/>
              </a:rPr>
              <a:t>Adobe Firefly Terms · not legal advice</a:t>
            </a:r>
          </a:p>
        </p:txBody>
      </p:sp>
      <p:sp>
        <p:nvSpPr>
          <p:cNvPr id="10" name="TextBox 9"/>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203</a:t>
            </a:r>
          </a:p>
        </p:txBody>
      </p:sp>
      <p:sp>
        <p:nvSpPr>
          <p:cNvPr id="11" name="Rounded Rectangle 10"/>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Ownership</a:t>
            </a:r>
          </a:p>
        </p:txBody>
      </p:sp>
      <p:sp>
        <p:nvSpPr>
          <p:cNvPr id="14" name="TextBox 13"/>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Identify the creator/owner.</a:t>
            </a:r>
          </a:p>
        </p:txBody>
      </p:sp>
      <p:sp>
        <p:nvSpPr>
          <p:cNvPr id="15" name="Rounded Rectangle 14"/>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Permission</a:t>
            </a:r>
          </a:p>
        </p:txBody>
      </p:sp>
      <p:sp>
        <p:nvSpPr>
          <p:cNvPr id="18" name="TextBox 17"/>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Public visibility does not grant reuse.</a:t>
            </a:r>
          </a:p>
        </p:txBody>
      </p:sp>
      <p:sp>
        <p:nvSpPr>
          <p:cNvPr id="19" name="Rounded Rectangle 18"/>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Scope</a:t>
            </a:r>
          </a:p>
        </p:txBody>
      </p:sp>
      <p:sp>
        <p:nvSpPr>
          <p:cNvPr id="22" name="TextBox 21"/>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Check modification, commercial and redistribution rights.</a:t>
            </a:r>
          </a:p>
        </p:txBody>
      </p:sp>
      <p:sp>
        <p:nvSpPr>
          <p:cNvPr id="23" name="Rounded Rectangle 22"/>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People</a:t>
            </a:r>
          </a:p>
        </p:txBody>
      </p:sp>
      <p:sp>
        <p:nvSpPr>
          <p:cNvPr id="26" name="TextBox 25"/>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Confirm consent and privacy context.</a:t>
            </a:r>
          </a:p>
        </p:txBody>
      </p:sp>
      <p:sp>
        <p:nvSpPr>
          <p:cNvPr id="27" name="Rounded Rectangle 26"/>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Attribution</a:t>
            </a:r>
          </a:p>
        </p:txBody>
      </p:sp>
      <p:sp>
        <p:nvSpPr>
          <p:cNvPr id="30" name="TextBox 29"/>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Credit as the licence requires.</a:t>
            </a:r>
          </a:p>
        </p:txBody>
      </p:sp>
      <p:sp>
        <p:nvSpPr>
          <p:cNvPr id="31" name="Rounded Rectangle 30"/>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Record</a:t>
            </a:r>
          </a:p>
        </p:txBody>
      </p:sp>
      <p:sp>
        <p:nvSpPr>
          <p:cNvPr id="34" name="TextBox 33"/>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Retain source, licence, consent, date and use.</a:t>
            </a:r>
          </a:p>
        </p:txBody>
      </p:sp>
    </p:spTree>
  </p:cSld>
  <p:transition spd="med" advClick="1">
    <p:fade/>
  </p:transition>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PROVENANCE AND REVIEW</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Responsible Generative AI</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204</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Inputs</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only material you may provide.</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Log</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Record prompt and selected variation.</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Review</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Check plausibility, bias and artefacts.</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Terms</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Confirm current feature terms.</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Credentials</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Retain provenance where appropriate.</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Responsibility</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The editor owns the publication decision.</a:t>
            </a:r>
          </a:p>
        </p:txBody>
      </p:sp>
    </p:spTree>
  </p:cSld>
  <p:transition spd="med" advClick="1">
    <p:fade/>
  </p:transition>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A4 · DISCUSS THE PROCESS</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Peer Review</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205</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Describe</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State purpose and key decisions.</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Show</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Reveal layers, masks and before/after.</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Ask</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Use explicit criteria.</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Record</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Capture what the reviewer noticed.</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Decide</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Accept, adapt or reject with reason.</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Revise</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Make one traceable improvement.</a:t>
            </a:r>
          </a:p>
        </p:txBody>
      </p:sp>
    </p:spTree>
  </p:cSld>
  <p:transition spd="med" advClick="1">
    <p:fade/>
  </p:transition>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224AF4"/>
                </a:solidFill>
                <a:latin typeface="Arial"/>
              </a:rPr>
              <a:t>AFTER THE COURSE</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Support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206</a:t>
            </a:r>
          </a:p>
        </p:txBody>
      </p:sp>
      <p:sp>
        <p:nvSpPr>
          <p:cNvPr id="10" name="Rounded Rectangle 9"/>
          <p:cNvSpPr/>
          <p:nvPr/>
        </p:nvSpPr>
        <p:spPr>
          <a:xfrm>
            <a:off x="685800"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2121408"/>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Email</a:t>
            </a:r>
          </a:p>
        </p:txBody>
      </p:sp>
      <p:sp>
        <p:nvSpPr>
          <p:cNvPr id="13" name="TextBox 12"/>
          <p:cNvSpPr txBox="1"/>
          <p:nvPr/>
        </p:nvSpPr>
        <p:spPr>
          <a:xfrm>
            <a:off x="905256"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enquiry@tertiaryinfotech.com</a:t>
            </a:r>
          </a:p>
        </p:txBody>
      </p:sp>
      <p:sp>
        <p:nvSpPr>
          <p:cNvPr id="14" name="Rounded Rectangle 13"/>
          <p:cNvSpPr/>
          <p:nvPr/>
        </p:nvSpPr>
        <p:spPr>
          <a:xfrm>
            <a:off x="4349496"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2121408"/>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Telephone</a:t>
            </a:r>
          </a:p>
        </p:txBody>
      </p:sp>
      <p:sp>
        <p:nvSpPr>
          <p:cNvPr id="17" name="TextBox 16"/>
          <p:cNvSpPr txBox="1"/>
          <p:nvPr/>
        </p:nvSpPr>
        <p:spPr>
          <a:xfrm>
            <a:off x="4568952"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+65 6100 0613</a:t>
            </a:r>
          </a:p>
        </p:txBody>
      </p:sp>
      <p:sp>
        <p:nvSpPr>
          <p:cNvPr id="18" name="Rounded Rectangle 17"/>
          <p:cNvSpPr/>
          <p:nvPr/>
        </p:nvSpPr>
        <p:spPr>
          <a:xfrm>
            <a:off x="8013192" y="1755648"/>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2121408"/>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Portal</a:t>
            </a:r>
          </a:p>
        </p:txBody>
      </p:sp>
      <p:sp>
        <p:nvSpPr>
          <p:cNvPr id="21" name="TextBox 20"/>
          <p:cNvSpPr txBox="1"/>
          <p:nvPr/>
        </p:nvSpPr>
        <p:spPr>
          <a:xfrm>
            <a:off x="8232648" y="2414015"/>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https://lms-tms.tertiaryinfotech.com/</a:t>
            </a:r>
          </a:p>
        </p:txBody>
      </p:sp>
      <p:sp>
        <p:nvSpPr>
          <p:cNvPr id="22" name="Rounded Rectangle 21"/>
          <p:cNvSpPr/>
          <p:nvPr/>
        </p:nvSpPr>
        <p:spPr>
          <a:xfrm>
            <a:off x="685800"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078224"/>
            <a:ext cx="73152" cy="21214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7C3AED"/>
                </a:solidFill>
                <a:latin typeface="Arial"/>
              </a:rPr>
              <a:t>Provider</a:t>
            </a:r>
          </a:p>
        </p:txBody>
      </p:sp>
      <p:sp>
        <p:nvSpPr>
          <p:cNvPr id="25" name="TextBox 24"/>
          <p:cNvSpPr txBox="1"/>
          <p:nvPr/>
        </p:nvSpPr>
        <p:spPr>
          <a:xfrm>
            <a:off x="905256"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Tertiary Infotech Academy Pte Ltd</a:t>
            </a:r>
          </a:p>
        </p:txBody>
      </p:sp>
      <p:sp>
        <p:nvSpPr>
          <p:cNvPr id="26" name="Rounded Rectangle 25"/>
          <p:cNvSpPr/>
          <p:nvPr/>
        </p:nvSpPr>
        <p:spPr>
          <a:xfrm>
            <a:off x="4349496"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9496" y="4078224"/>
            <a:ext cx="73152" cy="2121408"/>
          </a:xfrm>
          <a:prstGeom prst="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8952"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009A78"/>
                </a:solidFill>
                <a:latin typeface="Arial"/>
              </a:rPr>
              <a:t>Website</a:t>
            </a:r>
          </a:p>
        </p:txBody>
      </p:sp>
      <p:sp>
        <p:nvSpPr>
          <p:cNvPr id="29" name="TextBox 28"/>
          <p:cNvSpPr txBox="1"/>
          <p:nvPr/>
        </p:nvSpPr>
        <p:spPr>
          <a:xfrm>
            <a:off x="4568952"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www.tertiarycourses.com.sg</a:t>
            </a:r>
          </a:p>
        </p:txBody>
      </p:sp>
      <p:sp>
        <p:nvSpPr>
          <p:cNvPr id="30" name="Rounded Rectangle 29"/>
          <p:cNvSpPr/>
          <p:nvPr/>
        </p:nvSpPr>
        <p:spPr>
          <a:xfrm>
            <a:off x="8013192" y="4078224"/>
            <a:ext cx="3462528" cy="2121408"/>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3192" y="4078224"/>
            <a:ext cx="73152" cy="2121408"/>
          </a:xfrm>
          <a:prstGeom prst="rect">
            <a:avLst/>
          </a:prstGeom>
          <a:solidFill>
            <a:srgbClr val="E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2648" y="4279392"/>
            <a:ext cx="3060192" cy="384048"/>
          </a:xfrm>
          <a:prstGeom prst="rect">
            <a:avLst/>
          </a:prstGeom>
          <a:noFill/>
        </p:spPr>
        <p:txBody>
          <a:bodyPr wrap="square" anchor="t" lIns="54864" rIns="54864" tIns="54864" bIns="54864">
            <a:spAutoFit/>
          </a:bodyPr>
          <a:lstStyle/>
          <a:p>
            <a:pPr algn="l">
              <a:spcAft>
                <a:spcPts val="0"/>
              </a:spcAft>
            </a:pPr>
            <a:r>
              <a:rPr sz="1500" b="1">
                <a:solidFill>
                  <a:srgbClr val="E98500"/>
                </a:solidFill>
                <a:latin typeface="Arial"/>
              </a:rPr>
              <a:t>Privacy</a:t>
            </a:r>
          </a:p>
        </p:txBody>
      </p:sp>
      <p:sp>
        <p:nvSpPr>
          <p:cNvPr id="33" name="TextBox 32"/>
          <p:cNvSpPr txBox="1"/>
          <p:nvPr/>
        </p:nvSpPr>
        <p:spPr>
          <a:xfrm>
            <a:off x="8232648" y="4736592"/>
            <a:ext cx="3060192" cy="1280160"/>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Do not send assessment content publicly.</a:t>
            </a:r>
          </a:p>
        </p:txBody>
      </p:sp>
    </p:spTree>
  </p:cSld>
  <p:transition spd="med" advClick="1">
    <p:fade/>
  </p:transition>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C92828"/>
                </a:solidFill>
                <a:latin typeface="Arial"/>
              </a:rPr>
              <a:t>WA + PP</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Final Assessment</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207</a:t>
            </a:r>
          </a:p>
        </p:txBody>
      </p:sp>
      <p:sp>
        <p:nvSpPr>
          <p:cNvPr id="10" name="Rounded Rectangle 9"/>
          <p:cNvSpPr/>
          <p:nvPr/>
        </p:nvSpPr>
        <p:spPr>
          <a:xfrm>
            <a:off x="68580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0392" y="2039112"/>
            <a:ext cx="548640" cy="54864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1</a:t>
            </a:r>
          </a:p>
        </p:txBody>
      </p:sp>
      <p:sp>
        <p:nvSpPr>
          <p:cNvPr id="13" name="TextBox 12"/>
          <p:cNvSpPr txBox="1"/>
          <p:nvPr/>
        </p:nvSpPr>
        <p:spPr>
          <a:xfrm>
            <a:off x="85039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Briefing</a:t>
            </a:r>
          </a:p>
        </p:txBody>
      </p:sp>
      <p:sp>
        <p:nvSpPr>
          <p:cNvPr id="14" name="Chevron 13"/>
          <p:cNvSpPr/>
          <p:nvPr/>
        </p:nvSpPr>
        <p:spPr>
          <a:xfrm>
            <a:off x="2714853" y="2816352"/>
            <a:ext cx="137160" cy="457200"/>
          </a:xfrm>
          <a:prstGeom prst="chevron">
            <a:avLst/>
          </a:prstGeom>
          <a:solidFill>
            <a:srgbClr val="C9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84017"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48609" y="2039112"/>
            <a:ext cx="548640" cy="548640"/>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48609"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2</a:t>
            </a:r>
          </a:p>
        </p:txBody>
      </p:sp>
      <p:sp>
        <p:nvSpPr>
          <p:cNvPr id="18" name="TextBox 17"/>
          <p:cNvSpPr txBox="1"/>
          <p:nvPr/>
        </p:nvSpPr>
        <p:spPr>
          <a:xfrm>
            <a:off x="3048609"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WA · 60 min</a:t>
            </a:r>
          </a:p>
        </p:txBody>
      </p:sp>
      <p:sp>
        <p:nvSpPr>
          <p:cNvPr id="19" name="Chevron 18"/>
          <p:cNvSpPr/>
          <p:nvPr/>
        </p:nvSpPr>
        <p:spPr>
          <a:xfrm>
            <a:off x="4913071" y="2816352"/>
            <a:ext cx="137160" cy="457200"/>
          </a:xfrm>
          <a:prstGeom prst="chevron">
            <a:avLst/>
          </a:prstGeom>
          <a:solidFill>
            <a:srgbClr val="C9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82235"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46827" y="2039112"/>
            <a:ext cx="548640" cy="548640"/>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6827"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3</a:t>
            </a:r>
          </a:p>
        </p:txBody>
      </p:sp>
      <p:sp>
        <p:nvSpPr>
          <p:cNvPr id="23" name="TextBox 22"/>
          <p:cNvSpPr txBox="1"/>
          <p:nvPr/>
        </p:nvSpPr>
        <p:spPr>
          <a:xfrm>
            <a:off x="5246827"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Transition</a:t>
            </a:r>
          </a:p>
        </p:txBody>
      </p:sp>
      <p:sp>
        <p:nvSpPr>
          <p:cNvPr id="24" name="Chevron 23"/>
          <p:cNvSpPr/>
          <p:nvPr/>
        </p:nvSpPr>
        <p:spPr>
          <a:xfrm>
            <a:off x="7111288" y="2816352"/>
            <a:ext cx="137160" cy="457200"/>
          </a:xfrm>
          <a:prstGeom prst="chevron">
            <a:avLst/>
          </a:prstGeom>
          <a:solidFill>
            <a:srgbClr val="C9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0452"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45044" y="2039112"/>
            <a:ext cx="54864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5044"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4</a:t>
            </a:r>
          </a:p>
        </p:txBody>
      </p:sp>
      <p:sp>
        <p:nvSpPr>
          <p:cNvPr id="28" name="TextBox 27"/>
          <p:cNvSpPr txBox="1"/>
          <p:nvPr/>
        </p:nvSpPr>
        <p:spPr>
          <a:xfrm>
            <a:off x="7445044"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PP · 60 min</a:t>
            </a:r>
          </a:p>
        </p:txBody>
      </p:sp>
      <p:sp>
        <p:nvSpPr>
          <p:cNvPr id="29" name="Chevron 28"/>
          <p:cNvSpPr/>
          <p:nvPr/>
        </p:nvSpPr>
        <p:spPr>
          <a:xfrm>
            <a:off x="9309506" y="2816352"/>
            <a:ext cx="137160" cy="457200"/>
          </a:xfrm>
          <a:prstGeom prst="chevron">
            <a:avLst/>
          </a:prstGeom>
          <a:solidFill>
            <a:srgbClr val="C9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7867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43262" y="2039112"/>
            <a:ext cx="548640" cy="548640"/>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326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5</a:t>
            </a:r>
          </a:p>
        </p:txBody>
      </p:sp>
      <p:sp>
        <p:nvSpPr>
          <p:cNvPr id="33" name="TextBox 32"/>
          <p:cNvSpPr txBox="1"/>
          <p:nvPr/>
        </p:nvSpPr>
        <p:spPr>
          <a:xfrm>
            <a:off x="964326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Submit</a:t>
            </a:r>
          </a:p>
        </p:txBody>
      </p:sp>
      <p:sp>
        <p:nvSpPr>
          <p:cNvPr id="34" name="Rounded Rectangle 33"/>
          <p:cNvSpPr/>
          <p:nvPr/>
        </p:nvSpPr>
        <p:spPr>
          <a:xfrm>
            <a:off x="685800" y="4617720"/>
            <a:ext cx="10789920" cy="1133856"/>
          </a:xfrm>
          <a:prstGeom prst="roundRect">
            <a:avLst/>
          </a:prstGeom>
          <a:solidFill>
            <a:srgbClr val="C9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46320"/>
            <a:ext cx="1508760" cy="228600"/>
          </a:xfrm>
          <a:prstGeom prst="rect">
            <a:avLst/>
          </a:prstGeom>
          <a:noFill/>
        </p:spPr>
        <p:txBody>
          <a:bodyPr wrap="square" anchor="t" lIns="54864" rIns="54864" tIns="54864" bIns="54864">
            <a:spAutoFit/>
          </a:bodyPr>
          <a:lstStyle/>
          <a:p>
            <a:pPr algn="l">
              <a:spcAft>
                <a:spcPts val="0"/>
              </a:spcAft>
            </a:pPr>
            <a:r>
              <a:rPr sz="1100" b="1">
                <a:solidFill>
                  <a:srgbClr val="FFFFFF"/>
                </a:solidFill>
                <a:latin typeface="Arial"/>
              </a:rPr>
              <a:t>OUTCOME</a:t>
            </a:r>
          </a:p>
        </p:txBody>
      </p:sp>
      <p:sp>
        <p:nvSpPr>
          <p:cNvPr id="36" name="TextBox 35"/>
          <p:cNvSpPr txBox="1"/>
          <p:nvPr/>
        </p:nvSpPr>
        <p:spPr>
          <a:xfrm>
            <a:off x="2240280" y="4773168"/>
            <a:ext cx="8915400" cy="621792"/>
          </a:xfrm>
          <a:prstGeom prst="rect">
            <a:avLst/>
          </a:prstGeom>
          <a:noFill/>
        </p:spPr>
        <p:txBody>
          <a:bodyPr wrap="square" anchor="t" lIns="54864" rIns="54864" tIns="54864" bIns="54864">
            <a:spAutoFit/>
          </a:bodyPr>
          <a:lstStyle/>
          <a:p>
            <a:pPr algn="l">
              <a:spcAft>
                <a:spcPts val="0"/>
              </a:spcAft>
            </a:pPr>
            <a:r>
              <a:rPr sz="1600" b="1">
                <a:solidFill>
                  <a:srgbClr val="FFFFFF"/>
                </a:solidFill>
                <a:latin typeface="Arial"/>
              </a:rPr>
              <a:t>Complete your own open-book evidence and submit when time is called.</a:t>
            </a:r>
          </a:p>
        </p:txBody>
      </p:sp>
    </p:spTree>
  </p:cSld>
  <p:transition spd="med" advClick="1">
    <p:fade/>
  </p:transition>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E11D74"/>
                </a:solidFill>
                <a:latin typeface="Arial"/>
              </a:rPr>
              <a:t>COMPETENCY SIGN-OFF</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Assessment Flow</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208</a:t>
            </a:r>
          </a:p>
        </p:txBody>
      </p:sp>
      <p:sp>
        <p:nvSpPr>
          <p:cNvPr id="10" name="Rounded Rectangle 9"/>
          <p:cNvSpPr/>
          <p:nvPr/>
        </p:nvSpPr>
        <p:spPr>
          <a:xfrm>
            <a:off x="68580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0392" y="2039112"/>
            <a:ext cx="548640" cy="548640"/>
          </a:xfrm>
          <a:prstGeom prst="round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1</a:t>
            </a:r>
          </a:p>
        </p:txBody>
      </p:sp>
      <p:sp>
        <p:nvSpPr>
          <p:cNvPr id="13" name="TextBox 12"/>
          <p:cNvSpPr txBox="1"/>
          <p:nvPr/>
        </p:nvSpPr>
        <p:spPr>
          <a:xfrm>
            <a:off x="85039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TRAQOM</a:t>
            </a:r>
          </a:p>
        </p:txBody>
      </p:sp>
      <p:sp>
        <p:nvSpPr>
          <p:cNvPr id="14" name="Chevron 13"/>
          <p:cNvSpPr/>
          <p:nvPr/>
        </p:nvSpPr>
        <p:spPr>
          <a:xfrm>
            <a:off x="2714853"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84017"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48609" y="2039112"/>
            <a:ext cx="548640" cy="548640"/>
          </a:xfrm>
          <a:prstGeom prst="round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48609"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2</a:t>
            </a:r>
          </a:p>
        </p:txBody>
      </p:sp>
      <p:sp>
        <p:nvSpPr>
          <p:cNvPr id="18" name="TextBox 17"/>
          <p:cNvSpPr txBox="1"/>
          <p:nvPr/>
        </p:nvSpPr>
        <p:spPr>
          <a:xfrm>
            <a:off x="3048609"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Assessment digital attendance</a:t>
            </a:r>
          </a:p>
        </p:txBody>
      </p:sp>
      <p:sp>
        <p:nvSpPr>
          <p:cNvPr id="19" name="Chevron 18"/>
          <p:cNvSpPr/>
          <p:nvPr/>
        </p:nvSpPr>
        <p:spPr>
          <a:xfrm>
            <a:off x="4913071"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82235"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246827" y="2039112"/>
            <a:ext cx="548640" cy="548640"/>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6827"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3</a:t>
            </a:r>
          </a:p>
        </p:txBody>
      </p:sp>
      <p:sp>
        <p:nvSpPr>
          <p:cNvPr id="23" name="TextBox 22"/>
          <p:cNvSpPr txBox="1"/>
          <p:nvPr/>
        </p:nvSpPr>
        <p:spPr>
          <a:xfrm>
            <a:off x="5246827"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WA then PP</a:t>
            </a:r>
          </a:p>
        </p:txBody>
      </p:sp>
      <p:sp>
        <p:nvSpPr>
          <p:cNvPr id="24" name="Chevron 23"/>
          <p:cNvSpPr/>
          <p:nvPr/>
        </p:nvSpPr>
        <p:spPr>
          <a:xfrm>
            <a:off x="7111288"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0452"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45044" y="2039112"/>
            <a:ext cx="54864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5044"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4</a:t>
            </a:r>
          </a:p>
        </p:txBody>
      </p:sp>
      <p:sp>
        <p:nvSpPr>
          <p:cNvPr id="28" name="TextBox 27"/>
          <p:cNvSpPr txBox="1"/>
          <p:nvPr/>
        </p:nvSpPr>
        <p:spPr>
          <a:xfrm>
            <a:off x="7445044"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Submit on LMS</a:t>
            </a:r>
          </a:p>
        </p:txBody>
      </p:sp>
      <p:sp>
        <p:nvSpPr>
          <p:cNvPr id="29" name="Chevron 28"/>
          <p:cNvSpPr/>
          <p:nvPr/>
        </p:nvSpPr>
        <p:spPr>
          <a:xfrm>
            <a:off x="9309506" y="2816352"/>
            <a:ext cx="137160" cy="457200"/>
          </a:xfrm>
          <a:prstGeom prst="chevron">
            <a:avLst/>
          </a:prstGeom>
          <a:solidFill>
            <a:srgbClr val="E11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78670" y="1874519"/>
            <a:ext cx="1997049" cy="2286000"/>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43262" y="2039112"/>
            <a:ext cx="548640" cy="548640"/>
          </a:xfrm>
          <a:prstGeom prst="roundRect">
            <a:avLst/>
          </a:prstGeom>
          <a:solidFill>
            <a:srgbClr val="009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3262" y="2167127"/>
            <a:ext cx="548640" cy="219456"/>
          </a:xfrm>
          <a:prstGeom prst="rect">
            <a:avLst/>
          </a:prstGeom>
          <a:noFill/>
        </p:spPr>
        <p:txBody>
          <a:bodyPr wrap="square" anchor="t" lIns="54864" rIns="54864" tIns="54864" bIns="54864">
            <a:spAutoFit/>
          </a:bodyPr>
          <a:lstStyle/>
          <a:p>
            <a:pPr algn="ctr">
              <a:spcAft>
                <a:spcPts val="0"/>
              </a:spcAft>
            </a:pPr>
            <a:r>
              <a:rPr sz="1200" b="1">
                <a:solidFill>
                  <a:srgbClr val="FFFFFF"/>
                </a:solidFill>
                <a:latin typeface="Arial"/>
              </a:rPr>
              <a:t>5</a:t>
            </a:r>
          </a:p>
        </p:txBody>
      </p:sp>
      <p:sp>
        <p:nvSpPr>
          <p:cNvPr id="33" name="TextBox 32"/>
          <p:cNvSpPr txBox="1"/>
          <p:nvPr/>
        </p:nvSpPr>
        <p:spPr>
          <a:xfrm>
            <a:off x="9643262" y="2816352"/>
            <a:ext cx="1667865" cy="594360"/>
          </a:xfrm>
          <a:prstGeom prst="rect">
            <a:avLst/>
          </a:prstGeom>
          <a:noFill/>
        </p:spPr>
        <p:txBody>
          <a:bodyPr wrap="square" anchor="t" lIns="54864" rIns="54864" tIns="54864" bIns="54864">
            <a:spAutoFit/>
          </a:bodyPr>
          <a:lstStyle/>
          <a:p>
            <a:pPr algn="ctr">
              <a:spcAft>
                <a:spcPts val="0"/>
              </a:spcAft>
            </a:pPr>
            <a:r>
              <a:rPr sz="1500" b="1">
                <a:solidFill>
                  <a:srgbClr val="161920"/>
                </a:solidFill>
                <a:latin typeface="Arial"/>
              </a:rPr>
              <a:t>Sign summary record</a:t>
            </a:r>
          </a:p>
        </p:txBody>
      </p:sp>
      <p:sp>
        <p:nvSpPr>
          <p:cNvPr id="34" name="Rounded Rectangle 33"/>
          <p:cNvSpPr/>
          <p:nvPr/>
        </p:nvSpPr>
        <p:spPr>
          <a:xfrm>
            <a:off x="685800" y="4617720"/>
            <a:ext cx="10789920" cy="1133856"/>
          </a:xfrm>
          <a:prstGeom prst="round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46320"/>
            <a:ext cx="1508760" cy="228600"/>
          </a:xfrm>
          <a:prstGeom prst="rect">
            <a:avLst/>
          </a:prstGeom>
          <a:noFill/>
        </p:spPr>
        <p:txBody>
          <a:bodyPr wrap="square" anchor="t" lIns="54864" rIns="54864" tIns="54864" bIns="54864">
            <a:spAutoFit/>
          </a:bodyPr>
          <a:lstStyle/>
          <a:p>
            <a:pPr algn="l">
              <a:spcAft>
                <a:spcPts val="0"/>
              </a:spcAft>
            </a:pPr>
            <a:r>
              <a:rPr sz="1100" b="1">
                <a:solidFill>
                  <a:srgbClr val="FFFFFF"/>
                </a:solidFill>
                <a:latin typeface="Arial"/>
              </a:rPr>
              <a:t>OUTCOME</a:t>
            </a:r>
          </a:p>
        </p:txBody>
      </p:sp>
      <p:sp>
        <p:nvSpPr>
          <p:cNvPr id="36" name="TextBox 35"/>
          <p:cNvSpPr txBox="1"/>
          <p:nvPr/>
        </p:nvSpPr>
        <p:spPr>
          <a:xfrm>
            <a:off x="2240280" y="4773168"/>
            <a:ext cx="8915400" cy="621792"/>
          </a:xfrm>
          <a:prstGeom prst="rect">
            <a:avLst/>
          </a:prstGeom>
          <a:noFill/>
        </p:spPr>
        <p:txBody>
          <a:bodyPr wrap="square" anchor="t" lIns="54864" rIns="54864" tIns="54864" bIns="54864">
            <a:spAutoFit/>
          </a:bodyPr>
          <a:lstStyle/>
          <a:p>
            <a:pPr algn="l">
              <a:spcAft>
                <a:spcPts val="0"/>
              </a:spcAft>
            </a:pPr>
            <a:r>
              <a:rPr sz="1600" b="1">
                <a:solidFill>
                  <a:srgbClr val="FFFFFF"/>
                </a:solidFill>
                <a:latin typeface="Arial"/>
              </a:rPr>
              <a:t>Complete the official sequence: TRAQOM → assessment digital attendance → WA then PP → LMS submission → Assessment Summary Record.</a:t>
            </a:r>
          </a:p>
        </p:txBody>
      </p:sp>
    </p:spTree>
  </p:cSld>
  <p:transition spd="med" advClick="1">
    <p:fade/>
  </p:transition>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99616"/>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10789920" cy="274320"/>
          </a:xfrm>
          <a:prstGeom prst="rect">
            <a:avLst/>
          </a:prstGeom>
          <a:noFill/>
        </p:spPr>
        <p:txBody>
          <a:bodyPr wrap="square" anchor="t" lIns="54864" rIns="54864" tIns="54864" bIns="54864">
            <a:spAutoFit/>
          </a:bodyPr>
          <a:lstStyle/>
          <a:p>
            <a:pPr algn="l">
              <a:spcAft>
                <a:spcPts val="0"/>
              </a:spcAft>
            </a:pPr>
            <a:r>
              <a:rPr sz="1150" b="1">
                <a:solidFill>
                  <a:srgbClr val="00B8D9"/>
                </a:solidFill>
                <a:latin typeface="Arial"/>
              </a:rPr>
              <a:t>DIGITAL ATTENDANCE · MANDATORY</a:t>
            </a:r>
          </a:p>
        </p:txBody>
      </p:sp>
      <p:sp>
        <p:nvSpPr>
          <p:cNvPr id="5" name="TextBox 4"/>
          <p:cNvSpPr txBox="1"/>
          <p:nvPr/>
        </p:nvSpPr>
        <p:spPr>
          <a:xfrm>
            <a:off x="658368" y="694944"/>
            <a:ext cx="10835640" cy="685800"/>
          </a:xfrm>
          <a:prstGeom prst="rect">
            <a:avLst/>
          </a:prstGeom>
          <a:noFill/>
        </p:spPr>
        <p:txBody>
          <a:bodyPr wrap="square" anchor="t" lIns="54864" rIns="54864" tIns="54864" bIns="54864">
            <a:spAutoFit/>
          </a:bodyPr>
          <a:lstStyle/>
          <a:p>
            <a:pPr algn="l">
              <a:spcAft>
                <a:spcPts val="0"/>
              </a:spcAft>
            </a:pPr>
            <a:r>
              <a:rPr sz="2800" b="1">
                <a:solidFill>
                  <a:srgbClr val="161920"/>
                </a:solidFill>
                <a:latin typeface="Arial"/>
              </a:rPr>
              <a:t>TRAQOM · SSG Digital Attendance</a:t>
            </a:r>
          </a:p>
        </p:txBody>
      </p:sp>
      <p:sp>
        <p:nvSpPr>
          <p:cNvPr id="6" name="Rectangle 5"/>
          <p:cNvSpPr/>
          <p:nvPr/>
        </p:nvSpPr>
        <p:spPr>
          <a:xfrm>
            <a:off x="658368" y="1417320"/>
            <a:ext cx="10881360" cy="18288"/>
          </a:xfrm>
          <a:prstGeom prst="rect">
            <a:avLst/>
          </a:prstGeom>
          <a:solidFill>
            <a:srgbClr val="DA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8" name="TextBox 7"/>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9" name="TextBox 8"/>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209</a:t>
            </a:r>
          </a:p>
        </p:txBody>
      </p:sp>
      <p:sp>
        <p:nvSpPr>
          <p:cNvPr id="10" name="Rounded Rectangle 9"/>
          <p:cNvSpPr/>
          <p:nvPr/>
        </p:nvSpPr>
        <p:spPr>
          <a:xfrm>
            <a:off x="685800"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755648"/>
            <a:ext cx="73152" cy="4443984"/>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224AF4"/>
                </a:solidFill>
                <a:latin typeface="Arial"/>
              </a:rPr>
              <a:t>TRAQOM</a:t>
            </a:r>
          </a:p>
        </p:txBody>
      </p:sp>
      <p:sp>
        <p:nvSpPr>
          <p:cNvPr id="13" name="TextBox 12"/>
          <p:cNvSpPr txBox="1"/>
          <p:nvPr/>
        </p:nvSpPr>
        <p:spPr>
          <a:xfrm>
            <a:off x="905256"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Scan the QR code provided through the LMS.</a:t>
            </a:r>
          </a:p>
        </p:txBody>
      </p:sp>
      <p:sp>
        <p:nvSpPr>
          <p:cNvPr id="14" name="Rounded Rectangle 13"/>
          <p:cNvSpPr/>
          <p:nvPr/>
        </p:nvSpPr>
        <p:spPr>
          <a:xfrm>
            <a:off x="4349496"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9496" y="1755648"/>
            <a:ext cx="73152" cy="4443984"/>
          </a:xfrm>
          <a:prstGeom prst="rect">
            <a:avLst/>
          </a:prstGeom>
          <a:solidFill>
            <a:srgbClr val="00B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8952"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00B8D9"/>
                </a:solidFill>
                <a:latin typeface="Arial"/>
              </a:rPr>
              <a:t>Assessment attendance</a:t>
            </a:r>
          </a:p>
        </p:txBody>
      </p:sp>
      <p:sp>
        <p:nvSpPr>
          <p:cNvPr id="17" name="TextBox 16"/>
          <p:cNvSpPr txBox="1"/>
          <p:nvPr/>
        </p:nvSpPr>
        <p:spPr>
          <a:xfrm>
            <a:off x="4568952"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Complete the official digital-attendance event before assessment.</a:t>
            </a:r>
          </a:p>
        </p:txBody>
      </p:sp>
      <p:sp>
        <p:nvSpPr>
          <p:cNvPr id="18" name="Rounded Rectangle 17"/>
          <p:cNvSpPr/>
          <p:nvPr/>
        </p:nvSpPr>
        <p:spPr>
          <a:xfrm>
            <a:off x="8013192" y="1755648"/>
            <a:ext cx="3462528" cy="4443984"/>
          </a:xfrm>
          <a:prstGeom prst="roundRect">
            <a:avLst/>
          </a:prstGeom>
          <a:solidFill>
            <a:srgbClr val="F5F7FB"/>
          </a:solidFill>
          <a:ln>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3192" y="1755648"/>
            <a:ext cx="73152" cy="4443984"/>
          </a:xfrm>
          <a:prstGeom prst="rect">
            <a:avLst/>
          </a:prstGeom>
          <a:solidFill>
            <a:srgbClr val="E11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2648" y="1956816"/>
            <a:ext cx="3060192" cy="384048"/>
          </a:xfrm>
          <a:prstGeom prst="rect">
            <a:avLst/>
          </a:prstGeom>
          <a:noFill/>
        </p:spPr>
        <p:txBody>
          <a:bodyPr wrap="square" anchor="t" lIns="54864" rIns="54864" tIns="54864" bIns="54864">
            <a:spAutoFit/>
          </a:bodyPr>
          <a:lstStyle/>
          <a:p>
            <a:pPr algn="l">
              <a:spcAft>
                <a:spcPts val="0"/>
              </a:spcAft>
            </a:pPr>
            <a:r>
              <a:rPr sz="1500" b="1">
                <a:solidFill>
                  <a:srgbClr val="E11D74"/>
                </a:solidFill>
                <a:latin typeface="Arial"/>
              </a:rPr>
              <a:t>Verification</a:t>
            </a:r>
          </a:p>
        </p:txBody>
      </p:sp>
      <p:sp>
        <p:nvSpPr>
          <p:cNvPr id="21" name="TextBox 20"/>
          <p:cNvSpPr txBox="1"/>
          <p:nvPr/>
        </p:nvSpPr>
        <p:spPr>
          <a:xfrm>
            <a:off x="8232648" y="2414015"/>
            <a:ext cx="3060192" cy="3602736"/>
          </a:xfrm>
          <a:prstGeom prst="rect">
            <a:avLst/>
          </a:prstGeom>
          <a:noFill/>
        </p:spPr>
        <p:txBody>
          <a:bodyPr wrap="square" anchor="t" lIns="54864" rIns="54864" tIns="54864" bIns="54864">
            <a:spAutoFit/>
          </a:bodyPr>
          <a:lstStyle/>
          <a:p>
            <a:pPr algn="l">
              <a:spcAft>
                <a:spcPts val="0"/>
              </a:spcAft>
            </a:pPr>
            <a:r>
              <a:rPr sz="1250" b="0">
                <a:solidFill>
                  <a:srgbClr val="5B6372"/>
                </a:solidFill>
                <a:latin typeface="Arial"/>
              </a:rPr>
              <a:t>Remain until the trainer confirms the SSG record.</a:t>
            </a:r>
          </a:p>
        </p:txBody>
      </p:sp>
    </p:spTree>
  </p:cSld>
  <p:transition spd="med" advClick="1">
    <p:fade/>
  </p:transition>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24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10607040" cy="1005840"/>
          </a:xfrm>
          <a:prstGeom prst="rect">
            <a:avLst/>
          </a:prstGeom>
          <a:noFill/>
        </p:spPr>
        <p:txBody>
          <a:bodyPr wrap="square" anchor="t" lIns="54864" rIns="54864" tIns="54864" bIns="54864">
            <a:spAutoFit/>
          </a:bodyPr>
          <a:lstStyle/>
          <a:p>
            <a:pPr algn="ctr">
              <a:spcAft>
                <a:spcPts val="0"/>
              </a:spcAft>
            </a:pPr>
            <a:r>
              <a:rPr sz="4800" b="1">
                <a:solidFill>
                  <a:srgbClr val="161920"/>
                </a:solidFill>
                <a:latin typeface="Arial"/>
              </a:rPr>
              <a:t>Thank You</a:t>
            </a:r>
          </a:p>
        </p:txBody>
      </p:sp>
      <p:sp>
        <p:nvSpPr>
          <p:cNvPr id="5" name="TextBox 4"/>
          <p:cNvSpPr txBox="1"/>
          <p:nvPr/>
        </p:nvSpPr>
        <p:spPr>
          <a:xfrm>
            <a:off x="1371600" y="3246120"/>
            <a:ext cx="9418320" cy="594360"/>
          </a:xfrm>
          <a:prstGeom prst="rect">
            <a:avLst/>
          </a:prstGeom>
          <a:noFill/>
        </p:spPr>
        <p:txBody>
          <a:bodyPr wrap="square" anchor="t" lIns="54864" rIns="54864" tIns="54864" bIns="54864">
            <a:spAutoFit/>
          </a:bodyPr>
          <a:lstStyle/>
          <a:p>
            <a:pPr algn="ctr">
              <a:spcAft>
                <a:spcPts val="0"/>
              </a:spcAft>
            </a:pPr>
            <a:r>
              <a:rPr sz="2000" b="1">
                <a:solidFill>
                  <a:srgbClr val="224AF4"/>
                </a:solidFill>
                <a:latin typeface="Arial"/>
              </a:rPr>
              <a:t>Create with intent · preserve options · verify the output</a:t>
            </a:r>
          </a:p>
        </p:txBody>
      </p:sp>
      <p:sp>
        <p:nvSpPr>
          <p:cNvPr id="6" name="TextBox 5"/>
          <p:cNvSpPr txBox="1"/>
          <p:nvPr/>
        </p:nvSpPr>
        <p:spPr>
          <a:xfrm>
            <a:off x="411480" y="6473952"/>
            <a:ext cx="3657600" cy="201168"/>
          </a:xfrm>
          <a:prstGeom prst="rect">
            <a:avLst/>
          </a:prstGeom>
          <a:noFill/>
        </p:spPr>
        <p:txBody>
          <a:bodyPr wrap="square" anchor="t" lIns="54864" rIns="54864" tIns="54864" bIns="54864">
            <a:spAutoFit/>
          </a:bodyPr>
          <a:lstStyle/>
          <a:p>
            <a:pPr algn="l">
              <a:spcAft>
                <a:spcPts val="0"/>
              </a:spcAft>
            </a:pPr>
            <a:r>
              <a:rPr sz="850" b="0">
                <a:solidFill>
                  <a:srgbClr val="5B6372"/>
                </a:solidFill>
                <a:latin typeface="Arial"/>
              </a:rPr>
              <a:t>Generative-AI-Visuals-in-Photoshop-and-Firefly  ·  TGS-2024045220</a:t>
            </a:r>
          </a:p>
        </p:txBody>
      </p:sp>
      <p:sp>
        <p:nvSpPr>
          <p:cNvPr id="7" name="TextBox 6"/>
          <p:cNvSpPr txBox="1"/>
          <p:nvPr/>
        </p:nvSpPr>
        <p:spPr>
          <a:xfrm>
            <a:off x="4069080" y="6473952"/>
            <a:ext cx="3931920" cy="201168"/>
          </a:xfrm>
          <a:prstGeom prst="rect">
            <a:avLst/>
          </a:prstGeom>
          <a:noFill/>
        </p:spPr>
        <p:txBody>
          <a:bodyPr wrap="square" anchor="t" lIns="54864" rIns="54864" tIns="54864" bIns="54864">
            <a:spAutoFit/>
          </a:bodyPr>
          <a:lstStyle/>
          <a:p>
            <a:pPr algn="ctr">
              <a:spcAft>
                <a:spcPts val="0"/>
              </a:spcAft>
            </a:pPr>
            <a:r>
              <a:rPr sz="780" b="0">
                <a:solidFill>
                  <a:srgbClr val="5B6372"/>
                </a:solidFill>
                <a:latin typeface="Arial"/>
              </a:rPr>
              <a:t>© 2026 Tertiary Infotech Academy Pte Ltd</a:t>
            </a:r>
          </a:p>
        </p:txBody>
      </p:sp>
      <p:sp>
        <p:nvSpPr>
          <p:cNvPr id="8" name="TextBox 7"/>
          <p:cNvSpPr txBox="1"/>
          <p:nvPr/>
        </p:nvSpPr>
        <p:spPr>
          <a:xfrm>
            <a:off x="11475720" y="6473952"/>
            <a:ext cx="320040" cy="201168"/>
          </a:xfrm>
          <a:prstGeom prst="rect">
            <a:avLst/>
          </a:prstGeom>
          <a:noFill/>
        </p:spPr>
        <p:txBody>
          <a:bodyPr wrap="square" anchor="t" lIns="54864" rIns="54864" tIns="54864" bIns="54864">
            <a:spAutoFit/>
          </a:bodyPr>
          <a:lstStyle/>
          <a:p>
            <a:pPr algn="r">
              <a:spcAft>
                <a:spcPts val="0"/>
              </a:spcAft>
            </a:pPr>
            <a:r>
              <a:rPr sz="850" b="0">
                <a:solidFill>
                  <a:srgbClr val="5B6372"/>
                </a:solidFill>
                <a:latin typeface="Arial"/>
              </a:rPr>
              <a:t>210</a:t>
            </a:r>
          </a:p>
        </p:txBody>
      </p:sp>
    </p:spTree>
  </p:cSld>
  <p:transition spd="med" advClick="1">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