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Review score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Clear subject</c:v>
                </c:pt>
                <c:pt idx="1">
                  <c:v>Audience fit</c:v>
                </c:pt>
                <c:pt idx="2">
                  <c:v>Composition</c:v>
                </c:pt>
                <c:pt idx="3">
                  <c:v>Lighting/style</c:v>
                </c:pt>
                <c:pt idx="4">
                  <c:v>Constraints</c:v>
                </c:pt>
                <c:pt idx="5">
                  <c:v>Provenance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Structure control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Prompt only</c:v>
                </c:pt>
                <c:pt idx="1">
                  <c:v>Composition ref</c:v>
                </c:pt>
                <c:pt idx="2">
                  <c:v>Style ref</c:v>
                </c:pt>
                <c:pt idx="3">
                  <c:v>Both refs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Style control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Prompt only</c:v>
                </c:pt>
                <c:pt idx="1">
                  <c:v>Composition ref</c:v>
                </c:pt>
                <c:pt idx="2">
                  <c:v>Style ref</c:v>
                </c:pt>
                <c:pt idx="3">
                  <c:v>Both refs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Flattened pixels</c:v>
                </c:pt>
                <c:pt idx="1">
                  <c:v>Duplicate layer</c:v>
                </c:pt>
                <c:pt idx="2">
                  <c:v>Generated layer</c:v>
                </c:pt>
                <c:pt idx="3">
                  <c:v>Adjustment layer</c:v>
                </c:pt>
                <c:pt idx="4">
                  <c:v>Smart Object + mask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Visual 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Primary</c:v>
                </c:pt>
                <c:pt idx="1">
                  <c:v>Secondary</c:v>
                </c:pt>
                <c:pt idx="2">
                  <c:v>Accent</c:v>
                </c:pt>
                <c:pt idx="3">
                  <c:v>Neutral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25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Priority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Dimensions</c:v>
                </c:pt>
                <c:pt idx="1">
                  <c:v>Colour/profile</c:v>
                </c:pt>
                <c:pt idx="2">
                  <c:v>Edges</c:v>
                </c:pt>
                <c:pt idx="3">
                  <c:v>Compression</c:v>
                </c:pt>
                <c:pt idx="4">
                  <c:v>Provenance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4045220-Generative-AI-GenAI-Visuals-in-Photoshop-and-Firefly/tree/master/lab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7.png"/>
          <p:cNvPicPr>
            <a:picLocks noChangeAspect="1"/>
          </p:cNvPicPr>
          <p:nvPr/>
        </p:nvPicPr>
        <p:blipFill>
          <a:blip r:embed="rId2"/>
          <a:srcRect l="20434" r="20434"/>
          <a:stretch>
            <a:fillRect/>
          </a:stretch>
        </p:blipFill>
        <p:spPr>
          <a:xfrm>
            <a:off x="4983480" y="0"/>
            <a:ext cx="72054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63440" y="0"/>
            <a:ext cx="10972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0292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63240" y="530352"/>
            <a:ext cx="1325880" cy="621792"/>
          </a:xfrm>
          <a:prstGeom prst="round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649224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0B8D9"/>
                </a:solidFill>
                <a:latin typeface="Arial"/>
              </a:rPr>
              <a:t>PIXEL ·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420624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COURSE SLIDES ·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4434840" cy="2103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61920"/>
                </a:solidFill>
                <a:latin typeface="Arial"/>
              </a:rPr>
              <a:t>Generative AI (GenAI) Visuals in Photoshop and Firefly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87952"/>
            <a:ext cx="1234440" cy="73152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507992"/>
            <a:ext cx="43434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Course code  </a:t>
            </a:r>
            <a:r>
              <a:rPr sz="1250">
                <a:solidFill>
                  <a:srgbClr val="5B6372"/>
                </a:solidFill>
                <a:latin typeface="Arial"/>
              </a:rPr>
              <a:t>TGS-2024045220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TSC  </a:t>
            </a:r>
            <a:r>
              <a:rPr sz="1250">
                <a:solidFill>
                  <a:srgbClr val="5B6372"/>
                </a:solidFill>
                <a:latin typeface="Arial"/>
              </a:rPr>
              <a:t>Visual Communication · DSN-COM-4005-1.1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Provider  </a:t>
            </a:r>
            <a:r>
              <a:rPr sz="1250">
                <a:solidFill>
                  <a:srgbClr val="5B6372"/>
                </a:solidFill>
                <a:latin typeface="Arial"/>
              </a:rPr>
              <a:t>Tertiary Infotech Academy Pte Ltd · 201200789K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44768"/>
            <a:ext cx="42976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11D74"/>
                </a:solidFill>
                <a:latin typeface="Arial"/>
              </a:rPr>
              <a:t>Version v7 · 21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6473952"/>
            <a:ext cx="60350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© 2026 Tertiary Infotech Academy Pte Ltd · TGS-2024045220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MANDATORY WSQ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4443984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trainer-displayed electronic attendance for every required session.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4443984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your authorised identity.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4443984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Remain until the trainer confirms the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FACILITATOR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General Trainer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55648"/>
            <a:ext cx="2880360" cy="43434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7320" y="2148840"/>
            <a:ext cx="1600200" cy="160020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542032"/>
            <a:ext cx="160020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TRAINER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2423160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Insert approved profile photo and professional designation before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783080"/>
            <a:ext cx="3456432" cy="17830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011680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4AF4"/>
                </a:solidFill>
                <a:latin typeface="Arial"/>
              </a:rPr>
              <a:t>Industry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96312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Relevant Photoshop and digital-imaging experience.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59" y="1783080"/>
            <a:ext cx="3456432" cy="17830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59" y="2011680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Training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2496312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Adult-learning and facilitation credentials.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813048"/>
            <a:ext cx="3456432" cy="17830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041648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11D74"/>
                </a:solidFill>
                <a:latin typeface="Arial"/>
              </a:rPr>
              <a:t>Course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526280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Examples aligned to learner roles and channels.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59" y="3813048"/>
            <a:ext cx="3456432" cy="17830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59" y="4041648"/>
            <a:ext cx="2971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59" y="4526280"/>
            <a:ext cx="29718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Approved professional contact route.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Expertise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Digital transformation, courseware and adult learning.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Facilitation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Concept explanation, coached practice and evidence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Reversible workflows and clear acceptance criteria.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Learning 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Explain the reason behind every editing choice.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 · +65 6100 0613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OPENING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Your GenAI Visual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visuals do you create or manage?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Social, web, presentation, print or campaign?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Friction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ideation or Photoshop task costs the most time?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visual defect is most visible today?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Firefly or Photoshop feature is familiar?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finished artifact will prove improvement?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Working Agreements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Participate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Try the tools and explain choices.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Respect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Critique work, not people.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Protect assets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permitted sources and retain rights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Save 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Preserve originals and name layers/files.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Share safely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Protect learner work and assessment content.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Reopen exports before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LMS-TMS · LEARNER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6070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37360"/>
            <a:ext cx="10607040" cy="50292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1901952"/>
            <a:ext cx="109728" cy="109728"/>
          </a:xfrm>
          <a:prstGeom prst="round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016" y="1901952"/>
            <a:ext cx="109728" cy="10972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17904" y="1901952"/>
            <a:ext cx="109728" cy="10972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80" y="1847088"/>
            <a:ext cx="7955279" cy="256032"/>
          </a:xfrm>
          <a:prstGeom prst="roundRect">
            <a:avLst/>
          </a:prstGeom>
          <a:solidFill>
            <a:srgbClr val="32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892807"/>
            <a:ext cx="7635240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78608"/>
            <a:ext cx="67665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920"/>
                </a:solidFill>
                <a:latin typeface="Arial"/>
              </a:rPr>
              <a:t>GenAI Visuals · Photoshop + Firefly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63240"/>
            <a:ext cx="47548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Courseware · v7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67328"/>
            <a:ext cx="1664208" cy="150876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54480" y="3986784"/>
            <a:ext cx="749808" cy="56692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39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Trainer deck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0672" y="3767328"/>
            <a:ext cx="1664208" cy="150876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47872" y="3986784"/>
            <a:ext cx="749808" cy="56692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7832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Learner slides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3767328"/>
            <a:ext cx="1664208" cy="150876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41264" y="3986784"/>
            <a:ext cx="749808" cy="56692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41264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Detailed guide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77456" y="3767328"/>
            <a:ext cx="1664208" cy="150876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34656" y="3986784"/>
            <a:ext cx="749808" cy="56692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Delivery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70848" y="3767328"/>
            <a:ext cx="1664208" cy="150876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28048" y="3986784"/>
            <a:ext cx="749808" cy="56692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Lab folders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532120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Outcome · the complete package is available in one authenticated course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LEARNER-FACING GITHUB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 the Ten Lab Folders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28800"/>
            <a:ext cx="1037844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76272"/>
            <a:ext cx="973836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61920"/>
                </a:solidFill>
                <a:latin typeface="Arial"/>
              </a:rPr>
              <a:t>Open the course repository, select labs/, then open the numbered folder assigned by your trainer.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063240"/>
            <a:ext cx="7269480" cy="71323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24AF4"/>
                </a:solidFill>
                <a:latin typeface="Arial"/>
                <a:hlinkClick r:id="rId2"/>
              </a:rPr>
              <a:t>Open the learner lab folders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370832"/>
            <a:ext cx="9326880" cy="5486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Every folder contains a detailed guide plus supplied PSD/JPEG assets. Keep your outputs inside that folder or the trainer-approved workspace.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COURSE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Two-Day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Explore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Compose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Critique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Deliver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The workflow moves from audience-led exploration to Firefly control, editable Photoshop integration, critique and verified delivery.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VISUAL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TSC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Visual Communication · DSN-COM-4005-1.1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TGS-2024045220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2 days · 16 hours, including 2 hours of assessment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K1–K5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A1–A7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WA 60 min · PP 60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K1–K5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Knowledge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K1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Elements of typography, logos, visual communication design and information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K2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Best practices for visual communication.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K3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Uses of relevant visual-design software packages.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K4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Colour fundamentals and forms.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K5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Techniques for analysing aesthetics.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A1–A7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Ability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1347216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13472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Initiate visual communication ideas through exploration.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1347216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13472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Develop outputs by integrating media, materials, processes and environments.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1347216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13472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storyboards and task flows to communicate intentions.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04032"/>
            <a:ext cx="3462528" cy="1347216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304032"/>
            <a:ext cx="73152" cy="1347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3505200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A4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962399"/>
            <a:ext cx="3060192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Evaluate design work with stakeholders.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3304032"/>
            <a:ext cx="3462528" cy="1347216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3304032"/>
            <a:ext cx="73152" cy="13472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3505200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A5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3962399"/>
            <a:ext cx="3060192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Propose suggestions to enhance visual formats.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3304032"/>
            <a:ext cx="3462528" cy="1347216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3304032"/>
            <a:ext cx="73152" cy="13472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3505200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A6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3962399"/>
            <a:ext cx="3060192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Critique own and others' work using explicit criteria.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852416"/>
            <a:ext cx="3462528" cy="1347216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852416"/>
            <a:ext cx="73152" cy="13472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" y="5053584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A7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10784"/>
            <a:ext cx="3060192" cy="5059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Develop strategies that strengthen the appeal of visual outputs.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WHAT YOU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Initiate visual communication through generative AI in Photoshop and Firefly.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LO2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Create storyboards in Firefly for visual narratives and task 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LO3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Propose enhancements through aesthetic analysis and advanced critique in Photoshop.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LO4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Formulate generative-AI colour strategies in Photoshop.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FOUR CONNECTED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Topic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GenAI for Visual Communication
Turn an audience need into an intentional, rights-aware visual direction.
LO1 · K1 · K2 · A1 · A2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Topic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Firefly Storyboards and Reference Control
Control composition and style, then organise variations into a communicable flow.
LO2 · K3 · A3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Topic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Photoshop Generative Editing and Critique
Use selections and generative features to build, evaluate and improve editable composites.
LO3 · K3 · K5 · A4 · A5 · A6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Colour Strategy, Enhancement and Delivery
Build a coherent palette, preserve editability and verify the delivered visual.
LO4 · K4 · K5 · A7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BEFORE THE PAPERS BEGIN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Individual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 discussion, photography or recording of assessment scripts.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Approved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course materials allowed by the assessor.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Phones/materials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Place unapproved items under the table or as directed.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Writing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black/blue pen for hard copy; no correction fluid or tape.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WA 60 minutes; PP 60 minutes; submit when time is called.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Competent or Not Yet Competent, with reassessment and appeal rights explained.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SUMMATIVE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WA · K1–K5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PP · A1/A2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PP · A3/A4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PP · A5/A6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PP · A7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Five written questions and four connected practical tasks; each instrument is 60 minutes and open book.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K2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Tools, Materials and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Laptop, suitable display, mouse/tablet and reliable storage.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Current supported Photoshop desktop release and Adobe Firefly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Panels arranged for task focus and sufficient scratch disk.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Supplied rights-aware PSD/JPEG assets and approved references.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Output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Audience, channel, pixel size, colour space and copy-safe areas.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Backups, reversible editing and verified exports.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TOOL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Adobe Tool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Firefly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Prompt-led image exploration, reference controls and storyboard ideation.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Photoshop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Selections, generative edits, compositing, colour and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Not Adobe certification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This WSQ course does not certify an Adobe credential.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Interface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Models and labels change; decisions and evidence remain durable.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Responsible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outputs, respect rights and retain provenance.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Trademark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Adobe, Firefly and Photoshop are Adobe trademarks.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GenAI for Visual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Turn an audience need into an intentional, rights-aware visual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LO1 · K1 · K2 · A1 · 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EDITABLE PROMPT-QUALITY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Prompt Quality Is a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B8D9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review scores show that a vivid subject alone is insufficient; channel fit, composition, constraints and provenance complete the visual brief.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01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Human-led GenAI Creative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ver-hero-v7.png"/>
          <p:cNvPicPr>
            <a:picLocks noChangeAspect="1"/>
          </p:cNvPicPr>
          <p:nvPr/>
        </p:nvPicPr>
        <p:blipFill>
          <a:blip r:embed="rId2"/>
          <a:srcRect l="19345" r="19345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human defines the brief, directs generation, selects evidence and remains accountable for publication.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Fast exploration where intent and judgement matter more than raw variation count.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decision log connects the selected visual to audience, purpose and acceptance criteria.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Human-led GenAI Creative Loop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Brief · prompt · variation · critique · edit · verify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Automating the decision as well as the production.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decision log connects the selected visual to audience, purpose and acceptance criteria.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02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GenAI Image Use Cases and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l4.jpg"/>
          <p:cNvPicPr>
            <a:picLocks noChangeAspect="1"/>
          </p:cNvPicPr>
          <p:nvPr/>
        </p:nvPicPr>
        <p:blipFill>
          <a:blip r:embed="rId2"/>
          <a:srcRect l="7636" r="7636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Generation, insertion, removal, expansion and translation solve different visual problems and carry different risks.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Choosing an appropriate AI feature before opening a tool.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chosen feature and boundary are justified against the brief.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GenAI Image Use Cases and Boundaries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Task type · rights · sensitivity · required control · delivery channel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Using generation where faithful documentation is required.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chosen feature and boundary are justified against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03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Prompt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_a dog reading a book while sitting at a desk by candle light, while wearing glasses,  120801.jpg"/>
          <p:cNvPicPr>
            <a:picLocks noChangeAspect="1"/>
          </p:cNvPicPr>
          <p:nvPr/>
        </p:nvPicPr>
        <p:blipFill>
          <a:blip r:embed="rId2"/>
          <a:srcRect t="14301" b="14301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useful prompt combines subject, action, setting, visual treatment, composition and constraints.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Creating a clear starting direction without over-prescribing every pixel.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Prompt components can be traced to visible properties of the result.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Prompt Anatomy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Subject · action · setting · medium · lighting · camera · exclusions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Contradictory adjectives, vague subjects and accidental text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Prompt components can be traced to visible properties of the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04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Prompt Iteration and Variation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 a raccoon sitting on a crescent  176327 zF4.jpg"/>
          <p:cNvPicPr>
            <a:picLocks noChangeAspect="1"/>
          </p:cNvPicPr>
          <p:nvPr/>
        </p:nvPicPr>
        <p:blipFill>
          <a:blip r:embed="rId2"/>
          <a:srcRect t="14301" b="14301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Changing one prompt factor at a time makes cause and effect observable.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Converging from a broad direction to a defensible final candidate.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contact sheet shows at least three labelled iterations and the selection reason.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Prompt Iteration and Variation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Baseline · single-variable change · seed/variation · comparison 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Changing model, prompt, style and composition simultaneously.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contact sheet shows at least three labelled iterations and the selection reason.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05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Visual Hierarchy and Emphasis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_photography, dynamic portrait of a japanese woman, New York street behind background, 589911.jpg"/>
          <p:cNvPicPr>
            <a:picLocks noChangeAspect="1"/>
          </p:cNvPicPr>
          <p:nvPr/>
        </p:nvPicPr>
        <p:blipFill>
          <a:blip r:embed="rId2"/>
          <a:srcRect l="7636" r="7636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Scale, contrast, position, isolation and detail establish what viewers notice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Campaign visuals that need a clear focal point and reading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squint test and thumbnail view preserve the intended reading order.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Visual Hierarchy and Emphasis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Primary focal point · secondary cue · supporting detail · CTA 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Competing focal points or an empty area that cannot hold useful copy.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squint test and thumbnail view preserve the intended reading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06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Scale, Balance and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_a library of books 578606.jpg"/>
          <p:cNvPicPr>
            <a:picLocks noChangeAspect="1"/>
          </p:cNvPicPr>
          <p:nvPr/>
        </p:nvPicPr>
        <p:blipFill>
          <a:blip r:embed="rId2"/>
          <a:srcRect l="7636" r="7636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Relative size signals importance; visual mass and common edges stabilise the composition.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Combining generated imagery with typography or brand elements.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Guides and a reduced-size review confirm balance across the frame.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Scale, Balance and Alignment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Scale ratio · visual weight · grid · edge alignment · safe area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Centred-by-default layouts or tangencies that feel accidental.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Guides and a reduced-size review confirm balance across the frame.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07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Contrast, Repetition and Negative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_A marble statue of a bird, on a pink background, surrounded by foliage 53233.jpg"/>
          <p:cNvPicPr>
            <a:picLocks noChangeAspect="1"/>
          </p:cNvPicPr>
          <p:nvPr/>
        </p:nvPicPr>
        <p:blipFill>
          <a:blip r:embed="rId2"/>
          <a:srcRect t="4102" b="4102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Contrast separates roles, repetition creates coherence and negative space gives the message room to breathe.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Social tiles, posters and storyboard frames that must scan quickly.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Grayscale and thumbnail checks confirm separation and rhythm.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Contrast, Repetition and Negative Space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Value contrast · colour contrast · repeated motif · breathing 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Decorative repetition that overwhelms the subject.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Grayscale and thumbnail checks confirm separation and rhythm.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08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Audience, Story and Responsible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Content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venture.jpg"/>
          <p:cNvPicPr>
            <a:picLocks noChangeAspect="1"/>
          </p:cNvPicPr>
          <p:nvPr/>
        </p:nvPicPr>
        <p:blipFill>
          <a:blip r:embed="rId2"/>
          <a:srcRect l="21824" r="21824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visual is credible when its message fits the audience and its source, prompts and edits remain explainable.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Commercial, organisational and public-facing visual communication.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provenance note accompanies the editable master and export.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Audience, Story and Responsible Provenance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Content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Audience need · claim risk · asset rights · prompt log · Content Credentials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Misleading realism, unlicensed references or unsupported claims.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provenance note accompanies the editable master and export.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01 · Prompt-to-Image Visual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refly_a dog reading a book while sitting at a desk by candle light, while wearing glasses,  120801.jpg"/>
          <p:cNvPicPr>
            <a:picLocks noChangeAspect="1"/>
          </p:cNvPicPr>
          <p:nvPr/>
        </p:nvPicPr>
        <p:blipFill>
          <a:blip r:embed="rId2"/>
          <a:srcRect t="19402" b="19402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reading campaign needs an imaginative hero image with clear copy space for a social tile.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Translate an audience brief into a controlled Firefly prompt set and selected visual direction.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Three prompt/result records, selected JPEG and decision log identifying A1 exploration and A2 integration decisions.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02 · Design Principles and Prompt Refinement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ference.jpg"/>
          <p:cNvPicPr>
            <a:picLocks noChangeAspect="1"/>
          </p:cNvPicPr>
          <p:nvPr/>
        </p:nvPicPr>
        <p:blipFill>
          <a:blip r:embed="rId2"/>
          <a:srcRect t="10660" b="10660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creative studio wants a poster-ready yarn-art visual with one strong headline zone.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Use Photoshop layout evidence to refine a generated visual against hierarchy, balance and contrast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Layered PSD, exported JPEG and a short comparison note covering K1/K2 design principles.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1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does the audience need to notice?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technique fit the content and edge?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outcome?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the result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view and evidence demonstrate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controlled variation would improve the result?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Firefly Storyboards and Reference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Control composition and style, then organise variations into a communicable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LO2 · K3 · A3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EDITABLE COMPARISON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Reference-control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Composition and style references solve different control problems. Combine them only after isolating each influence.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09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Choosing a Firefly Image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l4ultra.jpg"/>
          <p:cNvPicPr>
            <a:picLocks noChangeAspect="1"/>
          </p:cNvPicPr>
          <p:nvPr/>
        </p:nvPicPr>
        <p:blipFill>
          <a:blip r:embed="rId2"/>
          <a:srcRect l="7636" r="7636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Firefly models offer different balances of speed, realism, prompt interpretation and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Matching generation quality and latency to the storyboard purpose.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selected model is recorded with a visible comparison or reason.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Choosing a Firefly Image Model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Current model · output intent · speed · detail · available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Assuming the newest model behaves identically to an older 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selected model is recorded with a visible comparison or reason.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10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Type and Visual Intensity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_a robot dancing at a party 830052.jpg"/>
          <p:cNvPicPr>
            <a:picLocks noChangeAspect="1"/>
          </p:cNvPicPr>
          <p:nvPr/>
        </p:nvPicPr>
        <p:blipFill>
          <a:blip r:embed="rId2"/>
          <a:srcRect l="7636" r="7636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Content type steers photo/illustration behaviour while visual intensity adjusts how strongly styling affects the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Moving between documentary-looking and illustrative storyboard frames.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Two controlled variants demonstrate the effect of the setting.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Content Type and Visual Intensity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Photo/art · auto mode · visual intensity · effects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Treating intensity as a substitute for a clear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Two controlled variants demonstrate the effect of the setting.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11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Colour, Lighting and Camera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_a butterfly resting on a flower 480324.jpg"/>
          <p:cNvPicPr>
            <a:picLocks noChangeAspect="1"/>
          </p:cNvPicPr>
          <p:nvPr/>
        </p:nvPicPr>
        <p:blipFill>
          <a:blip r:embed="rId2"/>
          <a:srcRect t="4102" b="4102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Secondary controls guide palette, lighting direction, field of view and depth cues.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Keeping a sequence visually coherent without copying every frame.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Frames share a documented palette and plausible light direction.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Colour, Lighting and Camera Controls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Colour/tone · lighting · camera angle · lens/depth cues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lighting instruction that conflicts with the reference composition.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Frames share a documented palette and plausible light direction.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12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Composition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Composition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ference.jpg"/>
          <p:cNvPicPr>
            <a:picLocks noChangeAspect="1"/>
          </p:cNvPicPr>
          <p:nvPr/>
        </p:nvPicPr>
        <p:blipFill>
          <a:blip r:embed="rId2"/>
          <a:srcRect t="4102" b="4102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composition reference transfers spatial arrangement and structural relationships without duplicating the source pixels.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Maintaining camera position, pose or layout across storyboard alternatives.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Overlay or side-by-side evidence confirms structural similarity.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Composition Reference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Composition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Reference strength · crop · silhouette · dominant lines · prompt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Using a reference without rights or expecting identity fidelity.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Overlay or side-by-side evidence confirms structural similarity.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13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Style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Style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ummingbird.jpg"/>
          <p:cNvPicPr>
            <a:picLocks noChangeAspect="1"/>
          </p:cNvPicPr>
          <p:nvPr/>
        </p:nvPicPr>
        <p:blipFill>
          <a:blip r:embed="rId2"/>
          <a:srcRect l="19362" r="19362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style reference guides colour, texture, lighting and rendering character while the prompt controls subject matter.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Unifying multiple scenes under one art direction.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contact sheet shows consistent treatment across different subjects.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Style Reference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Style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Reference strength · visual intensity · effects · prompt specificity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Combining style and composition changes without a baseline.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contact sheet shows consistent treatment across different subjects.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14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Storyboard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venture.jpg"/>
          <p:cNvPicPr>
            <a:picLocks noChangeAspect="1"/>
          </p:cNvPicPr>
          <p:nvPr/>
        </p:nvPicPr>
        <p:blipFill>
          <a:blip r:embed="rId2"/>
          <a:srcRect l="21824" r="21824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storyboard converts a narrative into beats with a purpose, frame, transition and evidence for each beat.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Explaining an experience, campaign sequence or task journey.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Every frame has a caption, purpose and transition note.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Storyboard Architecture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Opening · context · action · transformation · outcome · CTA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gallery of attractive images with no causal sequence.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Every frame has a caption, purpose and transition note.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15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Task Flow for Team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ver-hero-v7.png"/>
          <p:cNvPicPr>
            <a:picLocks noChangeAspect="1"/>
          </p:cNvPicPr>
          <p:nvPr/>
        </p:nvPicPr>
        <p:blipFill>
          <a:blip r:embed="rId2"/>
          <a:srcRect l="19345" r="19345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task flow assigns inputs, decisions, hand-offs and review gates so visual work can be repeated by a team.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Moving from ideation to approved, editable and channel-ready output.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flow diagram identifies ownership and acceptance at each gate.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Task Flow for Team Collaboration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Owner · input · action · decision · output · reviewer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Unowned approval steps or ambiguous version names.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flow diagram identifies ownership and acceptance at each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16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Text Effects and Template Ideation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_a scene made of yarn, with flowers and the word -Flower- written in yarn 540116.jpg"/>
          <p:cNvPicPr>
            <a:picLocks noChangeAspect="1"/>
          </p:cNvPicPr>
          <p:nvPr/>
        </p:nvPicPr>
        <p:blipFill>
          <a:blip r:embed="rId2"/>
          <a:srcRect t="4102" b="4102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Text effects and template-oriented generation can establish art direction, but final copy remains editable in the design tool.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Exploring campaign style, title treatment and modular layouts.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Final deliverable uses editable type and passes a legibility check.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Text Effects and Template Ideation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Short display phrase · material/style · legibility · editability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Embedding essential long-form copy inside generated pixels.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Final deliverable uses editable type and passes a legibility check.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03 · Composition and Style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ummingbird.jpg"/>
          <p:cNvPicPr>
            <a:picLocks noChangeAspect="1"/>
          </p:cNvPicPr>
          <p:nvPr/>
        </p:nvPicPr>
        <p:blipFill>
          <a:blip r:embed="rId2"/>
          <a:srcRect l="14254" r="14254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wellness campaign needs varied subjects that retain one composition and art direction.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 controlled Firefly comparison using composition and style references independently and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Four labelled JPEG conditions, comparison PSD and a reference-control decision note.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04 · Storyboard and Task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venture.jpg"/>
          <p:cNvPicPr>
            <a:picLocks noChangeAspect="1"/>
          </p:cNvPicPr>
          <p:nvPr/>
        </p:nvPicPr>
        <p:blipFill>
          <a:blip r:embed="rId2"/>
          <a:srcRect l="17127" r="17127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fictional Wellness Week Singapore 2026 campaign needs a short visual journey from stress to restorative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Build a five-frame Firefly storyboard and a team task flow that communicates intent and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Five-frame layered storyboard PSD, exported JPEG, task-flow panel and peer-review note.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2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does the audience need to notice?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technique fit the content and edge?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outcome?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the result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view and evidence demonstrate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controlled variation would improve the result?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Photoshop Generative Editing and 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Use selections and generative features to build, evaluate and improve editable composites.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LO3 · K3 · K5 · A4 · A5 · A6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EDITABLE DECISION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Reversibility by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Scale: 1 = low, 5 = high. Prefer an editable generated layer, mask or Smart Object so critique can lead to a traceable revision.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17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Photoshop Generative AI Feature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Generative AI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rk bench.jpg"/>
          <p:cNvPicPr>
            <a:picLocks noChangeAspect="1"/>
          </p:cNvPicPr>
          <p:nvPr/>
        </p:nvPicPr>
        <p:blipFill>
          <a:blip r:embed="rId2"/>
          <a:srcRect t="12985" b="12985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Photoshop connects Generative Fill, Expand, Background, Harmonize and reference-based generation to selections and layers.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Selecting the smallest feature that solves the editing problem.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Layers panel shows the generated content and editable source structure.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Photoshop Generative AI Feature Map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Generative AI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Selection · prompt/reference · model · variations · generated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Flattening before review or confusing destructive and generated edits.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Layers panel shows the generated content and editable source structure.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18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Selection as a Generative Instruction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ference.jpeg"/>
          <p:cNvPicPr>
            <a:picLocks noChangeAspect="1"/>
          </p:cNvPicPr>
          <p:nvPr/>
        </p:nvPicPr>
        <p:blipFill>
          <a:blip r:embed="rId2"/>
          <a:srcRect l="6639" r="6639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Selection geometry defines where change may occur and gives the model contextual pixels at its boundary.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Precise insertion, replacement and local repair.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Selection/mask evidence and a 100% edge inspection are retained.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Selection as a Generative Instruction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Selection edge · feather · context margin · mask · target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Selections that clip shadows or include protected 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Selection/mask evidence and a 100% edge inspection are retained.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19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Generative Fill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Generative Fill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eakfast.jpeg"/>
          <p:cNvPicPr>
            <a:picLocks noChangeAspect="1"/>
          </p:cNvPicPr>
          <p:nvPr/>
        </p:nvPicPr>
        <p:blipFill>
          <a:blip r:embed="rId2"/>
          <a:srcRect l="13190" r="13190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Generative Fill creates non-destructive variations on a new generated layer inside the selected region.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Adding, replacing or removing local content with contextual blending.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Before/after, selected variation and layered PSD prove the decision.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Generative Fill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Generative Fill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Prompt or blank prompt · model · variation · generated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Anatomy errors, repeated textures and lighting mismatch.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Before/after, selected variation and layered PSD prove the decision.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20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Generative Expand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Generative Expand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ndscape-start.jpeg"/>
          <p:cNvPicPr>
            <a:picLocks noChangeAspect="1"/>
          </p:cNvPicPr>
          <p:nvPr/>
        </p:nvPicPr>
        <p:blipFill>
          <a:blip r:embed="rId2"/>
          <a:srcRect l="19474" r="19474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Generative Expand extends the canvas and synthesises contextual pixels beyond the original frame.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Reframing a master visual for landscape, portrait and square channels.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Three channel crops preserve subject integrity and useful copy space.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Generative Expand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Generative Expand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Crop ratio · anchor · prompt/blank · safe area · variation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Extending low-quality edges or moving the focal point unintentionally.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Three channel crops preserve subject integrity and useful copy space.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21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Generate Background and Harmonize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Generative AI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rk bench.jpg"/>
          <p:cNvPicPr>
            <a:picLocks noChangeAspect="1"/>
          </p:cNvPicPr>
          <p:nvPr/>
        </p:nvPicPr>
        <p:blipFill>
          <a:blip r:embed="rId2"/>
          <a:srcRect t="12985" b="12985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Background generation replaces the environment; Harmonize adjusts a placed subject to the surrounding tone, colour and light.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Fast composites that still require realistic integration.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Layered before/after and zoomed edge/shadow evidence pass review.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Generate Background and Harmonize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Generative AI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Subject isolation · background prompt · scale · contact shadow · Harmonize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Floating subjects, incorrect perspective or inconsistent light direction.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Layered before/after and zoomed edge/shadow evidence pass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22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Reference Image in Generative Fill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Reference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ference.jpeg"/>
          <p:cNvPicPr>
            <a:picLocks noChangeAspect="1"/>
          </p:cNvPicPr>
          <p:nvPr/>
        </p:nvPicPr>
        <p:blipFill>
          <a:blip r:embed="rId2"/>
          <a:srcRect l="6639" r="6639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reference image provides additional visual guidance while the prompt and selection define the requested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Improving consistency of an object, material or visual direction.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reference, selected output and rights record are stored together.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Reference Image in Generative Fill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Reference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Reference asset · rights · prompt · selection · variation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Expecting an exact copy or using a reference without permission.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reference, selected output and rights record are stored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23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Inpainting and Outpainting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xotic.jpeg"/>
          <p:cNvPicPr>
            <a:picLocks noChangeAspect="1"/>
          </p:cNvPicPr>
          <p:nvPr/>
        </p:nvPicPr>
        <p:blipFill>
          <a:blip r:embed="rId2"/>
          <a:srcRect l="13683" r="13683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Inpainting changes content inside a boundary; outpainting synthesises beyond an existing boundary.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Choosing between local repair and frame extension.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difference review confirms only the intended region changed.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Inpainting and Outpainting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Protected area · context overlap · seam location · content continuity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Visible seams, repeated objects or altered protected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difference review confirms only the intended region changed.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24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Aesthetic Critique and Golden-ratio Heuristics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_photography, dynamic portrait of a japanese woman, New York street behind background, 774439.jpg"/>
          <p:cNvPicPr>
            <a:picLocks noChangeAspect="1"/>
          </p:cNvPicPr>
          <p:nvPr/>
        </p:nvPicPr>
        <p:blipFill>
          <a:blip r:embed="rId2"/>
          <a:srcRect l="18875" r="18875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Critique separates description, interpretation, evaluation and recommendation; compositional heuristics are prompts for judgement, not guarantees.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Explaining why a visual works and proposing an actionable revision.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criterion-based critique identifies evidence, impact and one testable change.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Aesthetic Critique and Golden-ratio Heuristics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Hierarchy · balance · rhythm · focal placement · audience fit · technical finish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Treating a grid or ratio as proof of quality.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criterion-based critique identifies evidence, impact and one testable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05 · Generative Fill: Directed Inpainting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refly_a robot dancing at a party 830052.jpg"/>
          <p:cNvPicPr>
            <a:picLocks noChangeAspect="1"/>
          </p:cNvPicPr>
          <p:nvPr/>
        </p:nvPicPr>
        <p:blipFill>
          <a:blip r:embed="rId2"/>
          <a:srcRect l="573" r="573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An editorial wildlife visual needs a plausible environmental detail without damaging the original subject.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Use a controlled selection and Generative Fill to add, replace and remove content non-destructively.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Layered PSD, selected variations, final JPEG and zoomed edge/Layers-panel evidence.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06 · Background Replacement and Harmonize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rk bench.jpg"/>
          <p:cNvPicPr>
            <a:picLocks noChangeAspect="1"/>
          </p:cNvPicPr>
          <p:nvPr/>
        </p:nvPicPr>
        <p:blipFill>
          <a:blip r:embed="rId2"/>
          <a:srcRect t="18274" b="18274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portrait must be adapted into an outdoor campaign visual while remaining editable.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Generate a new background, integrate a placed element and evaluate lighting, perspective and contact.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Layered PSD, final JPEG, before/after comparison and criterion-based integration note.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06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07 · Generative Expand for Channel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ndscape-start.jpeg"/>
          <p:cNvPicPr>
            <a:picLocks noChangeAspect="1"/>
          </p:cNvPicPr>
          <p:nvPr/>
        </p:nvPicPr>
        <p:blipFill>
          <a:blip r:embed="rId2"/>
          <a:srcRect l="14385" r="14385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campaign hero must work across social, presentation and mobile-story channels.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Extend one master visual into square, landscape and portrait variants without losing hierarchy.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Master PSD plus three channel JPEGs and a ratio-by-ratio verification checklist.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Lab 08 · Reference Image and Multi-Prompt 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ference.jpeg"/>
          <p:cNvPicPr>
            <a:picLocks noChangeAspect="1"/>
          </p:cNvPicPr>
          <p:nvPr/>
        </p:nvPicPr>
        <p:blipFill>
          <a:blip r:embed="rId2"/>
          <a:srcRect t="582" b="582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fashion visual requires an altered garment treatment that follows a supplied material reference.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Use a permitted reference image and staged selections to construct a coherent multi-element composition.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Layered reference-guided PSD, final JPEG, rights note and four-part critique with revision.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3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does the audience need to notice?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technique fit the content and edge?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outcome?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the result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view and evidence demonstrate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controlled variation would improve the result?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Colour Strategy, Enhancement and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Build a coherent palette, preserve editability and verify the delivered visual.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B8D9"/>
                </a:solidFill>
                <a:latin typeface="Arial"/>
              </a:rPr>
              <a:t>LO4 · K4 · K5 · 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EDITABLE PALETTE-WEIGHTING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Campaign Colour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READ THE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shares keep the primary colour dominant while secondary, accent and neutral roles support hierarchy rather than compete with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EDITABLE QA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Output Verification Priority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READ THE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 professional hand-off verifies the exported file and its provenance—not only the layered working canvas.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25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Hue, Saturation, Brightness and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_a butterfly resting on a flower 900942.jpg"/>
          <p:cNvPicPr>
            <a:picLocks noChangeAspect="1"/>
          </p:cNvPicPr>
          <p:nvPr/>
        </p:nvPicPr>
        <p:blipFill>
          <a:blip r:embed="rId2"/>
          <a:srcRect t="4102" b="4102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Hue identifies colour family, saturation its intensity, and value/brightness its light-dark 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Diagnosing palette and separation before choosing an adjustment.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palette swatch and grayscale review support the colour decision.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Hue, Saturation, Brightness and Value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Hue relationship · saturation range · value contrast · skin/brand constraints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Increasing saturation when the problem is value separation.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palette swatch and grayscale review support the colour decision.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26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Adjustment Layers and Masks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Adjustment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rk bench.jpg"/>
          <p:cNvPicPr>
            <a:picLocks noChangeAspect="1"/>
          </p:cNvPicPr>
          <p:nvPr/>
        </p:nvPicPr>
        <p:blipFill>
          <a:blip r:embed="rId2"/>
          <a:srcRect t="12985" b="12985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Adjustment layers store tonal or colour changes separately; masks control where each adjustment applies.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Reversible campaign colour work and local corrections.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Named adjustment layers and masks remain editable in the PSD.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Adjustment Layers and Masks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Adjustment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Adjustment type · layer order · mask density · blend mode · opacity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Painting directly on the only copy or leaving masks unnamed.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Named adjustment layers and masks remain editable in the PSD.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CONCEPT 27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Histogram and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l.jpeg"/>
          <p:cNvPicPr>
            <a:picLocks noChangeAspect="1"/>
          </p:cNvPicPr>
          <p:nvPr/>
        </p:nvPicPr>
        <p:blipFill>
          <a:blip r:embed="rId2"/>
          <a:srcRect l="13640" r="13640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histogram displays tonal distribution; Levels remaps black point, white point and midtones.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Correcting global tonal range and identifying clipping.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Before/after histograms and highlight/shadow checks show controlled range.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Histogram and Levels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Channel · black point · gamma · white point · output levels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Forcing every image to fill the histogram or clipping detail.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Before/after histograms and highlight/shadow checks show controlled range.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CONCEPT 28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Curves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Curves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_photography, dynamic portrait of a japanese woman, New York street behind background, 774439.jpg"/>
          <p:cNvPicPr>
            <a:picLocks noChangeAspect="1"/>
          </p:cNvPicPr>
          <p:nvPr/>
        </p:nvPicPr>
        <p:blipFill>
          <a:blip r:embed="rId2"/>
          <a:srcRect l="18875" r="18875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Curves remaps input to output values with points that target overall tone or individual colour channels.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Fine contrast shaping and colour-balance correction.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labelled Curves layer and before/after comparison show the intended change.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Curves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Curves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Anchor points · slope · channel · mask · clipping preview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Too many points, banding or unwanted colour casts.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labelled Curves layer and before/after comparison show the intended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98500"/>
                </a:solidFill>
                <a:latin typeface="Arial"/>
              </a:rPr>
              <a:t>CONCEPT 29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Colour Balance and Hue/Saturation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refly_photography, dynamic portrait of a japanese woman, New York street behind background, 589911.jpg"/>
          <p:cNvPicPr>
            <a:picLocks noChangeAspect="1"/>
          </p:cNvPicPr>
          <p:nvPr/>
        </p:nvPicPr>
        <p:blipFill>
          <a:blip r:embed="rId2"/>
          <a:srcRect l="7636" r="7636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Colour Balance shifts tonal ranges toward complementary colours; Hue/Saturation targets hue families and intensity.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Harmonising composite elements and establishing a campaign palette.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Sampled swatches and targeted masks demonstrate controlled application.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Colour Balance and Hue/Saturation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Photoshop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Shadows/midtones/highlights · target colour range · saturation · mask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Global shifts that damage skin tones, neutrals or brand colours.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Sampled swatches and targeted masks demonstrate controlled application.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CONCEPT 30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Neural Filters and Restoration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Neural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odel.jpeg"/>
          <p:cNvPicPr>
            <a:picLocks noChangeAspect="1"/>
          </p:cNvPicPr>
          <p:nvPr/>
        </p:nvPicPr>
        <p:blipFill>
          <a:blip r:embed="rId2"/>
          <a:srcRect l="13640" r="13640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Neural Filters provide AI-assisted transformations that can output to a new layer for further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Restoration, colourisation and portrait enhancement where source evidence is incomplete.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Original, AI output and manual corrections remain separately reviewable.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Neural Filters and Restoration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Neural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Filter model · strength · output method · local cleanup ·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Invented detail, identity changes or treating an AI result as historical fact.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Original, AI output and manual corrections remain separately reviewable.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CONCEPT 31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Campaign Colour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.jpeg"/>
          <p:cNvPicPr>
            <a:picLocks noChangeAspect="1"/>
          </p:cNvPicPr>
          <p:nvPr/>
        </p:nvPicPr>
        <p:blipFill>
          <a:blip r:embed="rId2"/>
          <a:srcRect l="13688" r="13688"/>
          <a:stretch>
            <a:fillRect/>
          </a:stretch>
        </p:blipFill>
        <p:spPr>
          <a:xfrm>
            <a:off x="75895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campaign palette combines role-based colours, contrast targets and adjustment recipes across assets.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Keeping storyboard, social and poster outputs recognisably related.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palette sheet and three channel exports show consistent roles.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Campaign Colour Consistency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Legacy trainer slides v6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Primary/secondary/accent roles · value range · accessibility · export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Matching hex values while ignoring surrounding colour and output profile.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palette sheet and three channel exports show consistent roles.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CONCEPT 32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Output Verification and Content Credentials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Content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venture.jpg"/>
          <p:cNvPicPr>
            <a:picLocks noChangeAspect="1"/>
          </p:cNvPicPr>
          <p:nvPr/>
        </p:nvPicPr>
        <p:blipFill>
          <a:blip r:embed="rId2"/>
          <a:srcRect l="21824" r="21824"/>
          <a:stretch>
            <a:fillRect/>
          </a:stretch>
        </p:blipFill>
        <p:spPr>
          <a:xfrm>
            <a:off x="6748272" y="1828800"/>
            <a:ext cx="4681728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2199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Professional delivery includes export settings, reopen checks, provenance and a retained editable master.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1927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Hand-off to stakeholders, publication and audit-ready delivery.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416552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content model and edge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513831"/>
            <a:ext cx="388620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PSD, verified JPEG and provenance/read-me record form one evidence package.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Output Verification and Content Credentials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Content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4AF4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Format · dimensions · profile · compression · metadata · Content Credentials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11D74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Assuming an exported file is correct without reopening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A78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PSD, verified JPEG and provenance/read-me record form one evidence package.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isolate the intended change, then inspect at the delivery size.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09 · Restoration, Critique and Colour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del.jpeg"/>
          <p:cNvPicPr>
            <a:picLocks noChangeAspect="1"/>
          </p:cNvPicPr>
          <p:nvPr/>
        </p:nvPicPr>
        <p:blipFill>
          <a:blip r:embed="rId2"/>
          <a:srcRect l="7578" r="7578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An archive image will support a heritage-wellness story but must not imply certainty where AI reconstructs missing detail.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Restore a damaged image, evaluate invented detail and develop a reversible colour treatment.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Layered restoration PSD, verified JPEG, palette swatches and critique of AI-inferred detail.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09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HANDS-ON APPLICATION · 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10 · Wellness Campaign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P - Generative AI (GenAI).jpg"/>
          <p:cNvPicPr>
            <a:picLocks noChangeAspect="1"/>
          </p:cNvPicPr>
          <p:nvPr/>
        </p:nvPicPr>
        <p:blipFill>
          <a:blip r:embed="rId2"/>
          <a:srcRect t="825" b="825"/>
          <a:stretch>
            <a:fillRect/>
          </a:stretch>
        </p:blipFill>
        <p:spPr>
          <a:xfrm>
            <a:off x="758952" y="1828800"/>
            <a:ext cx="3602736" cy="2834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Fictional Wellness Week Singapore 2026 needs a coherent hero visual and three channel exports for a positive, inclusive message.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Integrate A1–A7 into an editable campaign visual, storyboard summary, critique and colour-delivery package.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Layered master PSD, prompt log, storyboard strip, peer critique, enhancement record, palette and three verified JPEGs.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procedure · Learner Guide / Lab 10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9A78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4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does the audience need to notice?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Why does this technique fit the content and edge?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setting most changes the outcome?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defect would make the result unacceptable?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view and evidence demonstrate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controlled variation would improve the result?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Professional Editing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Clarify purpose, audience, channel and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sufficient, rights-cleared assets.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Construct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layers, masks and Smart Objects.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Experiment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Vary one factor against a baseline.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Inspect visual, technical and rights criteria.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Deliver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Export, reopen and retain the master.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RESPONSIBLE VISUAL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Copyright and Asset Permission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Adobe Firefly Terms · not legal advice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Identify the creator/owner.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Permission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Public visibility does not grant reuse.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modification, commercial and redistribution rights.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Confirm consent and privacy context.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Attribution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Credit as the licence requires.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Retain source, licence, consent, date and use.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PROVENANCE AND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material you may provide.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prompt and selected variation.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plausibility, bias and artefacts.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Confirm current feature terms.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Credentials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Retain provenance where appropriate.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Responsibility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editor owns the publication decision.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A4 · DISCUSS 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Peer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Describe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State purpose and key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Reveal layers, masks and before/after.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explicit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Capture what the reviewer noticed.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Accept, adapt or reject with reason.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Revise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Make one traceable improvement.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4AF4"/>
                </a:solidFill>
                <a:latin typeface="Arial"/>
              </a:rPr>
              <a:t>AFTER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Telephone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9A78"/>
                </a:solidFill>
                <a:latin typeface="Arial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E98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98500"/>
                </a:solidFill>
                <a:latin typeface="Arial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Do not send assessment content publicly.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WA +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Briefing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WA · 60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Transition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PP · 60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Submit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Complete your own open-book evidence and submit when time is called.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11D74"/>
                </a:solidFill>
                <a:latin typeface="Arial"/>
              </a:rPr>
              <a:t>COMPETENCY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Identity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WA · K1–K5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PP · A1–A7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Assessor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09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816352"/>
            <a:ext cx="1667865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Summary sign-off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Assessment evidence leads to a Competent or Not Yet Competent decision, feedback and formal sign-off.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0B8D9"/>
                </a:solidFill>
                <a:latin typeface="Arial"/>
              </a:rPr>
              <a:t>CLOSING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Attendance · Mandatory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4443984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24AF4"/>
                </a:solidFill>
                <a:latin typeface="Arial"/>
              </a:rPr>
              <a:t>Assessment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official assessment attendance.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4443984"/>
          </a:xfrm>
          <a:prstGeom prst="rect">
            <a:avLst/>
          </a:prstGeom>
          <a:solidFill>
            <a:srgbClr val="00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B8D9"/>
                </a:solidFill>
                <a:latin typeface="Arial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Remain until the trainer verifies the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4443984"/>
          </a:xfrm>
          <a:prstGeom prst="roundRect">
            <a:avLst/>
          </a:prstGeom>
          <a:solidFill>
            <a:srgbClr val="F5F7FB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4443984"/>
          </a:xfrm>
          <a:prstGeom prst="rect">
            <a:avLst/>
          </a:prstGeom>
          <a:solidFill>
            <a:srgbClr val="E11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11D74"/>
                </a:solidFill>
                <a:latin typeface="Arial"/>
              </a:rPr>
              <a:t>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official LMS-TMS/TRAQOM route after attendance.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4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607040" cy="1005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161920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24AF4"/>
                </a:solidFill>
                <a:latin typeface="Arial"/>
              </a:rPr>
              <a:t>Create with intent · preserve options · verify the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Generative-AI-Visuals-in-Photoshop-and-Firefly  ·  TGS-2024045220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